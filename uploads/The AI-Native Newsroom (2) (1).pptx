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Musa’ab, Head of PMO at Fadaat Media. In the next 25 minutes I want to show you how we stopped treating AI as a collection of separate tools and started treating it as the operating layer of our newsroom. Everything you will see was built in-house and serves our brands today. The loop on the right is the whole story in one picture: six stages around one shared core. Keep it in mind — we’ll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context. Fadaat Media is the group behind a wide portfolio of brands: Alaraby Aljadeed and its English edition The New Arab, Alaraby TV, Alaraby TV 2, Alaraby Plus, Althania TV, Syria TV, Almodon, WinWin for sports, Misbar for fact-checking, Ultra Sawt, Sehatok and more. Each one has its own editorial voice, its own audience and often its own CMS. That diversity is our editorial strength — and our technical challenge. Our mandate in technology is simple to say and hard to do: give every brand the same AI capabilities without forcing them into the same mould.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newsroom here recognises these four pressures. Speed: stories break in minutes and the workflow has to keep up. Quality: six brands mean six style guides, and Arabic grammar and spelling are unforgiving. Blind spots: no desk can manually track every trend and every competitor. Formats: audiences now listen, skim, watch and ask questions. The common temptation is one AI tool per pressure — a transcription tool here, a summariser there. Tools adopted that way rarely talk to each other. So we asked a different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asking “which tool solves this problem?”, we asked “where does this capability sit in the editorial cycle, and what data does it share?” Every AI service we build has to plug into one loop and feed data back into it. If you remember one thing from this talk, make it this: the value is in the connections between services, not in any single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framework on one slide. Six stages: Discover what we’re missing, Draft it, Review it with the AI Editorial Assistant, Publish through a workflow we can see, Enrich it into every format, and Measure what worked. Underneath all six sits Labeeb, our super CMS, which every service reads from and writes to. And the loop closes: what we learn in Measure flows straight back into Discover. I’ll take you through each stage now — but keep this picture in mind, because every service you’ll see has a place on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Labeeb is the foundation of everything else. Each brand keeps its own CMS — Labeeb sits above them all and aggregates the content into one unified, 360-degree view. Because it sees every article in every status, from draft to published, it can do what no single CMS can: show workflow bottlenecks and team productivity, compare our coverage with trends and with competitors, suggest AI drafts for the gaps, and track performance after publishing. It also feeds our content enrichment services — audio, summaries, podcast and translation — which I’ll show in detail in a few slides. Labeeb is what turns separate AI services into one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starts before anyone writes a word. Labeeb asks: what is our audience looking for that we haven’t covered? It compares our content with trending keywords and topics, and with what competitors are publishing. The table is illustrative, but it’s the kind of view our editors get: topics rising, rivals covering them, and us not there yet. A gap is an opportunity — and the system surfaces it per brand, so WinWin sees sports gaps and Misbar sees claims worth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closes the gap. For every gap it finds, Labeeb proposes an AI-generated draft. I want to be very clear about the dark box in the middle: the editor owns the story. AI gives a structured starting point; a journalist rewrites, verifies and decides whether it runs at all. Accepted drafts then follow exactly the same review and approval path as any other article — there is no shortcut for AI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is our AI Editorial Assistant. It knows each brand’s editorial guidelines: preferred terms, naming conventions, house style. And it corrects Arabic grammar and spelling, which is notoriously hard to automate well — things like hamza placement and agreement. Editors see clear suggestions and accept or reject each one. The result: cleaner copy reaches the desk, and desk editors spend their time on judgement instead of proofreading.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four is about flow. Because Labeeb aggregates every CMS, it sees every article’s status from draft to published, across all six brands. Editors-in-chief can see where stories are waiting — in this illustrative view, review is the bottleneck — and understand the productivity of their teams. This is where a PMO mindset meets the newsroom: you can’t improve a process you can’t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five is where we multiply the value of every story. Once an article is published, the same text becomes natural Arabic audio through text-to-speech, a short summary for readers on the move, episodes of our AI-generated podcast, and translations that carry the story to audiences in other languages. The journalist writes once; the audience chooses how to consume it. And these are plug-and-play, modular services: each one integrates into any of our brands’ outlets, so every brand gets them — not just the one that asked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pause on how we build these services, because the architecture is what makes the framework scale. Every service — text-to-speech, summarization, the podcast, translation, live captions, the chatbot, the AI Editorial Assistant — is a self-contained module. Each one plugs into a shared integration layer, and from there into any of our brands’ outlets: websites, apps, OTT and TV livestreams. That gives us four things. We build each service once, with one team, for the whole group. A brand adopts a service by configuring it, not by rebuilding it. When we improve a module, every brand gets the improvement at the same time. And because each module is configured per brand, every outlet keeps its own style, language and tone. The dashed box matters too: the next service we build plugs into the same layer, so every new capability reaches the whole group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dashed box on the previous slide — the next module — is an open invitation. We’re launching the Fadaat AI Hackathon for AI vibe coders: build an AI module for media that plugs into the same framework every one of our brands runs on. The winners will join the Fadaat Technology Internship Program, working side by side with our project managers on real prototypes, proofs of concept and MVPs. If you’re in the room and you build with AI, scan the code or come to our booth — the next box on that slide could be yours. [Add the registration link, QR code and hackathon dates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the live demo.] Here are all six enrichment services side by side. Suggested running order: open a published article and play its text-to-speech audio; show its summary; play a short clip of the AI-generated podcast built from it; show transcription and translation — a clip turned into text, then into another language; cut to an Alaraby TV or Alaraby Plus livestream with live captions on, sound muted; and finish with the chatbot — first in group-wide mode across all brands, then scoped to a single brand. Keep each demo to under a minute so the full tour fits in about five minutes. [Adjust the order to match the demo environment you have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the live demo from the previous slide.] The last enrichment service in the demo is conversational. Our AI chatbot runs in two modes: a single chatbot that spans the content of all our brands, and a dedicated chatbot for each brand’s own content. Either way, it indexes the news and articles and builds a full knowledge graph — what’s called GraphRAG. Instead of matching keywords, it follows relationships: a claim, the fact-check Misbar published on it, the official figures Alaraby Aljadeed reported. The exchange on screen is illustrative, but it shows the principle: answers grounded in our own journalism, drawing across brands at once. Now switch to the live chatbot: ask one question in group-wide mode, then the same question scoped to a single brand, so the audience sees both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six closes the loop. After publishing, Labeeb classifies and monitors performance: the top-traffic articles, the top authors, the best-performing topics — across all six brands. And here is the part that makes it a framework rather than a dashboard: those insights feed straight back into stage one. What performs today shapes what the gap analysis prioritises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it concrete with one illustrative story on WinWin. In a minute or two, Labeeb flags a rising sports topic we haven’t covered. Within five to ten minutes, an AI draft is suggested and a WinWin editor takes it over and reworks it. The AI Editorial Assistant then needs just two to five minutes to apply WinWin’s style guide and clean the Arabic. Publishing takes five to ten minutes, with the workflow view showing no wait in review, and within one to three minutes of publishing the story becomes audio, a summary, a podcast segment and something the chatbot can answer about. Within 24 hours it ranks among our top articles — and that signal shapes tomorrow’s gap analysis. Six services, one story, no hand-offs between disconnected tools. [These are indicative windows, not measured timings — replace them with real data once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makes this a framework rather than a toolbox? Five principles. One data layer: Labeeb means every service reads the same truth. Build once, serve six: no brand-by-brand rebuilds; each service is configured per brand. Human in the loop: AI suggests, editors decide — that’s non-negotiable for a news organisation. Arabic-first: language quality and audio built for Arabic from the start, not translated in later. And a closed feedback loop: what we learn after publishing shapes what we cover next. Put together, the system gets smarter with every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outcomes sum up what the framework changed. Faster: the path from first draft to published story is shorter, because drafting, review and workflow are connected. Richer: every story can reach the audience as audio, a summary, a podcast and more. Consistent: the AI Editorial Assistant holds editorial quality and house style across every brand, at scale. Fewer gaps: topics we used to miss are now surfaced and turned into stories. More productive: with AI handling drafting support, proofreading and enrichment, editorial teams spend their time on judgement — and workflow visibility shows where each desk can improve. And wider reach: the same story now travels further, across more formats, platforms and languages, with performance tracked after publishing. [Add measured figures here once the data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sum it all up. Build once: every service is shared across the group. Serve every brand: one AI layer across all our brands, each with its own voice. Learn from every read: the loop that makes tomorrow’s newsroom smarter than today’s. Thank you — come and see it running live at our booth,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for Q&amp;A or the booth. These are the six hackathon tracks. Ask the Video: an interactive assistant that answers viewers’ questions about video content. AI Translation &amp; Subtitles: automated multilingual subtitles and translation, with optional dubbing. AI Sports Analyst: conversational match insights, player comparisons and statistics. AI Article-to-Shorts: news articles turned automatically into short-form video. AI Comment Moderation Engine: AI moderation of user comments across supported platforms. And AI StoryCast: the AI Editorial Assistant, summarization and text-to-speech combined into personalized audio news briefings, with room to add personalized content feeds. Each track is designed to plug into the same modular framework as our existing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002F59"/>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002F59"/>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F4F7FB"/>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F4F7FB"/>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F4F7FB"/>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F4F7FB"/>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002F59"/>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002F59"/>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slideLayout" Target="../slideLayouts/slideLayout2.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2.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2.xml"/><Relationship Id="rId10"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18000"/>
          </a:blip>
          <a:srcRect l="0" r="0" t="0" b="0"/>
          <a:stretch/>
        </p:blipFill>
        <p:spPr>
          <a:xfrm>
            <a:off x="8255000" y="2667000"/>
            <a:ext cx="3937000" cy="3937000"/>
          </a:xfrm>
          <a:prstGeom prst="rect">
            <a:avLst/>
          </a:prstGeom>
        </p:spPr>
      </p:pic>
      <p:pic>
        <p:nvPicPr>
          <p:cNvPr id="3" name="Image 1" descr="Six connected stages arranged in a loop around a shared core">    </p:cNvPr>
          <p:cNvPicPr>
            <a:picLocks noChangeAspect="1"/>
          </p:cNvPicPr>
          <p:nvPr/>
        </p:nvPicPr>
        <p:blipFill>
          <a:blip r:embed="rId2"/>
          <a:srcRect l="0" r="0" t="0" b="0"/>
          <a:stretch/>
        </p:blipFill>
        <p:spPr>
          <a:xfrm>
            <a:off x="7874000" y="812800"/>
            <a:ext cx="3302000" cy="3302000"/>
          </a:xfrm>
          <a:prstGeom prst="rect">
            <a:avLst/>
          </a:prstGeom>
        </p:spPr>
      </p:pic>
      <p:pic>
        <p:nvPicPr>
          <p:cNvPr id="4" name="Image 2" descr="Fadaat Media">    </p:cNvPr>
          <p:cNvPicPr>
            <a:picLocks noChangeAspect="1"/>
          </p:cNvPicPr>
          <p:nvPr/>
        </p:nvPicPr>
        <p:blipFill>
          <a:blip r:embed="rId3"/>
          <a:srcRect l="0" r="0" t="0" b="0"/>
          <a:stretch/>
        </p:blipFill>
        <p:spPr>
          <a:xfrm>
            <a:off x="812800" y="1764242"/>
            <a:ext cx="1905000" cy="565150"/>
          </a:xfrm>
          <a:prstGeom prst="rect">
            <a:avLst/>
          </a:prstGeom>
        </p:spPr>
      </p:pic>
      <p:sp>
        <p:nvSpPr>
          <p:cNvPr id="5" name="Text 0"/>
          <p:cNvSpPr/>
          <p:nvPr/>
        </p:nvSpPr>
        <p:spPr>
          <a:xfrm>
            <a:off x="812800" y="2519892"/>
            <a:ext cx="693293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DB8F0"/>
                </a:solidFill>
                <a:latin typeface="Inter" pitchFamily="34" charset="0"/>
                <a:ea typeface="Inter" pitchFamily="34" charset="-122"/>
                <a:cs typeface="Inter" pitchFamily="34" charset="-120"/>
              </a:rPr>
              <a:t>MWC DOHA 2026 · FADAAT MEDIA</a:t>
            </a:r>
            <a:endParaRPr lang="en-US" sz="1200" dirty="0"/>
          </a:p>
        </p:txBody>
      </p:sp>
      <p:sp>
        <p:nvSpPr>
          <p:cNvPr id="6" name="Text 1"/>
          <p:cNvSpPr/>
          <p:nvPr>
            <p:ph type="title"/>
          </p:nvPr>
        </p:nvSpPr>
        <p:spPr>
          <a:xfrm>
            <a:off x="812800" y="2923712"/>
            <a:ext cx="6932930" cy="1671241"/>
          </a:xfrm>
          <a:prstGeom prst="rect">
            <a:avLst/>
          </a:prstGeom>
          <a:noFill/>
          <a:ln/>
        </p:spPr>
        <p:txBody>
          <a:bodyPr wrap="square" lIns="0" tIns="0" rIns="0" bIns="0" rtlCol="0" anchor="t">
            <a:normAutofit/>
          </a:bodyPr>
          <a:lstStyle/>
          <a:p>
            <a:pPr algn="l" indent="0" marL="0">
              <a:lnSpc>
                <a:spcPts val="4320"/>
              </a:lnSpc>
              <a:buNone/>
            </a:pPr>
            <a:r>
              <a:rPr lang="en-US" sz="4000" b="1" i="0" spc="-50" kern="0" dirty="0">
                <a:solidFill>
                  <a:srgbClr val="F4F7FB"/>
                </a:solidFill>
                <a:latin typeface="Inter" pitchFamily="34" charset="0"/>
                <a:ea typeface="Inter" pitchFamily="34" charset="-122"/>
                <a:cs typeface="Inter" pitchFamily="34" charset="-120"/>
              </a:rPr>
              <a:t>AI-Powered Media Ecosystem</a:t>
            </a:r>
            <a:endParaRPr lang="en-US" sz="4000" dirty="0"/>
          </a:p>
          <a:p>
            <a:pPr algn="l" indent="0" marL="0">
              <a:lnSpc>
                <a:spcPts val="4320"/>
              </a:lnSpc>
              <a:buNone/>
            </a:pPr>
            <a:r>
              <a:rPr lang="en-US" sz="4000" b="1" i="0" spc="-50" kern="0" dirty="0">
                <a:solidFill>
                  <a:srgbClr val="5DB8F0"/>
                </a:solidFill>
                <a:latin typeface="Inter" pitchFamily="34" charset="0"/>
                <a:ea typeface="Inter" pitchFamily="34" charset="-122"/>
                <a:cs typeface="Inter" pitchFamily="34" charset="-120"/>
              </a:rPr>
              <a:t>(Labeeb)</a:t>
            </a:r>
            <a:endParaRPr lang="en-US" sz="4000" dirty="0"/>
          </a:p>
        </p:txBody>
      </p:sp>
      <p:sp>
        <p:nvSpPr>
          <p:cNvPr id="7" name="Text 2"/>
          <p:cNvSpPr/>
          <p:nvPr/>
        </p:nvSpPr>
        <p:spPr>
          <a:xfrm>
            <a:off x="812800" y="4760053"/>
            <a:ext cx="693293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CD2E8"/>
                </a:solidFill>
                <a:latin typeface="Inter" pitchFamily="34" charset="0"/>
                <a:ea typeface="Inter" pitchFamily="34" charset="-122"/>
                <a:cs typeface="Inter" pitchFamily="34" charset="-120"/>
              </a:rPr>
              <a:t>How Fadaat Media connected its AI services into one editorial framework — from the first draft to the final read.</a:t>
            </a:r>
            <a:endParaRPr lang="en-US" sz="1800" dirty="0"/>
          </a:p>
        </p:txBody>
      </p:sp>
      <p:sp>
        <p:nvSpPr>
          <p:cNvPr id="8" name="Shape 3"/>
          <p:cNvSpPr/>
          <p:nvPr/>
        </p:nvSpPr>
        <p:spPr>
          <a:xfrm>
            <a:off x="812800" y="5567693"/>
            <a:ext cx="609600" cy="38100"/>
          </a:xfrm>
          <a:prstGeom prst="roundRect">
            <a:avLst>
              <a:gd name="adj" fmla="val 50000"/>
            </a:avLst>
          </a:prstGeom>
          <a:solidFill>
            <a:srgbClr val="5DB8F0"/>
          </a:solidFill>
          <a:ln/>
        </p:spPr>
      </p:sp>
      <p:sp>
        <p:nvSpPr>
          <p:cNvPr id="9" name="Text 4"/>
          <p:cNvSpPr/>
          <p:nvPr/>
        </p:nvSpPr>
        <p:spPr>
          <a:xfrm>
            <a:off x="812800" y="5796293"/>
            <a:ext cx="693293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7FB"/>
                </a:solidFill>
                <a:latin typeface="Inter" pitchFamily="34" charset="0"/>
                <a:ea typeface="Inter" pitchFamily="34" charset="-122"/>
                <a:cs typeface="Inter" pitchFamily="34" charset="-120"/>
              </a:rPr>
              <a:t>Fadaat Technologey Devision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1579B"/>
                </a:solidFill>
                <a:latin typeface="Inter" pitchFamily="34" charset="0"/>
                <a:ea typeface="Inter" pitchFamily="34" charset="-122"/>
                <a:cs typeface="Inter" pitchFamily="34" charset="-120"/>
              </a:rPr>
              <a:t>WHO WE ARE</a:t>
            </a:r>
            <a:endParaRPr lang="en-US" sz="1200" dirty="0"/>
          </a:p>
        </p:txBody>
      </p:sp>
      <p:sp>
        <p:nvSpPr>
          <p:cNvPr id="5"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2F59"/>
                </a:solidFill>
                <a:latin typeface="Inter" pitchFamily="34" charset="0"/>
                <a:ea typeface="Inter" pitchFamily="34" charset="-122"/>
                <a:cs typeface="Inter" pitchFamily="34" charset="-120"/>
              </a:rPr>
              <a:t>One AI backbone for every brand</a:t>
            </a:r>
            <a:endParaRPr lang="en-US" sz="3600" dirty="0"/>
          </a:p>
        </p:txBody>
      </p:sp>
      <p:sp>
        <p:nvSpPr>
          <p:cNvPr id="6" name="Text 2"/>
          <p:cNvSpPr/>
          <p:nvPr/>
        </p:nvSpPr>
        <p:spPr>
          <a:xfrm>
            <a:off x="812800" y="1935428"/>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Alaraby Aljadeed</a:t>
            </a:r>
            <a:endParaRPr lang="en-US" sz="1700" dirty="0"/>
          </a:p>
        </p:txBody>
      </p:sp>
      <p:sp>
        <p:nvSpPr>
          <p:cNvPr id="7" name="Shape 3"/>
          <p:cNvSpPr/>
          <p:nvPr/>
        </p:nvSpPr>
        <p:spPr>
          <a:xfrm>
            <a:off x="812800" y="1935428"/>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8" name="Text 4"/>
          <p:cNvSpPr/>
          <p:nvPr/>
        </p:nvSpPr>
        <p:spPr>
          <a:xfrm>
            <a:off x="3486150" y="1935428"/>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The New Arab</a:t>
            </a:r>
            <a:endParaRPr lang="en-US" sz="1700" dirty="0"/>
          </a:p>
        </p:txBody>
      </p:sp>
      <p:sp>
        <p:nvSpPr>
          <p:cNvPr id="9" name="Shape 5"/>
          <p:cNvSpPr/>
          <p:nvPr/>
        </p:nvSpPr>
        <p:spPr>
          <a:xfrm>
            <a:off x="3486150" y="1935428"/>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10" name="Text 6"/>
          <p:cNvSpPr/>
          <p:nvPr/>
        </p:nvSpPr>
        <p:spPr>
          <a:xfrm>
            <a:off x="6159500" y="1935428"/>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Alaraby TV</a:t>
            </a:r>
            <a:endParaRPr lang="en-US" sz="1700" dirty="0"/>
          </a:p>
        </p:txBody>
      </p:sp>
      <p:sp>
        <p:nvSpPr>
          <p:cNvPr id="11" name="Shape 7"/>
          <p:cNvSpPr/>
          <p:nvPr/>
        </p:nvSpPr>
        <p:spPr>
          <a:xfrm>
            <a:off x="6159500" y="1935428"/>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12" name="Text 8"/>
          <p:cNvSpPr/>
          <p:nvPr/>
        </p:nvSpPr>
        <p:spPr>
          <a:xfrm>
            <a:off x="8832850" y="1935428"/>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Alaraby TV 2</a:t>
            </a:r>
            <a:endParaRPr lang="en-US" sz="1700" dirty="0"/>
          </a:p>
        </p:txBody>
      </p:sp>
      <p:sp>
        <p:nvSpPr>
          <p:cNvPr id="13" name="Shape 9"/>
          <p:cNvSpPr/>
          <p:nvPr/>
        </p:nvSpPr>
        <p:spPr>
          <a:xfrm>
            <a:off x="8832850" y="1935428"/>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14" name="Text 10"/>
          <p:cNvSpPr/>
          <p:nvPr/>
        </p:nvSpPr>
        <p:spPr>
          <a:xfrm>
            <a:off x="812800" y="2677054"/>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Alaraby Plus</a:t>
            </a:r>
            <a:endParaRPr lang="en-US" sz="1700" dirty="0"/>
          </a:p>
        </p:txBody>
      </p:sp>
      <p:sp>
        <p:nvSpPr>
          <p:cNvPr id="15" name="Shape 11"/>
          <p:cNvSpPr/>
          <p:nvPr/>
        </p:nvSpPr>
        <p:spPr>
          <a:xfrm>
            <a:off x="812800" y="2677054"/>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16" name="Text 12"/>
          <p:cNvSpPr/>
          <p:nvPr/>
        </p:nvSpPr>
        <p:spPr>
          <a:xfrm>
            <a:off x="3486150" y="2677054"/>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Althania TV</a:t>
            </a:r>
            <a:endParaRPr lang="en-US" sz="1700" dirty="0"/>
          </a:p>
        </p:txBody>
      </p:sp>
      <p:sp>
        <p:nvSpPr>
          <p:cNvPr id="17" name="Shape 13"/>
          <p:cNvSpPr/>
          <p:nvPr/>
        </p:nvSpPr>
        <p:spPr>
          <a:xfrm>
            <a:off x="3486150" y="2677054"/>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18" name="Text 14"/>
          <p:cNvSpPr/>
          <p:nvPr/>
        </p:nvSpPr>
        <p:spPr>
          <a:xfrm>
            <a:off x="6159500" y="2677054"/>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Syria TV</a:t>
            </a:r>
            <a:endParaRPr lang="en-US" sz="1700" dirty="0"/>
          </a:p>
        </p:txBody>
      </p:sp>
      <p:sp>
        <p:nvSpPr>
          <p:cNvPr id="19" name="Shape 15"/>
          <p:cNvSpPr/>
          <p:nvPr/>
        </p:nvSpPr>
        <p:spPr>
          <a:xfrm>
            <a:off x="6159500" y="2677054"/>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20" name="Text 16"/>
          <p:cNvSpPr/>
          <p:nvPr/>
        </p:nvSpPr>
        <p:spPr>
          <a:xfrm>
            <a:off x="8832850" y="2677054"/>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Almodon</a:t>
            </a:r>
            <a:endParaRPr lang="en-US" sz="1700" dirty="0"/>
          </a:p>
        </p:txBody>
      </p:sp>
      <p:sp>
        <p:nvSpPr>
          <p:cNvPr id="21" name="Shape 17"/>
          <p:cNvSpPr/>
          <p:nvPr/>
        </p:nvSpPr>
        <p:spPr>
          <a:xfrm>
            <a:off x="8832850" y="2677054"/>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22" name="Text 18"/>
          <p:cNvSpPr/>
          <p:nvPr/>
        </p:nvSpPr>
        <p:spPr>
          <a:xfrm>
            <a:off x="812800" y="3418681"/>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WinWin</a:t>
            </a:r>
            <a:endParaRPr lang="en-US" sz="1700" dirty="0"/>
          </a:p>
        </p:txBody>
      </p:sp>
      <p:sp>
        <p:nvSpPr>
          <p:cNvPr id="23" name="Shape 19"/>
          <p:cNvSpPr/>
          <p:nvPr/>
        </p:nvSpPr>
        <p:spPr>
          <a:xfrm>
            <a:off x="812800" y="3418681"/>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24" name="Text 20"/>
          <p:cNvSpPr/>
          <p:nvPr/>
        </p:nvSpPr>
        <p:spPr>
          <a:xfrm>
            <a:off x="3486150" y="3418681"/>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Misbar</a:t>
            </a:r>
            <a:endParaRPr lang="en-US" sz="1700" dirty="0"/>
          </a:p>
        </p:txBody>
      </p:sp>
      <p:sp>
        <p:nvSpPr>
          <p:cNvPr id="25" name="Shape 21"/>
          <p:cNvSpPr/>
          <p:nvPr/>
        </p:nvSpPr>
        <p:spPr>
          <a:xfrm>
            <a:off x="3486150" y="3418681"/>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26" name="Text 22"/>
          <p:cNvSpPr/>
          <p:nvPr/>
        </p:nvSpPr>
        <p:spPr>
          <a:xfrm>
            <a:off x="6159500" y="3418681"/>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Ultra Sawt</a:t>
            </a:r>
            <a:endParaRPr lang="en-US" sz="1700" dirty="0"/>
          </a:p>
        </p:txBody>
      </p:sp>
      <p:sp>
        <p:nvSpPr>
          <p:cNvPr id="27" name="Shape 23"/>
          <p:cNvSpPr/>
          <p:nvPr/>
        </p:nvSpPr>
        <p:spPr>
          <a:xfrm>
            <a:off x="6159500" y="3418681"/>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28" name="Text 24"/>
          <p:cNvSpPr/>
          <p:nvPr/>
        </p:nvSpPr>
        <p:spPr>
          <a:xfrm>
            <a:off x="8832850" y="3418681"/>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Sehatok</a:t>
            </a:r>
            <a:endParaRPr lang="en-US" sz="1700" dirty="0"/>
          </a:p>
        </p:txBody>
      </p:sp>
      <p:sp>
        <p:nvSpPr>
          <p:cNvPr id="29" name="Shape 25"/>
          <p:cNvSpPr/>
          <p:nvPr/>
        </p:nvSpPr>
        <p:spPr>
          <a:xfrm>
            <a:off x="8832850" y="3418681"/>
            <a:ext cx="2546350" cy="614627"/>
          </a:xfrm>
          <a:custGeom>
            <a:avLst/>
            <a:gdLst/>
            <a:ahLst/>
            <a:cxnLst/>
            <a:rect l="l" t="t" r="r" b="b"/>
            <a:pathLst>
              <a:path w="2546350" h="614627">
                <a:moveTo>
                  <a:pt x="76200" y="614627"/>
                </a:moveTo>
                <a:lnTo>
                  <a:pt x="76200" y="614627"/>
                </a:lnTo>
                <a:arcTo hR="76200" wR="76200" stAng="5400000" swAng="5400000"/>
                <a:lnTo>
                  <a:pt x="0" y="76200"/>
                </a:lnTo>
                <a:arcTo hR="76200" wR="76200" stAng="10800000" swAng="5400000"/>
                <a:lnTo>
                  <a:pt x="76200" y="0"/>
                </a:lnTo>
                <a:arcTo hR="76200" wR="38100" stAng="16200000" swAng="-5400000"/>
                <a:lnTo>
                  <a:pt x="38100" y="538427"/>
                </a:lnTo>
                <a:arcTo hR="76200" wR="38100" stAng="10800000" swAng="-5400000"/>
                <a:close/>
              </a:path>
            </a:pathLst>
          </a:custGeom>
          <a:solidFill>
            <a:srgbClr val="01579B"/>
          </a:solidFill>
          <a:ln/>
        </p:spPr>
      </p:sp>
      <p:sp>
        <p:nvSpPr>
          <p:cNvPr id="30" name="Shape 26"/>
          <p:cNvSpPr/>
          <p:nvPr/>
        </p:nvSpPr>
        <p:spPr>
          <a:xfrm>
            <a:off x="812800" y="4160309"/>
            <a:ext cx="10566400" cy="614627"/>
          </a:xfrm>
          <a:prstGeom prst="roundRect">
            <a:avLst>
              <a:gd name="adj" fmla="val 12398"/>
            </a:avLst>
          </a:prstGeom>
          <a:solidFill>
            <a:srgbClr val="002F59"/>
          </a:solidFill>
          <a:ln/>
        </p:spPr>
      </p:sp>
      <p:sp>
        <p:nvSpPr>
          <p:cNvPr id="31" name="Text 27"/>
          <p:cNvSpPr/>
          <p:nvPr/>
        </p:nvSpPr>
        <p:spPr>
          <a:xfrm>
            <a:off x="1041400" y="4338109"/>
            <a:ext cx="103339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DB8F0"/>
                </a:solidFill>
                <a:latin typeface="Inter" pitchFamily="34" charset="0"/>
                <a:ea typeface="Inter" pitchFamily="34" charset="-122"/>
                <a:cs typeface="Inter" pitchFamily="34" charset="-120"/>
              </a:rPr>
              <a:t>+ Others</a:t>
            </a:r>
            <a:endParaRPr lang="en-US" sz="1700" dirty="0"/>
          </a:p>
        </p:txBody>
      </p:sp>
      <p:sp>
        <p:nvSpPr>
          <p:cNvPr id="32" name="Text 28"/>
          <p:cNvSpPr/>
          <p:nvPr/>
        </p:nvSpPr>
        <p:spPr>
          <a:xfrm>
            <a:off x="2074796" y="4343136"/>
            <a:ext cx="621355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D2E8"/>
                </a:solidFill>
                <a:latin typeface="Inter" pitchFamily="34" charset="0"/>
                <a:ea typeface="Inter" pitchFamily="34" charset="-122"/>
                <a:cs typeface="Inter" pitchFamily="34" charset="-120"/>
              </a:rPr>
              <a:t>More platforms across the group, served by the same AI layer</a:t>
            </a:r>
            <a:endParaRPr lang="en-US" sz="1400" dirty="0"/>
          </a:p>
        </p:txBody>
      </p:sp>
      <p:sp>
        <p:nvSpPr>
          <p:cNvPr id="33" name="Text 29"/>
          <p:cNvSpPr/>
          <p:nvPr/>
        </p:nvSpPr>
        <p:spPr>
          <a:xfrm>
            <a:off x="812800" y="5079736"/>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2536A"/>
                </a:solidFill>
                <a:latin typeface="Inter" pitchFamily="34" charset="0"/>
                <a:ea typeface="Inter" pitchFamily="34" charset="-122"/>
                <a:cs typeface="Inter" pitchFamily="34" charset="-120"/>
              </a:rPr>
              <a:t>Different audiences, different CMSs — </a:t>
            </a:r>
            <a:r>
              <a:rPr lang="en-US" sz="1600" b="1" dirty="0">
                <a:solidFill>
                  <a:srgbClr val="002F59"/>
                </a:solidFill>
                <a:latin typeface="Inter" pitchFamily="34" charset="0"/>
                <a:ea typeface="Inter" pitchFamily="34" charset="-122"/>
                <a:cs typeface="Inter" pitchFamily="34" charset="-120"/>
              </a:rPr>
              <a:t>one shared AI layer serving all of them.</a:t>
            </a:r>
            <a:endParaRPr lang="en-US" sz="1600" dirty="0"/>
          </a:p>
        </p:txBody>
      </p:sp>
      <p:sp>
        <p:nvSpPr>
          <p:cNvPr id="34" name="Text 30"/>
          <p:cNvSpPr/>
          <p:nvPr/>
        </p:nvSpPr>
        <p:spPr>
          <a:xfrm>
            <a:off x="812800" y="6230607"/>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35" name="Text 31"/>
          <p:cNvSpPr/>
          <p:nvPr/>
        </p:nvSpPr>
        <p:spPr>
          <a:xfrm>
            <a:off x="11139289" y="6230607"/>
            <a:ext cx="23991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1579B"/>
                </a:solidFill>
                <a:latin typeface="Inter" pitchFamily="34" charset="0"/>
                <a:ea typeface="Inter" pitchFamily="34" charset="-122"/>
                <a:cs typeface="Inter" pitchFamily="34" charset="-120"/>
              </a:rPr>
              <a:t>THE CHALLENGE</a:t>
            </a:r>
            <a:endParaRPr lang="en-US" sz="1200" dirty="0"/>
          </a:p>
        </p:txBody>
      </p:sp>
      <p:sp>
        <p:nvSpPr>
          <p:cNvPr id="5"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2F59"/>
                </a:solidFill>
                <a:latin typeface="Inter" pitchFamily="34" charset="0"/>
                <a:ea typeface="Inter" pitchFamily="34" charset="-122"/>
                <a:cs typeface="Inter" pitchFamily="34" charset="-120"/>
              </a:rPr>
              <a:t>Four pressures on every newsroom</a:t>
            </a:r>
            <a:endParaRPr lang="en-US" sz="3600" dirty="0"/>
          </a:p>
        </p:txBody>
      </p:sp>
      <p:sp>
        <p:nvSpPr>
          <p:cNvPr id="6" name="Shape 2"/>
          <p:cNvSpPr/>
          <p:nvPr/>
        </p:nvSpPr>
        <p:spPr>
          <a:xfrm>
            <a:off x="815975" y="1938603"/>
            <a:ext cx="2482850" cy="1919684"/>
          </a:xfrm>
          <a:prstGeom prst="roundRect">
            <a:avLst>
              <a:gd name="adj" fmla="val 5127"/>
            </a:avLst>
          </a:prstGeom>
          <a:solidFill>
            <a:srgbClr val="FCFDFE"/>
          </a:solidFill>
          <a:ln w="6350">
            <a:solidFill>
              <a:srgbClr val="D3DEEA"/>
            </a:solidFill>
            <a:prstDash val="solid"/>
          </a:ln>
        </p:spPr>
      </p:sp>
      <p:sp>
        <p:nvSpPr>
          <p:cNvPr id="7" name="Text 3"/>
          <p:cNvSpPr/>
          <p:nvPr/>
        </p:nvSpPr>
        <p:spPr>
          <a:xfrm>
            <a:off x="1020233" y="2142861"/>
            <a:ext cx="2136563"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1579B"/>
                </a:solidFill>
                <a:latin typeface="Inter" pitchFamily="34" charset="0"/>
                <a:ea typeface="Inter" pitchFamily="34" charset="-122"/>
                <a:cs typeface="Inter" pitchFamily="34" charset="-120"/>
              </a:rPr>
              <a:t>01</a:t>
            </a:r>
            <a:endParaRPr lang="en-US" sz="2800" dirty="0"/>
          </a:p>
        </p:txBody>
      </p:sp>
      <p:sp>
        <p:nvSpPr>
          <p:cNvPr id="8" name="Text 4"/>
          <p:cNvSpPr/>
          <p:nvPr/>
        </p:nvSpPr>
        <p:spPr>
          <a:xfrm>
            <a:off x="1020233" y="2610182"/>
            <a:ext cx="213656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F59"/>
                </a:solidFill>
                <a:latin typeface="Inter" pitchFamily="34" charset="0"/>
                <a:ea typeface="Inter" pitchFamily="34" charset="-122"/>
                <a:cs typeface="Inter" pitchFamily="34" charset="-120"/>
              </a:rPr>
              <a:t>Speed</a:t>
            </a:r>
            <a:endParaRPr lang="en-US" sz="1800" dirty="0"/>
          </a:p>
        </p:txBody>
      </p:sp>
      <p:sp>
        <p:nvSpPr>
          <p:cNvPr id="9" name="Text 5"/>
          <p:cNvSpPr/>
          <p:nvPr/>
        </p:nvSpPr>
        <p:spPr>
          <a:xfrm>
            <a:off x="1020233" y="2960688"/>
            <a:ext cx="2136563"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Stories break in minutes. Review and publishing can’t lag behind.</a:t>
            </a:r>
            <a:endParaRPr lang="en-US" sz="1300" dirty="0"/>
          </a:p>
        </p:txBody>
      </p:sp>
      <p:sp>
        <p:nvSpPr>
          <p:cNvPr id="10" name="Shape 6"/>
          <p:cNvSpPr/>
          <p:nvPr/>
        </p:nvSpPr>
        <p:spPr>
          <a:xfrm>
            <a:off x="3508375" y="1938603"/>
            <a:ext cx="2482850" cy="1919684"/>
          </a:xfrm>
          <a:prstGeom prst="roundRect">
            <a:avLst>
              <a:gd name="adj" fmla="val 5127"/>
            </a:avLst>
          </a:prstGeom>
          <a:solidFill>
            <a:srgbClr val="FCFDFE"/>
          </a:solidFill>
          <a:ln w="6350">
            <a:solidFill>
              <a:srgbClr val="D3DEEA"/>
            </a:solidFill>
            <a:prstDash val="solid"/>
          </a:ln>
        </p:spPr>
      </p:sp>
      <p:sp>
        <p:nvSpPr>
          <p:cNvPr id="11" name="Text 7"/>
          <p:cNvSpPr/>
          <p:nvPr/>
        </p:nvSpPr>
        <p:spPr>
          <a:xfrm>
            <a:off x="3712633" y="2142861"/>
            <a:ext cx="2136563"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1579B"/>
                </a:solidFill>
                <a:latin typeface="Inter" pitchFamily="34" charset="0"/>
                <a:ea typeface="Inter" pitchFamily="34" charset="-122"/>
                <a:cs typeface="Inter" pitchFamily="34" charset="-120"/>
              </a:rPr>
              <a:t>02</a:t>
            </a:r>
            <a:endParaRPr lang="en-US" sz="2800" dirty="0"/>
          </a:p>
        </p:txBody>
      </p:sp>
      <p:sp>
        <p:nvSpPr>
          <p:cNvPr id="12" name="Text 8"/>
          <p:cNvSpPr/>
          <p:nvPr/>
        </p:nvSpPr>
        <p:spPr>
          <a:xfrm>
            <a:off x="3712633" y="2610182"/>
            <a:ext cx="213656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F59"/>
                </a:solidFill>
                <a:latin typeface="Inter" pitchFamily="34" charset="0"/>
                <a:ea typeface="Inter" pitchFamily="34" charset="-122"/>
                <a:cs typeface="Inter" pitchFamily="34" charset="-120"/>
              </a:rPr>
              <a:t>Quality</a:t>
            </a:r>
            <a:endParaRPr lang="en-US" sz="1800" dirty="0"/>
          </a:p>
        </p:txBody>
      </p:sp>
      <p:sp>
        <p:nvSpPr>
          <p:cNvPr id="13" name="Text 9"/>
          <p:cNvSpPr/>
          <p:nvPr/>
        </p:nvSpPr>
        <p:spPr>
          <a:xfrm>
            <a:off x="3712633" y="2960688"/>
            <a:ext cx="2136563"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Six brands, six style guides — and Arabic copy that must be flawless.</a:t>
            </a:r>
            <a:endParaRPr lang="en-US" sz="1300" dirty="0"/>
          </a:p>
        </p:txBody>
      </p:sp>
      <p:sp>
        <p:nvSpPr>
          <p:cNvPr id="14" name="Shape 10"/>
          <p:cNvSpPr/>
          <p:nvPr/>
        </p:nvSpPr>
        <p:spPr>
          <a:xfrm>
            <a:off x="6200775" y="1938603"/>
            <a:ext cx="2482850" cy="1919684"/>
          </a:xfrm>
          <a:prstGeom prst="roundRect">
            <a:avLst>
              <a:gd name="adj" fmla="val 5127"/>
            </a:avLst>
          </a:prstGeom>
          <a:solidFill>
            <a:srgbClr val="FCFDFE"/>
          </a:solidFill>
          <a:ln w="6350">
            <a:solidFill>
              <a:srgbClr val="D3DEEA"/>
            </a:solidFill>
            <a:prstDash val="solid"/>
          </a:ln>
        </p:spPr>
      </p:sp>
      <p:sp>
        <p:nvSpPr>
          <p:cNvPr id="15" name="Text 11"/>
          <p:cNvSpPr/>
          <p:nvPr/>
        </p:nvSpPr>
        <p:spPr>
          <a:xfrm>
            <a:off x="6405033" y="2142861"/>
            <a:ext cx="2136563"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1579B"/>
                </a:solidFill>
                <a:latin typeface="Inter" pitchFamily="34" charset="0"/>
                <a:ea typeface="Inter" pitchFamily="34" charset="-122"/>
                <a:cs typeface="Inter" pitchFamily="34" charset="-120"/>
              </a:rPr>
              <a:t>03</a:t>
            </a:r>
            <a:endParaRPr lang="en-US" sz="2800" dirty="0"/>
          </a:p>
        </p:txBody>
      </p:sp>
      <p:sp>
        <p:nvSpPr>
          <p:cNvPr id="16" name="Text 12"/>
          <p:cNvSpPr/>
          <p:nvPr/>
        </p:nvSpPr>
        <p:spPr>
          <a:xfrm>
            <a:off x="6405033" y="2610182"/>
            <a:ext cx="213656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F59"/>
                </a:solidFill>
                <a:latin typeface="Inter" pitchFamily="34" charset="0"/>
                <a:ea typeface="Inter" pitchFamily="34" charset="-122"/>
                <a:cs typeface="Inter" pitchFamily="34" charset="-120"/>
              </a:rPr>
              <a:t>Blind spots</a:t>
            </a:r>
            <a:endParaRPr lang="en-US" sz="1800" dirty="0"/>
          </a:p>
        </p:txBody>
      </p:sp>
      <p:sp>
        <p:nvSpPr>
          <p:cNvPr id="17" name="Text 13"/>
          <p:cNvSpPr/>
          <p:nvPr/>
        </p:nvSpPr>
        <p:spPr>
          <a:xfrm>
            <a:off x="6405033" y="2960688"/>
            <a:ext cx="2136563"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Trends and competitor coverage move faster than any desk can track.</a:t>
            </a:r>
            <a:endParaRPr lang="en-US" sz="1300" dirty="0"/>
          </a:p>
        </p:txBody>
      </p:sp>
      <p:sp>
        <p:nvSpPr>
          <p:cNvPr id="18" name="Shape 14"/>
          <p:cNvSpPr/>
          <p:nvPr/>
        </p:nvSpPr>
        <p:spPr>
          <a:xfrm>
            <a:off x="8893175" y="1938603"/>
            <a:ext cx="2482850" cy="1919684"/>
          </a:xfrm>
          <a:prstGeom prst="roundRect">
            <a:avLst>
              <a:gd name="adj" fmla="val 5127"/>
            </a:avLst>
          </a:prstGeom>
          <a:solidFill>
            <a:srgbClr val="FCFDFE"/>
          </a:solidFill>
          <a:ln w="6350">
            <a:solidFill>
              <a:srgbClr val="D3DEEA"/>
            </a:solidFill>
            <a:prstDash val="solid"/>
          </a:ln>
        </p:spPr>
      </p:sp>
      <p:sp>
        <p:nvSpPr>
          <p:cNvPr id="19" name="Text 15"/>
          <p:cNvSpPr/>
          <p:nvPr/>
        </p:nvSpPr>
        <p:spPr>
          <a:xfrm>
            <a:off x="9097434" y="2142861"/>
            <a:ext cx="2136563"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1579B"/>
                </a:solidFill>
                <a:latin typeface="Inter" pitchFamily="34" charset="0"/>
                <a:ea typeface="Inter" pitchFamily="34" charset="-122"/>
                <a:cs typeface="Inter" pitchFamily="34" charset="-120"/>
              </a:rPr>
              <a:t>04</a:t>
            </a:r>
            <a:endParaRPr lang="en-US" sz="2800" dirty="0"/>
          </a:p>
        </p:txBody>
      </p:sp>
      <p:sp>
        <p:nvSpPr>
          <p:cNvPr id="20" name="Text 16"/>
          <p:cNvSpPr/>
          <p:nvPr/>
        </p:nvSpPr>
        <p:spPr>
          <a:xfrm>
            <a:off x="9097434" y="2610182"/>
            <a:ext cx="213656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F59"/>
                </a:solidFill>
                <a:latin typeface="Inter" pitchFamily="34" charset="0"/>
                <a:ea typeface="Inter" pitchFamily="34" charset="-122"/>
                <a:cs typeface="Inter" pitchFamily="34" charset="-120"/>
              </a:rPr>
              <a:t>Formats</a:t>
            </a:r>
            <a:endParaRPr lang="en-US" sz="1800" dirty="0"/>
          </a:p>
        </p:txBody>
      </p:sp>
      <p:sp>
        <p:nvSpPr>
          <p:cNvPr id="21" name="Text 17"/>
          <p:cNvSpPr/>
          <p:nvPr/>
        </p:nvSpPr>
        <p:spPr>
          <a:xfrm>
            <a:off x="9097434" y="2960688"/>
            <a:ext cx="2136563"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Audiences listen, skim, watch and ask. Text alone is no longer enough.</a:t>
            </a:r>
            <a:endParaRPr lang="en-US" sz="1300" dirty="0"/>
          </a:p>
        </p:txBody>
      </p:sp>
      <p:sp>
        <p:nvSpPr>
          <p:cNvPr id="22" name="Text 18"/>
          <p:cNvSpPr/>
          <p:nvPr/>
        </p:nvSpPr>
        <p:spPr>
          <a:xfrm>
            <a:off x="812800" y="4166262"/>
            <a:ext cx="10883392" cy="711200"/>
          </a:xfrm>
          <a:prstGeom prst="rect">
            <a:avLst/>
          </a:prstGeom>
          <a:noFill/>
          <a:ln/>
        </p:spPr>
        <p:txBody>
          <a:bodyPr wrap="square" lIns="0" tIns="0" rIns="0" bIns="0" rtlCol="0" anchor="t">
            <a:normAutofit/>
          </a:bodyPr>
          <a:lstStyle/>
          <a:p>
            <a:pPr algn="l" indent="0" marL="0">
              <a:lnSpc>
                <a:spcPts val="2700"/>
              </a:lnSpc>
              <a:buNone/>
            </a:pPr>
            <a:r>
              <a:rPr lang="en-US" sz="2000" b="1" i="1" dirty="0">
                <a:solidFill>
                  <a:srgbClr val="002F59"/>
                </a:solidFill>
                <a:latin typeface="Inter" pitchFamily="34" charset="0"/>
                <a:ea typeface="Inter" pitchFamily="34" charset="-122"/>
                <a:cs typeface="Inter" pitchFamily="34" charset="-120"/>
              </a:rPr>
              <a:t>Point solutions ease one pressure at a time. We needed a system that answers all four.</a:t>
            </a:r>
            <a:endParaRPr lang="en-US" sz="2000" dirty="0"/>
          </a:p>
        </p:txBody>
      </p:sp>
      <p:sp>
        <p:nvSpPr>
          <p:cNvPr id="23" name="Text 19"/>
          <p:cNvSpPr/>
          <p:nvPr/>
        </p:nvSpPr>
        <p:spPr>
          <a:xfrm>
            <a:off x="812800" y="6230607"/>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24" name="Text 20"/>
          <p:cNvSpPr/>
          <p:nvPr/>
        </p:nvSpPr>
        <p:spPr>
          <a:xfrm>
            <a:off x="11138098" y="6230607"/>
            <a:ext cx="24110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79C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079C0"/>
              </a:gs>
              <a:gs pos="100000">
                <a:srgbClr val="01579B"/>
              </a:gs>
            </a:gsLst>
            <a:lin ang="2700000" scaled="0"/>
          </a:gradFill>
          <a:ln/>
        </p:spPr>
      </p:sp>
      <p:pic>
        <p:nvPicPr>
          <p:cNvPr id="3" name="Image 0" descr="">    </p:cNvPr>
          <p:cNvPicPr>
            <a:picLocks noChangeAspect="1"/>
          </p:cNvPicPr>
          <p:nvPr/>
        </p:nvPicPr>
        <p:blipFill>
          <a:blip r:embed="rId1">
            <a:alphaModFix amt="12000"/>
          </a:blip>
          <a:srcRect l="0" r="0" t="0" b="0"/>
          <a:stretch/>
        </p:blipFill>
        <p:spPr>
          <a:xfrm>
            <a:off x="7874000" y="1270000"/>
            <a:ext cx="4318000" cy="4318000"/>
          </a:xfrm>
          <a:prstGeom prst="rect">
            <a:avLst/>
          </a:prstGeom>
        </p:spPr>
      </p:pic>
      <p:pic>
        <p:nvPicPr>
          <p:cNvPr id="4"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5" name="Text 1"/>
          <p:cNvSpPr/>
          <p:nvPr/>
        </p:nvSpPr>
        <p:spPr>
          <a:xfrm>
            <a:off x="812800" y="213869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FFFF"/>
                </a:solidFill>
                <a:latin typeface="Inter" pitchFamily="34" charset="0"/>
                <a:ea typeface="Inter" pitchFamily="34" charset="-122"/>
                <a:cs typeface="Inter" pitchFamily="34" charset="-120"/>
              </a:rPr>
              <a:t>THE SHIFT</a:t>
            </a:r>
            <a:endParaRPr lang="en-US" sz="1200" dirty="0"/>
          </a:p>
        </p:txBody>
      </p:sp>
      <p:sp>
        <p:nvSpPr>
          <p:cNvPr id="6" name="Text 2"/>
          <p:cNvSpPr/>
          <p:nvPr>
            <p:ph type="title"/>
          </p:nvPr>
        </p:nvSpPr>
        <p:spPr>
          <a:xfrm>
            <a:off x="812800" y="2606015"/>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1" i="0" spc="-150" kern="0" dirty="0">
                <a:solidFill>
                  <a:srgbClr val="FFFFFF"/>
                </a:solidFill>
                <a:latin typeface="Inter" pitchFamily="34" charset="0"/>
                <a:ea typeface="Inter" pitchFamily="34" charset="-122"/>
                <a:cs typeface="Inter" pitchFamily="34" charset="-120"/>
              </a:rPr>
              <a:t>One loop.</a:t>
            </a:r>
            <a:endParaRPr lang="en-US" sz="8000" dirty="0"/>
          </a:p>
        </p:txBody>
      </p:sp>
      <p:sp>
        <p:nvSpPr>
          <p:cNvPr id="7" name="Text 3"/>
          <p:cNvSpPr/>
          <p:nvPr/>
        </p:nvSpPr>
        <p:spPr>
          <a:xfrm>
            <a:off x="812800" y="3926815"/>
            <a:ext cx="9156700" cy="817827"/>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FFFFFF"/>
                </a:solidFill>
                <a:latin typeface="Inter" pitchFamily="34" charset="0"/>
                <a:ea typeface="Inter" pitchFamily="34" charset="-122"/>
                <a:cs typeface="Inter" pitchFamily="34" charset="-120"/>
              </a:rPr>
              <a:t>Every AI service we build plugs into a single editorial cycle — and every story that goes round makes the next one smarter.</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2F59"/>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18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06970"/>
          </a:xfrm>
          <a:prstGeom prst="rect">
            <a:avLst/>
          </a:prstGeom>
          <a:noFill/>
          <a:ln/>
        </p:spPr>
        <p:txBody>
          <a:bodyPr wrap="square" lIns="0" tIns="0" rIns="0" bIns="0" rtlCol="0" anchor="t">
            <a:normAutofit/>
          </a:bodyPr>
          <a:lstStyle/>
          <a:p>
            <a:pPr algn="l" indent="0" marL="0">
              <a:lnSpc>
                <a:spcPts val="1470"/>
              </a:lnSpc>
              <a:buNone/>
            </a:pPr>
            <a:r>
              <a:rPr lang="en-US" sz="1050" b="1" spc="150" kern="0" dirty="0">
                <a:solidFill>
                  <a:srgbClr val="5DB8F0"/>
                </a:solidFill>
                <a:latin typeface="Inter" pitchFamily="34" charset="0"/>
                <a:ea typeface="Inter" pitchFamily="34" charset="-122"/>
                <a:cs typeface="Inter" pitchFamily="34" charset="-120"/>
              </a:rPr>
              <a:t>THE FRAMEWORK</a:t>
            </a:r>
            <a:endParaRPr lang="en-US" sz="1050" dirty="0"/>
          </a:p>
        </p:txBody>
      </p:sp>
      <p:sp>
        <p:nvSpPr>
          <p:cNvPr id="5" name="Text 1"/>
          <p:cNvSpPr/>
          <p:nvPr>
            <p:ph type="title"/>
          </p:nvPr>
        </p:nvSpPr>
        <p:spPr>
          <a:xfrm>
            <a:off x="812800" y="1095970"/>
            <a:ext cx="10883392" cy="453496"/>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F4F7FB"/>
                </a:solidFill>
                <a:latin typeface="Inter" pitchFamily="34" charset="0"/>
                <a:ea typeface="Inter" pitchFamily="34" charset="-122"/>
                <a:cs typeface="Inter" pitchFamily="34" charset="-120"/>
              </a:rPr>
              <a:t>Six stages, one shared intelligence layer</a:t>
            </a:r>
            <a:endParaRPr lang="en-US" sz="3060" dirty="0"/>
          </a:p>
        </p:txBody>
      </p:sp>
      <p:sp>
        <p:nvSpPr>
          <p:cNvPr id="6" name="Shape 2"/>
          <p:cNvSpPr/>
          <p:nvPr/>
        </p:nvSpPr>
        <p:spPr>
          <a:xfrm>
            <a:off x="815975" y="1832043"/>
            <a:ext cx="1543050" cy="2276210"/>
          </a:xfrm>
          <a:prstGeom prst="roundRect">
            <a:avLst>
              <a:gd name="adj" fmla="val 6379"/>
            </a:avLst>
          </a:prstGeom>
          <a:solidFill>
            <a:srgbClr val="0A3D6E"/>
          </a:solidFill>
          <a:ln w="6350">
            <a:solidFill>
              <a:srgbClr val="1F5A8C"/>
            </a:solidFill>
            <a:prstDash val="solid"/>
          </a:ln>
        </p:spPr>
      </p:sp>
      <p:pic>
        <p:nvPicPr>
          <p:cNvPr id="7" name="Image 2" descr="Search">    </p:cNvPr>
          <p:cNvPicPr>
            <a:picLocks noChangeAspect="1"/>
          </p:cNvPicPr>
          <p:nvPr/>
        </p:nvPicPr>
        <p:blipFill>
          <a:blip r:embed="rId3"/>
          <a:srcRect l="0" r="0" t="0" b="0"/>
          <a:stretch/>
        </p:blipFill>
        <p:spPr>
          <a:xfrm>
            <a:off x="994833" y="2010901"/>
            <a:ext cx="279400" cy="279400"/>
          </a:xfrm>
          <a:prstGeom prst="rect">
            <a:avLst/>
          </a:prstGeom>
        </p:spPr>
      </p:pic>
      <p:sp>
        <p:nvSpPr>
          <p:cNvPr id="8" name="Text 3"/>
          <p:cNvSpPr/>
          <p:nvPr/>
        </p:nvSpPr>
        <p:spPr>
          <a:xfrm>
            <a:off x="994833" y="2366501"/>
            <a:ext cx="12361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01</a:t>
            </a:r>
            <a:endParaRPr lang="en-US" sz="1200" dirty="0"/>
          </a:p>
        </p:txBody>
      </p:sp>
      <p:sp>
        <p:nvSpPr>
          <p:cNvPr id="9" name="Text 4"/>
          <p:cNvSpPr/>
          <p:nvPr/>
        </p:nvSpPr>
        <p:spPr>
          <a:xfrm>
            <a:off x="994833" y="2656021"/>
            <a:ext cx="123613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7FB"/>
                </a:solidFill>
                <a:latin typeface="Inter" pitchFamily="34" charset="0"/>
                <a:ea typeface="Inter" pitchFamily="34" charset="-122"/>
                <a:cs typeface="Inter" pitchFamily="34" charset="-120"/>
              </a:rPr>
              <a:t>Discover</a:t>
            </a:r>
            <a:endParaRPr lang="en-US" sz="1700" dirty="0"/>
          </a:p>
        </p:txBody>
      </p:sp>
      <p:sp>
        <p:nvSpPr>
          <p:cNvPr id="10" name="Text 5"/>
          <p:cNvSpPr/>
          <p:nvPr/>
        </p:nvSpPr>
        <p:spPr>
          <a:xfrm>
            <a:off x="994833" y="2991247"/>
            <a:ext cx="123613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D2E8"/>
                </a:solidFill>
                <a:latin typeface="Inter" pitchFamily="34" charset="0"/>
                <a:ea typeface="Inter" pitchFamily="34" charset="-122"/>
                <a:cs typeface="Inter" pitchFamily="34" charset="-120"/>
              </a:rPr>
              <a:t>Trend and competitor gap analysis</a:t>
            </a:r>
            <a:endParaRPr lang="en-US" sz="1200" dirty="0"/>
          </a:p>
        </p:txBody>
      </p:sp>
      <p:pic>
        <p:nvPicPr>
          <p:cNvPr id="11" name="Image 3" descr="connector">    </p:cNvPr>
          <p:cNvPicPr>
            <a:picLocks noChangeAspect="1"/>
          </p:cNvPicPr>
          <p:nvPr/>
        </p:nvPicPr>
        <p:blipFill>
          <a:blip r:embed="rId4"/>
          <a:srcRect l="0" r="0" t="0" b="0"/>
          <a:stretch/>
        </p:blipFill>
        <p:spPr>
          <a:xfrm>
            <a:off x="2362200" y="2932047"/>
            <a:ext cx="254000" cy="76200"/>
          </a:xfrm>
          <a:prstGeom prst="rect">
            <a:avLst/>
          </a:prstGeom>
        </p:spPr>
      </p:pic>
      <p:sp>
        <p:nvSpPr>
          <p:cNvPr id="12" name="Shape 6"/>
          <p:cNvSpPr/>
          <p:nvPr/>
        </p:nvSpPr>
        <p:spPr>
          <a:xfrm>
            <a:off x="2619375" y="1832043"/>
            <a:ext cx="1543050" cy="2276210"/>
          </a:xfrm>
          <a:prstGeom prst="roundRect">
            <a:avLst>
              <a:gd name="adj" fmla="val 6379"/>
            </a:avLst>
          </a:prstGeom>
          <a:solidFill>
            <a:srgbClr val="0A3D6E"/>
          </a:solidFill>
          <a:ln w="6350">
            <a:solidFill>
              <a:srgbClr val="1F5A8C"/>
            </a:solidFill>
            <a:prstDash val="solid"/>
          </a:ln>
        </p:spPr>
      </p:sp>
      <p:pic>
        <p:nvPicPr>
          <p:cNvPr id="13" name="Image 4" descr="Lightbulb">    </p:cNvPr>
          <p:cNvPicPr>
            <a:picLocks noChangeAspect="1"/>
          </p:cNvPicPr>
          <p:nvPr/>
        </p:nvPicPr>
        <p:blipFill>
          <a:blip r:embed="rId5"/>
          <a:srcRect l="0" r="0" t="0" b="0"/>
          <a:stretch/>
        </p:blipFill>
        <p:spPr>
          <a:xfrm>
            <a:off x="2798233" y="2010901"/>
            <a:ext cx="279400" cy="279400"/>
          </a:xfrm>
          <a:prstGeom prst="rect">
            <a:avLst/>
          </a:prstGeom>
        </p:spPr>
      </p:pic>
      <p:sp>
        <p:nvSpPr>
          <p:cNvPr id="14" name="Text 7"/>
          <p:cNvSpPr/>
          <p:nvPr/>
        </p:nvSpPr>
        <p:spPr>
          <a:xfrm>
            <a:off x="2798233" y="2366501"/>
            <a:ext cx="12361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02</a:t>
            </a:r>
            <a:endParaRPr lang="en-US" sz="1200" dirty="0"/>
          </a:p>
        </p:txBody>
      </p:sp>
      <p:sp>
        <p:nvSpPr>
          <p:cNvPr id="15" name="Text 8"/>
          <p:cNvSpPr/>
          <p:nvPr/>
        </p:nvSpPr>
        <p:spPr>
          <a:xfrm>
            <a:off x="2798233" y="2656021"/>
            <a:ext cx="123613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7FB"/>
                </a:solidFill>
                <a:latin typeface="Inter" pitchFamily="34" charset="0"/>
                <a:ea typeface="Inter" pitchFamily="34" charset="-122"/>
                <a:cs typeface="Inter" pitchFamily="34" charset="-120"/>
              </a:rPr>
              <a:t>Draft</a:t>
            </a:r>
            <a:endParaRPr lang="en-US" sz="1700" dirty="0"/>
          </a:p>
        </p:txBody>
      </p:sp>
      <p:sp>
        <p:nvSpPr>
          <p:cNvPr id="16" name="Text 9"/>
          <p:cNvSpPr/>
          <p:nvPr/>
        </p:nvSpPr>
        <p:spPr>
          <a:xfrm>
            <a:off x="2798233" y="2991247"/>
            <a:ext cx="123613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D2E8"/>
                </a:solidFill>
                <a:latin typeface="Inter" pitchFamily="34" charset="0"/>
                <a:ea typeface="Inter" pitchFamily="34" charset="-122"/>
                <a:cs typeface="Inter" pitchFamily="34" charset="-120"/>
              </a:rPr>
              <a:t>AI drafts suggested for each gap</a:t>
            </a:r>
            <a:endParaRPr lang="en-US" sz="1200" dirty="0"/>
          </a:p>
        </p:txBody>
      </p:sp>
      <p:pic>
        <p:nvPicPr>
          <p:cNvPr id="17" name="Image 5" descr="connector">    </p:cNvPr>
          <p:cNvPicPr>
            <a:picLocks noChangeAspect="1"/>
          </p:cNvPicPr>
          <p:nvPr/>
        </p:nvPicPr>
        <p:blipFill>
          <a:blip r:embed="rId6"/>
          <a:srcRect l="0" r="0" t="0" b="0"/>
          <a:stretch/>
        </p:blipFill>
        <p:spPr>
          <a:xfrm>
            <a:off x="4165600" y="2932047"/>
            <a:ext cx="254000" cy="76200"/>
          </a:xfrm>
          <a:prstGeom prst="rect">
            <a:avLst/>
          </a:prstGeom>
        </p:spPr>
      </p:pic>
      <p:sp>
        <p:nvSpPr>
          <p:cNvPr id="18" name="Shape 10"/>
          <p:cNvSpPr/>
          <p:nvPr/>
        </p:nvSpPr>
        <p:spPr>
          <a:xfrm>
            <a:off x="4422775" y="1832043"/>
            <a:ext cx="1543050" cy="2276210"/>
          </a:xfrm>
          <a:prstGeom prst="roundRect">
            <a:avLst>
              <a:gd name="adj" fmla="val 6379"/>
            </a:avLst>
          </a:prstGeom>
          <a:solidFill>
            <a:srgbClr val="0A3D6E"/>
          </a:solidFill>
          <a:ln w="6350">
            <a:solidFill>
              <a:srgbClr val="1F5A8C"/>
            </a:solidFill>
            <a:prstDash val="solid"/>
          </a:ln>
        </p:spPr>
      </p:sp>
      <p:pic>
        <p:nvPicPr>
          <p:cNvPr id="19" name="Image 6" descr="CheckCircle">    </p:cNvPr>
          <p:cNvPicPr>
            <a:picLocks noChangeAspect="1"/>
          </p:cNvPicPr>
          <p:nvPr/>
        </p:nvPicPr>
        <p:blipFill>
          <a:blip r:embed="rId7"/>
          <a:srcRect l="-555" r="-555" t="0" b="0"/>
          <a:stretch/>
        </p:blipFill>
        <p:spPr>
          <a:xfrm>
            <a:off x="4601633" y="2010901"/>
            <a:ext cx="279400" cy="232370"/>
          </a:xfrm>
          <a:prstGeom prst="rect">
            <a:avLst/>
          </a:prstGeom>
        </p:spPr>
      </p:pic>
      <p:sp>
        <p:nvSpPr>
          <p:cNvPr id="20" name="Text 11"/>
          <p:cNvSpPr/>
          <p:nvPr/>
        </p:nvSpPr>
        <p:spPr>
          <a:xfrm>
            <a:off x="4601633" y="2319471"/>
            <a:ext cx="1236133" cy="202869"/>
          </a:xfrm>
          <a:prstGeom prst="rect">
            <a:avLst/>
          </a:prstGeom>
          <a:noFill/>
          <a:ln/>
        </p:spPr>
        <p:txBody>
          <a:bodyPr wrap="square" lIns="0" tIns="0" rIns="0" bIns="0" rtlCol="0" anchor="t">
            <a:normAutofit/>
          </a:bodyPr>
          <a:lstStyle/>
          <a:p>
            <a:pPr algn="l" indent="0" marL="0">
              <a:lnSpc>
                <a:spcPts val="1423"/>
              </a:lnSpc>
              <a:buNone/>
            </a:pPr>
            <a:r>
              <a:rPr lang="en-US" sz="1016" dirty="0">
                <a:solidFill>
                  <a:srgbClr val="8DB0D2"/>
                </a:solidFill>
                <a:latin typeface="Inter" pitchFamily="34" charset="0"/>
                <a:ea typeface="Inter" pitchFamily="34" charset="-122"/>
                <a:cs typeface="Inter" pitchFamily="34" charset="-120"/>
              </a:rPr>
              <a:t>03</a:t>
            </a:r>
            <a:endParaRPr lang="en-US" sz="1016" dirty="0"/>
          </a:p>
        </p:txBody>
      </p:sp>
      <p:sp>
        <p:nvSpPr>
          <p:cNvPr id="21" name="Text 12"/>
          <p:cNvSpPr/>
          <p:nvPr/>
        </p:nvSpPr>
        <p:spPr>
          <a:xfrm>
            <a:off x="4601633" y="2573139"/>
            <a:ext cx="1236133" cy="240837"/>
          </a:xfrm>
          <a:prstGeom prst="rect">
            <a:avLst/>
          </a:prstGeom>
          <a:noFill/>
          <a:ln/>
        </p:spPr>
        <p:txBody>
          <a:bodyPr wrap="square" lIns="0" tIns="0" rIns="0" bIns="0" rtlCol="0" anchor="t">
            <a:normAutofit/>
          </a:bodyPr>
          <a:lstStyle/>
          <a:p>
            <a:pPr algn="l" indent="0" marL="0">
              <a:lnSpc>
                <a:spcPts val="1721"/>
              </a:lnSpc>
              <a:buNone/>
            </a:pPr>
            <a:r>
              <a:rPr lang="en-US" sz="1434" b="1" dirty="0">
                <a:solidFill>
                  <a:srgbClr val="F4F7FB"/>
                </a:solidFill>
                <a:latin typeface="Inter" pitchFamily="34" charset="0"/>
                <a:ea typeface="Inter" pitchFamily="34" charset="-122"/>
                <a:cs typeface="Inter" pitchFamily="34" charset="-120"/>
              </a:rPr>
              <a:t>Review</a:t>
            </a:r>
            <a:endParaRPr lang="en-US" sz="1434" dirty="0"/>
          </a:p>
        </p:txBody>
      </p:sp>
      <p:sp>
        <p:nvSpPr>
          <p:cNvPr id="22" name="Text 13"/>
          <p:cNvSpPr/>
          <p:nvPr/>
        </p:nvSpPr>
        <p:spPr>
          <a:xfrm>
            <a:off x="4601633" y="2864777"/>
            <a:ext cx="1236133" cy="1090017"/>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BCD2E8"/>
                </a:solidFill>
                <a:latin typeface="Inter" pitchFamily="34" charset="0"/>
                <a:ea typeface="Inter" pitchFamily="34" charset="-122"/>
                <a:cs typeface="Inter" pitchFamily="34" charset="-120"/>
              </a:rPr>
              <a:t>AI Editorial Assistant checks style, grammar and editorial guidelines</a:t>
            </a:r>
            <a:endParaRPr lang="en-US" sz="1166" dirty="0"/>
          </a:p>
        </p:txBody>
      </p:sp>
      <p:pic>
        <p:nvPicPr>
          <p:cNvPr id="23" name="Image 7" descr="connector">    </p:cNvPr>
          <p:cNvPicPr>
            <a:picLocks noChangeAspect="1"/>
          </p:cNvPicPr>
          <p:nvPr/>
        </p:nvPicPr>
        <p:blipFill>
          <a:blip r:embed="rId8"/>
          <a:srcRect l="0" r="0" t="0" b="0"/>
          <a:stretch/>
        </p:blipFill>
        <p:spPr>
          <a:xfrm>
            <a:off x="5969000" y="2932047"/>
            <a:ext cx="254000" cy="76200"/>
          </a:xfrm>
          <a:prstGeom prst="rect">
            <a:avLst/>
          </a:prstGeom>
        </p:spPr>
      </p:pic>
      <p:sp>
        <p:nvSpPr>
          <p:cNvPr id="24" name="Shape 14"/>
          <p:cNvSpPr/>
          <p:nvPr/>
        </p:nvSpPr>
        <p:spPr>
          <a:xfrm>
            <a:off x="6226175" y="1832043"/>
            <a:ext cx="1543050" cy="2276210"/>
          </a:xfrm>
          <a:prstGeom prst="roundRect">
            <a:avLst>
              <a:gd name="adj" fmla="val 6379"/>
            </a:avLst>
          </a:prstGeom>
          <a:solidFill>
            <a:srgbClr val="0A3D6E"/>
          </a:solidFill>
          <a:ln w="6350">
            <a:solidFill>
              <a:srgbClr val="1F5A8C"/>
            </a:solidFill>
            <a:prstDash val="solid"/>
          </a:ln>
        </p:spPr>
      </p:sp>
      <p:pic>
        <p:nvPicPr>
          <p:cNvPr id="25" name="Image 8" descr="Activity">    </p:cNvPr>
          <p:cNvPicPr>
            <a:picLocks noChangeAspect="1"/>
          </p:cNvPicPr>
          <p:nvPr/>
        </p:nvPicPr>
        <p:blipFill>
          <a:blip r:embed="rId9"/>
          <a:srcRect l="0" r="0" t="0" b="0"/>
          <a:stretch/>
        </p:blipFill>
        <p:spPr>
          <a:xfrm>
            <a:off x="6405033" y="2010901"/>
            <a:ext cx="279400" cy="279400"/>
          </a:xfrm>
          <a:prstGeom prst="rect">
            <a:avLst/>
          </a:prstGeom>
        </p:spPr>
      </p:pic>
      <p:sp>
        <p:nvSpPr>
          <p:cNvPr id="26" name="Text 15"/>
          <p:cNvSpPr/>
          <p:nvPr/>
        </p:nvSpPr>
        <p:spPr>
          <a:xfrm>
            <a:off x="6405033" y="2366501"/>
            <a:ext cx="12361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04</a:t>
            </a:r>
            <a:endParaRPr lang="en-US" sz="1200" dirty="0"/>
          </a:p>
        </p:txBody>
      </p:sp>
      <p:sp>
        <p:nvSpPr>
          <p:cNvPr id="27" name="Text 16"/>
          <p:cNvSpPr/>
          <p:nvPr/>
        </p:nvSpPr>
        <p:spPr>
          <a:xfrm>
            <a:off x="6405033" y="2656021"/>
            <a:ext cx="123613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7FB"/>
                </a:solidFill>
                <a:latin typeface="Inter" pitchFamily="34" charset="0"/>
                <a:ea typeface="Inter" pitchFamily="34" charset="-122"/>
                <a:cs typeface="Inter" pitchFamily="34" charset="-120"/>
              </a:rPr>
              <a:t>Publish</a:t>
            </a:r>
            <a:endParaRPr lang="en-US" sz="1700" dirty="0"/>
          </a:p>
        </p:txBody>
      </p:sp>
      <p:sp>
        <p:nvSpPr>
          <p:cNvPr id="28" name="Text 17"/>
          <p:cNvSpPr/>
          <p:nvPr/>
        </p:nvSpPr>
        <p:spPr>
          <a:xfrm>
            <a:off x="6405033" y="2991247"/>
            <a:ext cx="12361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D2E8"/>
                </a:solidFill>
                <a:latin typeface="Inter" pitchFamily="34" charset="0"/>
                <a:ea typeface="Inter" pitchFamily="34" charset="-122"/>
                <a:cs typeface="Inter" pitchFamily="34" charset="-120"/>
              </a:rPr>
              <a:t>Workflow status and bottlenecks</a:t>
            </a:r>
            <a:endParaRPr lang="en-US" sz="1200" dirty="0"/>
          </a:p>
        </p:txBody>
      </p:sp>
      <p:pic>
        <p:nvPicPr>
          <p:cNvPr id="29" name="Image 9" descr="connector">    </p:cNvPr>
          <p:cNvPicPr>
            <a:picLocks noChangeAspect="1"/>
          </p:cNvPicPr>
          <p:nvPr/>
        </p:nvPicPr>
        <p:blipFill>
          <a:blip r:embed="rId10"/>
          <a:srcRect l="0" r="0" t="0" b="0"/>
          <a:stretch/>
        </p:blipFill>
        <p:spPr>
          <a:xfrm>
            <a:off x="7772400" y="2932047"/>
            <a:ext cx="254000" cy="76200"/>
          </a:xfrm>
          <a:prstGeom prst="rect">
            <a:avLst/>
          </a:prstGeom>
        </p:spPr>
      </p:pic>
      <p:sp>
        <p:nvSpPr>
          <p:cNvPr id="30" name="Shape 18"/>
          <p:cNvSpPr/>
          <p:nvPr/>
        </p:nvSpPr>
        <p:spPr>
          <a:xfrm>
            <a:off x="8029575" y="1832043"/>
            <a:ext cx="1543050" cy="2276210"/>
          </a:xfrm>
          <a:prstGeom prst="roundRect">
            <a:avLst>
              <a:gd name="adj" fmla="val 6379"/>
            </a:avLst>
          </a:prstGeom>
          <a:solidFill>
            <a:srgbClr val="0A3D6E"/>
          </a:solidFill>
          <a:ln w="6350">
            <a:solidFill>
              <a:srgbClr val="1F5A8C"/>
            </a:solidFill>
            <a:prstDash val="solid"/>
          </a:ln>
        </p:spPr>
      </p:sp>
      <p:pic>
        <p:nvPicPr>
          <p:cNvPr id="31" name="Image 10" descr="Play">    </p:cNvPr>
          <p:cNvPicPr>
            <a:picLocks noChangeAspect="1"/>
          </p:cNvPicPr>
          <p:nvPr/>
        </p:nvPicPr>
        <p:blipFill>
          <a:blip r:embed="rId11"/>
          <a:srcRect l="-127" r="-127" t="0" b="0"/>
          <a:stretch/>
        </p:blipFill>
        <p:spPr>
          <a:xfrm>
            <a:off x="8208434" y="2010901"/>
            <a:ext cx="279400" cy="259689"/>
          </a:xfrm>
          <a:prstGeom prst="rect">
            <a:avLst/>
          </a:prstGeom>
        </p:spPr>
      </p:pic>
      <p:sp>
        <p:nvSpPr>
          <p:cNvPr id="32" name="Text 19"/>
          <p:cNvSpPr/>
          <p:nvPr/>
        </p:nvSpPr>
        <p:spPr>
          <a:xfrm>
            <a:off x="8208434" y="2346790"/>
            <a:ext cx="1236133" cy="223639"/>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8DB0D2"/>
                </a:solidFill>
                <a:latin typeface="Inter" pitchFamily="34" charset="0"/>
                <a:ea typeface="Inter" pitchFamily="34" charset="-122"/>
                <a:cs typeface="Inter" pitchFamily="34" charset="-120"/>
              </a:rPr>
              <a:t>05</a:t>
            </a:r>
            <a:endParaRPr lang="en-US" sz="1121" dirty="0"/>
          </a:p>
        </p:txBody>
      </p:sp>
      <p:sp>
        <p:nvSpPr>
          <p:cNvPr id="33" name="Text 20"/>
          <p:cNvSpPr/>
          <p:nvPr/>
        </p:nvSpPr>
        <p:spPr>
          <a:xfrm>
            <a:off x="8208434" y="2621229"/>
            <a:ext cx="1236133" cy="266105"/>
          </a:xfrm>
          <a:prstGeom prst="rect">
            <a:avLst/>
          </a:prstGeom>
          <a:noFill/>
          <a:ln/>
        </p:spPr>
        <p:txBody>
          <a:bodyPr wrap="square" lIns="0" tIns="0" rIns="0" bIns="0" rtlCol="0" anchor="t">
            <a:normAutofit/>
          </a:bodyPr>
          <a:lstStyle/>
          <a:p>
            <a:pPr algn="l" indent="0" marL="0">
              <a:lnSpc>
                <a:spcPts val="1919"/>
              </a:lnSpc>
              <a:buNone/>
            </a:pPr>
            <a:r>
              <a:rPr lang="en-US" sz="1599" b="1" dirty="0">
                <a:solidFill>
                  <a:srgbClr val="F4F7FB"/>
                </a:solidFill>
                <a:latin typeface="Inter" pitchFamily="34" charset="0"/>
                <a:ea typeface="Inter" pitchFamily="34" charset="-122"/>
                <a:cs typeface="Inter" pitchFamily="34" charset="-120"/>
              </a:rPr>
              <a:t>Enrich</a:t>
            </a:r>
            <a:endParaRPr lang="en-US" sz="1599" dirty="0"/>
          </a:p>
        </p:txBody>
      </p:sp>
      <p:sp>
        <p:nvSpPr>
          <p:cNvPr id="34" name="Text 21"/>
          <p:cNvSpPr/>
          <p:nvPr/>
        </p:nvSpPr>
        <p:spPr>
          <a:xfrm>
            <a:off x="8208434" y="2938134"/>
            <a:ext cx="1236133" cy="1016661"/>
          </a:xfrm>
          <a:prstGeom prst="rect">
            <a:avLst/>
          </a:prstGeom>
          <a:noFill/>
          <a:ln/>
        </p:spPr>
        <p:txBody>
          <a:bodyPr wrap="square" lIns="0" tIns="0" rIns="0" bIns="0" rtlCol="0" anchor="t">
            <a:normAutofit/>
          </a:bodyPr>
          <a:lstStyle/>
          <a:p>
            <a:pPr algn="l" indent="0" marL="0">
              <a:lnSpc>
                <a:spcPts val="1591"/>
              </a:lnSpc>
              <a:buNone/>
            </a:pPr>
            <a:r>
              <a:rPr lang="en-US" sz="1136" dirty="0">
                <a:solidFill>
                  <a:srgbClr val="BCD2E8"/>
                </a:solidFill>
                <a:latin typeface="Inter" pitchFamily="34" charset="0"/>
                <a:ea typeface="Inter" pitchFamily="34" charset="-122"/>
                <a:cs typeface="Inter" pitchFamily="34" charset="-120"/>
              </a:rPr>
              <a:t>Audio, summaries, podcast, captions, chatbot</a:t>
            </a:r>
            <a:endParaRPr lang="en-US" sz="1136" dirty="0"/>
          </a:p>
        </p:txBody>
      </p:sp>
      <p:pic>
        <p:nvPicPr>
          <p:cNvPr id="35" name="Image 11" descr="connector">    </p:cNvPr>
          <p:cNvPicPr>
            <a:picLocks noChangeAspect="1"/>
          </p:cNvPicPr>
          <p:nvPr/>
        </p:nvPicPr>
        <p:blipFill>
          <a:blip r:embed="rId12"/>
          <a:srcRect l="0" r="0" t="0" b="0"/>
          <a:stretch/>
        </p:blipFill>
        <p:spPr>
          <a:xfrm>
            <a:off x="9575800" y="2932047"/>
            <a:ext cx="254000" cy="76200"/>
          </a:xfrm>
          <a:prstGeom prst="rect">
            <a:avLst/>
          </a:prstGeom>
        </p:spPr>
      </p:pic>
      <p:sp>
        <p:nvSpPr>
          <p:cNvPr id="36" name="Shape 22"/>
          <p:cNvSpPr/>
          <p:nvPr/>
        </p:nvSpPr>
        <p:spPr>
          <a:xfrm>
            <a:off x="9832975" y="1832043"/>
            <a:ext cx="1543050" cy="2276210"/>
          </a:xfrm>
          <a:prstGeom prst="roundRect">
            <a:avLst>
              <a:gd name="adj" fmla="val 6379"/>
            </a:avLst>
          </a:prstGeom>
          <a:solidFill>
            <a:srgbClr val="0A3D6E"/>
          </a:solidFill>
          <a:ln w="6350">
            <a:solidFill>
              <a:srgbClr val="1F5A8C"/>
            </a:solidFill>
            <a:prstDash val="solid"/>
          </a:ln>
        </p:spPr>
      </p:sp>
      <p:pic>
        <p:nvPicPr>
          <p:cNvPr id="37" name="Image 12" descr="Chart">    </p:cNvPr>
          <p:cNvPicPr>
            <a:picLocks noChangeAspect="1"/>
          </p:cNvPicPr>
          <p:nvPr/>
        </p:nvPicPr>
        <p:blipFill>
          <a:blip r:embed="rId13"/>
          <a:srcRect l="0" r="0" t="0" b="0"/>
          <a:stretch/>
        </p:blipFill>
        <p:spPr>
          <a:xfrm>
            <a:off x="10011834" y="2010901"/>
            <a:ext cx="279400" cy="279400"/>
          </a:xfrm>
          <a:prstGeom prst="rect">
            <a:avLst/>
          </a:prstGeom>
        </p:spPr>
      </p:pic>
      <p:sp>
        <p:nvSpPr>
          <p:cNvPr id="38" name="Text 23"/>
          <p:cNvSpPr/>
          <p:nvPr/>
        </p:nvSpPr>
        <p:spPr>
          <a:xfrm>
            <a:off x="10011834" y="2366501"/>
            <a:ext cx="12361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06</a:t>
            </a:r>
            <a:endParaRPr lang="en-US" sz="1200" dirty="0"/>
          </a:p>
        </p:txBody>
      </p:sp>
      <p:sp>
        <p:nvSpPr>
          <p:cNvPr id="39" name="Text 24"/>
          <p:cNvSpPr/>
          <p:nvPr/>
        </p:nvSpPr>
        <p:spPr>
          <a:xfrm>
            <a:off x="10011834" y="2656021"/>
            <a:ext cx="123613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7FB"/>
                </a:solidFill>
                <a:latin typeface="Inter" pitchFamily="34" charset="0"/>
                <a:ea typeface="Inter" pitchFamily="34" charset="-122"/>
                <a:cs typeface="Inter" pitchFamily="34" charset="-120"/>
              </a:rPr>
              <a:t>Measure</a:t>
            </a:r>
            <a:endParaRPr lang="en-US" sz="1700" dirty="0"/>
          </a:p>
        </p:txBody>
      </p:sp>
      <p:sp>
        <p:nvSpPr>
          <p:cNvPr id="40" name="Text 25"/>
          <p:cNvSpPr/>
          <p:nvPr/>
        </p:nvSpPr>
        <p:spPr>
          <a:xfrm>
            <a:off x="10011834" y="2991247"/>
            <a:ext cx="123613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D2E8"/>
                </a:solidFill>
                <a:latin typeface="Inter" pitchFamily="34" charset="0"/>
                <a:ea typeface="Inter" pitchFamily="34" charset="-122"/>
                <a:cs typeface="Inter" pitchFamily="34" charset="-120"/>
              </a:rPr>
              <a:t>Top articles, authors and topics</a:t>
            </a:r>
            <a:endParaRPr lang="en-US" sz="1200" dirty="0"/>
          </a:p>
        </p:txBody>
      </p:sp>
      <p:sp>
        <p:nvSpPr>
          <p:cNvPr id="41" name="Shape 26"/>
          <p:cNvSpPr/>
          <p:nvPr/>
        </p:nvSpPr>
        <p:spPr>
          <a:xfrm>
            <a:off x="819150" y="4422577"/>
            <a:ext cx="10553700" cy="891844"/>
          </a:xfrm>
          <a:prstGeom prst="roundRect">
            <a:avLst>
              <a:gd name="adj" fmla="val 10680"/>
            </a:avLst>
          </a:prstGeom>
          <a:solidFill>
            <a:srgbClr val="0A3D6E"/>
          </a:solidFill>
          <a:ln w="12700">
            <a:solidFill>
              <a:srgbClr val="5DB8F0"/>
            </a:solidFill>
            <a:prstDash val="solid"/>
          </a:ln>
        </p:spPr>
      </p:sp>
      <p:pic>
        <p:nvPicPr>
          <p:cNvPr id="42" name="Image 13" descr="Database">    </p:cNvPr>
          <p:cNvPicPr>
            <a:picLocks noChangeAspect="1"/>
          </p:cNvPicPr>
          <p:nvPr/>
        </p:nvPicPr>
        <p:blipFill>
          <a:blip r:embed="rId14"/>
          <a:srcRect l="0" r="0" t="0" b="0"/>
          <a:stretch/>
        </p:blipFill>
        <p:spPr>
          <a:xfrm>
            <a:off x="1079500" y="4690666"/>
            <a:ext cx="355600" cy="355600"/>
          </a:xfrm>
          <a:prstGeom prst="rect">
            <a:avLst/>
          </a:prstGeom>
        </p:spPr>
      </p:pic>
      <p:sp>
        <p:nvSpPr>
          <p:cNvPr id="43" name="Text 27"/>
          <p:cNvSpPr/>
          <p:nvPr/>
        </p:nvSpPr>
        <p:spPr>
          <a:xfrm>
            <a:off x="1638300" y="4596740"/>
            <a:ext cx="975842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7FB"/>
                </a:solidFill>
                <a:latin typeface="Inter" pitchFamily="34" charset="0"/>
                <a:ea typeface="Inter" pitchFamily="34" charset="-122"/>
                <a:cs typeface="Inter" pitchFamily="34" charset="-120"/>
              </a:rPr>
              <a:t>Labeeb · the shared intelligence layer</a:t>
            </a:r>
            <a:endParaRPr lang="en-US" sz="1800" dirty="0"/>
          </a:p>
        </p:txBody>
      </p:sp>
      <p:sp>
        <p:nvSpPr>
          <p:cNvPr id="44" name="Text 28"/>
          <p:cNvSpPr/>
          <p:nvPr/>
        </p:nvSpPr>
        <p:spPr>
          <a:xfrm>
            <a:off x="1638300" y="4909145"/>
            <a:ext cx="975842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Aggregates every brand’s CMS, so every stage reads from and writes to the same data.</a:t>
            </a:r>
            <a:endParaRPr lang="en-US" sz="1300" dirty="0"/>
          </a:p>
        </p:txBody>
      </p:sp>
      <p:sp>
        <p:nvSpPr>
          <p:cNvPr id="45" name="Text 29"/>
          <p:cNvSpPr/>
          <p:nvPr/>
        </p:nvSpPr>
        <p:spPr>
          <a:xfrm>
            <a:off x="812800" y="5625573"/>
            <a:ext cx="10883392" cy="241829"/>
          </a:xfrm>
          <a:prstGeom prst="rect">
            <a:avLst/>
          </a:prstGeom>
          <a:noFill/>
          <a:ln/>
        </p:spPr>
        <p:txBody>
          <a:bodyPr wrap="square" lIns="0" tIns="0" rIns="0" bIns="0" rtlCol="0" anchor="t">
            <a:normAutofit/>
          </a:bodyPr>
          <a:lstStyle/>
          <a:p>
            <a:pPr algn="l" indent="0" marL="0">
              <a:lnSpc>
                <a:spcPts val="1721"/>
              </a:lnSpc>
              <a:buNone/>
            </a:pPr>
            <a:r>
              <a:rPr lang="en-US" sz="1229" dirty="0">
                <a:solidFill>
                  <a:srgbClr val="6AA6DE"/>
                </a:solidFill>
                <a:latin typeface="Inter" pitchFamily="34" charset="0"/>
                <a:ea typeface="Inter" pitchFamily="34" charset="-122"/>
                <a:cs typeface="Inter" pitchFamily="34" charset="-120"/>
              </a:rPr>
              <a:t>The loop closes: what performs in stage 06 shapes what we discover in stage 01.</a:t>
            </a:r>
            <a:endParaRPr lang="en-US" sz="1229" dirty="0"/>
          </a:p>
        </p:txBody>
      </p:sp>
      <p:sp>
        <p:nvSpPr>
          <p:cNvPr id="46" name="Text 30"/>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47" name="Text 31"/>
          <p:cNvSpPr/>
          <p:nvPr/>
        </p:nvSpPr>
        <p:spPr>
          <a:xfrm>
            <a:off x="11141803" y="6230609"/>
            <a:ext cx="23739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B0D2"/>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1579B"/>
                </a:solidFill>
                <a:latin typeface="Inter" pitchFamily="34" charset="0"/>
                <a:ea typeface="Inter" pitchFamily="34" charset="-122"/>
                <a:cs typeface="Inter" pitchFamily="34" charset="-120"/>
              </a:rPr>
              <a:t>THE BACKBONE</a:t>
            </a:r>
            <a:endParaRPr lang="en-US" sz="1200" dirty="0"/>
          </a:p>
        </p:txBody>
      </p:sp>
      <p:sp>
        <p:nvSpPr>
          <p:cNvPr id="5"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2F59"/>
                </a:solidFill>
                <a:latin typeface="Inter" pitchFamily="34" charset="0"/>
                <a:ea typeface="Inter" pitchFamily="34" charset="-122"/>
                <a:cs typeface="Inter" pitchFamily="34" charset="-120"/>
              </a:rPr>
              <a:t>Labeeb, our super CMS</a:t>
            </a:r>
            <a:endParaRPr lang="en-US" sz="3600" dirty="0"/>
          </a:p>
        </p:txBody>
      </p:sp>
      <p:sp>
        <p:nvSpPr>
          <p:cNvPr id="6" name="Text 2"/>
          <p:cNvSpPr/>
          <p:nvPr/>
        </p:nvSpPr>
        <p:spPr>
          <a:xfrm>
            <a:off x="812800" y="2307301"/>
            <a:ext cx="35318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5667D"/>
                </a:solidFill>
                <a:latin typeface="Inter" pitchFamily="34" charset="0"/>
                <a:ea typeface="Inter" pitchFamily="34" charset="-122"/>
                <a:cs typeface="Inter" pitchFamily="34" charset="-120"/>
              </a:rPr>
              <a:t>BRAND CMSS</a:t>
            </a:r>
            <a:endParaRPr lang="en-US" sz="1200" dirty="0"/>
          </a:p>
        </p:txBody>
      </p:sp>
      <p:sp>
        <p:nvSpPr>
          <p:cNvPr id="7" name="Text 3"/>
          <p:cNvSpPr/>
          <p:nvPr/>
        </p:nvSpPr>
        <p:spPr>
          <a:xfrm>
            <a:off x="815975" y="2599996"/>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Alaraby Aljadeed</a:t>
            </a:r>
            <a:endParaRPr lang="en-US" sz="1200" dirty="0"/>
          </a:p>
        </p:txBody>
      </p:sp>
      <p:sp>
        <p:nvSpPr>
          <p:cNvPr id="8" name="Text 4"/>
          <p:cNvSpPr/>
          <p:nvPr/>
        </p:nvSpPr>
        <p:spPr>
          <a:xfrm>
            <a:off x="2562225" y="2599996"/>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The New Arab</a:t>
            </a:r>
            <a:endParaRPr lang="en-US" sz="1200" dirty="0"/>
          </a:p>
        </p:txBody>
      </p:sp>
      <p:sp>
        <p:nvSpPr>
          <p:cNvPr id="9" name="Text 5"/>
          <p:cNvSpPr/>
          <p:nvPr/>
        </p:nvSpPr>
        <p:spPr>
          <a:xfrm>
            <a:off x="815975" y="3012281"/>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Alaraby TV</a:t>
            </a:r>
            <a:endParaRPr lang="en-US" sz="1200" dirty="0"/>
          </a:p>
        </p:txBody>
      </p:sp>
      <p:sp>
        <p:nvSpPr>
          <p:cNvPr id="10" name="Text 6"/>
          <p:cNvSpPr/>
          <p:nvPr/>
        </p:nvSpPr>
        <p:spPr>
          <a:xfrm>
            <a:off x="2562225" y="3012281"/>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Alaraby TV 2</a:t>
            </a:r>
            <a:endParaRPr lang="en-US" sz="1200" dirty="0"/>
          </a:p>
        </p:txBody>
      </p:sp>
      <p:sp>
        <p:nvSpPr>
          <p:cNvPr id="11" name="Text 7"/>
          <p:cNvSpPr/>
          <p:nvPr/>
        </p:nvSpPr>
        <p:spPr>
          <a:xfrm>
            <a:off x="815975" y="3424569"/>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Alaraby Plus</a:t>
            </a:r>
            <a:endParaRPr lang="en-US" sz="1200" dirty="0"/>
          </a:p>
        </p:txBody>
      </p:sp>
      <p:sp>
        <p:nvSpPr>
          <p:cNvPr id="12" name="Text 8"/>
          <p:cNvSpPr/>
          <p:nvPr/>
        </p:nvSpPr>
        <p:spPr>
          <a:xfrm>
            <a:off x="2562225" y="3424569"/>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Althania TV</a:t>
            </a:r>
            <a:endParaRPr lang="en-US" sz="1200" dirty="0"/>
          </a:p>
        </p:txBody>
      </p:sp>
      <p:sp>
        <p:nvSpPr>
          <p:cNvPr id="13" name="Text 9"/>
          <p:cNvSpPr/>
          <p:nvPr/>
        </p:nvSpPr>
        <p:spPr>
          <a:xfrm>
            <a:off x="815975" y="3836857"/>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Syria TV</a:t>
            </a:r>
            <a:endParaRPr lang="en-US" sz="1200" dirty="0"/>
          </a:p>
        </p:txBody>
      </p:sp>
      <p:sp>
        <p:nvSpPr>
          <p:cNvPr id="14" name="Text 10"/>
          <p:cNvSpPr/>
          <p:nvPr/>
        </p:nvSpPr>
        <p:spPr>
          <a:xfrm>
            <a:off x="2562225" y="3836857"/>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Almodon</a:t>
            </a:r>
            <a:endParaRPr lang="en-US" sz="1200" dirty="0"/>
          </a:p>
        </p:txBody>
      </p:sp>
      <p:sp>
        <p:nvSpPr>
          <p:cNvPr id="15" name="Text 11"/>
          <p:cNvSpPr/>
          <p:nvPr/>
        </p:nvSpPr>
        <p:spPr>
          <a:xfrm>
            <a:off x="815975" y="4249142"/>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WinWin</a:t>
            </a:r>
            <a:endParaRPr lang="en-US" sz="1200" dirty="0"/>
          </a:p>
        </p:txBody>
      </p:sp>
      <p:sp>
        <p:nvSpPr>
          <p:cNvPr id="16" name="Text 12"/>
          <p:cNvSpPr/>
          <p:nvPr/>
        </p:nvSpPr>
        <p:spPr>
          <a:xfrm>
            <a:off x="2562225" y="4249142"/>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Misbar</a:t>
            </a:r>
            <a:endParaRPr lang="en-US" sz="1200" dirty="0"/>
          </a:p>
        </p:txBody>
      </p:sp>
      <p:sp>
        <p:nvSpPr>
          <p:cNvPr id="17" name="Text 13"/>
          <p:cNvSpPr/>
          <p:nvPr/>
        </p:nvSpPr>
        <p:spPr>
          <a:xfrm>
            <a:off x="815975" y="4661430"/>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Ultra Sawt</a:t>
            </a:r>
            <a:endParaRPr lang="en-US" sz="1200" dirty="0"/>
          </a:p>
        </p:txBody>
      </p:sp>
      <p:sp>
        <p:nvSpPr>
          <p:cNvPr id="18" name="Text 14"/>
          <p:cNvSpPr/>
          <p:nvPr/>
        </p:nvSpPr>
        <p:spPr>
          <a:xfrm>
            <a:off x="2562225" y="4661430"/>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algn="l" indent="0" marL="0">
              <a:lnSpc>
                <a:spcPts val="1680"/>
              </a:lnSpc>
              <a:buNone/>
            </a:pPr>
            <a:r>
              <a:rPr lang="en-US" sz="1200" dirty="0">
                <a:solidFill>
                  <a:srgbClr val="002F59"/>
                </a:solidFill>
                <a:latin typeface="Inter" pitchFamily="34" charset="0"/>
                <a:ea typeface="Inter" pitchFamily="34" charset="-122"/>
                <a:cs typeface="Inter" pitchFamily="34" charset="-120"/>
              </a:rPr>
              <a:t>Sehatok</a:t>
            </a:r>
            <a:endParaRPr lang="en-US" sz="1200" dirty="0"/>
          </a:p>
        </p:txBody>
      </p:sp>
      <p:sp>
        <p:nvSpPr>
          <p:cNvPr id="19" name="Text 15"/>
          <p:cNvSpPr/>
          <p:nvPr/>
        </p:nvSpPr>
        <p:spPr>
          <a:xfrm>
            <a:off x="815975" y="5073718"/>
            <a:ext cx="1676400" cy="342437"/>
          </a:xfrm>
          <a:prstGeom prst="roundRect">
            <a:avLst>
              <a:gd name="adj" fmla="val 21325"/>
            </a:avLst>
          </a:prstGeom>
          <a:solidFill>
            <a:srgbClr val="002F59"/>
          </a:solidFill>
          <a:ln w="6350">
            <a:solidFill>
              <a:srgbClr val="002F59"/>
            </a:solidFill>
            <a:prstDash val="solid"/>
          </a:ln>
        </p:spPr>
        <p:txBody>
          <a:bodyPr wrap="square" lIns="68570" tIns="43170" rIns="17770" bIns="17770" rtlCol="0" anchor="t">
            <a:normAutofit/>
          </a:bodyPr>
          <a:lstStyle/>
          <a:p>
            <a:pPr algn="l" indent="0" marL="0">
              <a:lnSpc>
                <a:spcPts val="1680"/>
              </a:lnSpc>
              <a:buNone/>
            </a:pPr>
            <a:r>
              <a:rPr lang="en-US" sz="1200" b="1" dirty="0">
                <a:solidFill>
                  <a:srgbClr val="5DB8F0"/>
                </a:solidFill>
                <a:latin typeface="Inter" pitchFamily="34" charset="0"/>
                <a:ea typeface="Inter" pitchFamily="34" charset="-122"/>
                <a:cs typeface="Inter" pitchFamily="34" charset="-120"/>
              </a:rPr>
              <a:t>+ Others</a:t>
            </a:r>
            <a:endParaRPr lang="en-US" sz="1200" dirty="0"/>
          </a:p>
        </p:txBody>
      </p:sp>
      <p:pic>
        <p:nvPicPr>
          <p:cNvPr id="20" name="Image 2" descr="arrow-right">    </p:cNvPr>
          <p:cNvPicPr>
            <a:picLocks noChangeAspect="1"/>
          </p:cNvPicPr>
          <p:nvPr/>
        </p:nvPicPr>
        <p:blipFill>
          <a:blip r:embed="rId3"/>
          <a:srcRect l="0" r="0" t="0" b="0"/>
          <a:stretch/>
        </p:blipFill>
        <p:spPr>
          <a:xfrm>
            <a:off x="4445000" y="3761715"/>
            <a:ext cx="406400" cy="203200"/>
          </a:xfrm>
          <a:prstGeom prst="rect">
            <a:avLst/>
          </a:prstGeom>
        </p:spPr>
      </p:pic>
      <p:sp>
        <p:nvSpPr>
          <p:cNvPr id="21" name="Shape 16"/>
          <p:cNvSpPr/>
          <p:nvPr/>
        </p:nvSpPr>
        <p:spPr>
          <a:xfrm>
            <a:off x="5054600" y="2790230"/>
            <a:ext cx="1651000" cy="2146168"/>
          </a:xfrm>
          <a:prstGeom prst="roundRect">
            <a:avLst>
              <a:gd name="adj" fmla="val 9231"/>
            </a:avLst>
          </a:prstGeom>
          <a:solidFill>
            <a:srgbClr val="002F59"/>
          </a:solidFill>
          <a:ln/>
        </p:spPr>
      </p:sp>
      <p:pic>
        <p:nvPicPr>
          <p:cNvPr id="22" name="Image 3" descr="Database">    </p:cNvPr>
          <p:cNvPicPr>
            <a:picLocks noChangeAspect="1"/>
          </p:cNvPicPr>
          <p:nvPr/>
        </p:nvPicPr>
        <p:blipFill>
          <a:blip r:embed="rId4"/>
          <a:srcRect l="0" r="0" t="0" b="0"/>
          <a:stretch/>
        </p:blipFill>
        <p:spPr>
          <a:xfrm>
            <a:off x="5676900" y="3044230"/>
            <a:ext cx="406400" cy="406400"/>
          </a:xfrm>
          <a:prstGeom prst="rect">
            <a:avLst/>
          </a:prstGeom>
        </p:spPr>
      </p:pic>
      <p:sp>
        <p:nvSpPr>
          <p:cNvPr id="23" name="Text 17"/>
          <p:cNvSpPr/>
          <p:nvPr/>
        </p:nvSpPr>
        <p:spPr>
          <a:xfrm>
            <a:off x="5222009" y="3552230"/>
            <a:ext cx="1316117" cy="360627"/>
          </a:xfrm>
          <a:prstGeom prst="rect">
            <a:avLst/>
          </a:prstGeom>
          <a:noFill/>
          <a:ln/>
        </p:spPr>
        <p:txBody>
          <a:bodyPr wrap="square" lIns="0" tIns="0" rIns="0" bIns="0" rtlCol="0" anchor="t">
            <a:normAutofit/>
          </a:bodyPr>
          <a:lstStyle/>
          <a:p>
            <a:pPr algn="ctr" indent="0" marL="0">
              <a:lnSpc>
                <a:spcPts val="2640"/>
              </a:lnSpc>
              <a:buNone/>
            </a:pPr>
            <a:r>
              <a:rPr lang="en-US" sz="2400" b="1" dirty="0">
                <a:solidFill>
                  <a:srgbClr val="F4F7FB"/>
                </a:solidFill>
                <a:latin typeface="Inter" pitchFamily="34" charset="0"/>
                <a:ea typeface="Inter" pitchFamily="34" charset="-122"/>
                <a:cs typeface="Inter" pitchFamily="34" charset="-120"/>
              </a:rPr>
              <a:t>Labeeb</a:t>
            </a:r>
            <a:endParaRPr lang="en-US" sz="2400" dirty="0"/>
          </a:p>
        </p:txBody>
      </p:sp>
      <p:sp>
        <p:nvSpPr>
          <p:cNvPr id="24" name="Text 18"/>
          <p:cNvSpPr/>
          <p:nvPr/>
        </p:nvSpPr>
        <p:spPr>
          <a:xfrm>
            <a:off x="5181600" y="3989059"/>
            <a:ext cx="1397000" cy="718741"/>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BCD2E8"/>
                </a:solidFill>
                <a:latin typeface="Inter" pitchFamily="34" charset="0"/>
                <a:ea typeface="Inter" pitchFamily="34" charset="-122"/>
                <a:cs typeface="Inter" pitchFamily="34" charset="-120"/>
              </a:rPr>
              <a:t>One view of every story, in every status</a:t>
            </a:r>
            <a:endParaRPr lang="en-US" sz="1300" dirty="0"/>
          </a:p>
        </p:txBody>
      </p:sp>
      <p:pic>
        <p:nvPicPr>
          <p:cNvPr id="25" name="Image 4" descr="arrow-right">    </p:cNvPr>
          <p:cNvPicPr>
            <a:picLocks noChangeAspect="1"/>
          </p:cNvPicPr>
          <p:nvPr/>
        </p:nvPicPr>
        <p:blipFill>
          <a:blip r:embed="rId5"/>
          <a:srcRect l="0" r="0" t="0" b="0"/>
          <a:stretch/>
        </p:blipFill>
        <p:spPr>
          <a:xfrm>
            <a:off x="6908800" y="3761715"/>
            <a:ext cx="406400" cy="203200"/>
          </a:xfrm>
          <a:prstGeom prst="rect">
            <a:avLst/>
          </a:prstGeom>
        </p:spPr>
      </p:pic>
      <p:sp>
        <p:nvSpPr>
          <p:cNvPr id="26" name="Shape 19"/>
          <p:cNvSpPr/>
          <p:nvPr/>
        </p:nvSpPr>
        <p:spPr>
          <a:xfrm>
            <a:off x="7518400" y="1891243"/>
            <a:ext cx="3860800" cy="604441"/>
          </a:xfrm>
          <a:prstGeom prst="roundRect">
            <a:avLst>
              <a:gd name="adj" fmla="val 8404"/>
            </a:avLst>
          </a:prstGeom>
          <a:solidFill>
            <a:srgbClr val="FCFDFE"/>
          </a:solidFill>
          <a:ln/>
        </p:spPr>
      </p:sp>
      <p:sp>
        <p:nvSpPr>
          <p:cNvPr id="27" name="Shape 20"/>
          <p:cNvSpPr/>
          <p:nvPr/>
        </p:nvSpPr>
        <p:spPr>
          <a:xfrm>
            <a:off x="7518400" y="1891243"/>
            <a:ext cx="3860800" cy="604441"/>
          </a:xfrm>
          <a:custGeom>
            <a:avLst/>
            <a:gdLst/>
            <a:ahLst/>
            <a:cxnLst/>
            <a:rect l="l" t="t" r="r" b="b"/>
            <a:pathLst>
              <a:path w="3860800" h="604441">
                <a:moveTo>
                  <a:pt x="50800" y="604441"/>
                </a:moveTo>
                <a:lnTo>
                  <a:pt x="50800" y="604441"/>
                </a:lnTo>
                <a:arcTo hR="50800" wR="50800" stAng="5400000" swAng="5400000"/>
                <a:lnTo>
                  <a:pt x="0" y="50800"/>
                </a:lnTo>
                <a:arcTo hR="50800" wR="50800" stAng="10800000" swAng="5400000"/>
                <a:lnTo>
                  <a:pt x="50800" y="0"/>
                </a:lnTo>
                <a:arcTo hR="50800" wR="12700" stAng="16200000" swAng="-5400000"/>
                <a:lnTo>
                  <a:pt x="38100" y="553641"/>
                </a:lnTo>
                <a:arcTo hR="50800" wR="12700" stAng="10800000" swAng="-5400000"/>
                <a:close/>
              </a:path>
            </a:pathLst>
          </a:custGeom>
          <a:solidFill>
            <a:srgbClr val="01579B"/>
          </a:solidFill>
          <a:ln/>
        </p:spPr>
      </p:sp>
      <p:sp>
        <p:nvSpPr>
          <p:cNvPr id="28" name="Text 21"/>
          <p:cNvSpPr/>
          <p:nvPr/>
        </p:nvSpPr>
        <p:spPr>
          <a:xfrm>
            <a:off x="7708900" y="1967443"/>
            <a:ext cx="36234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2F59"/>
                </a:solidFill>
                <a:latin typeface="Inter" pitchFamily="34" charset="0"/>
                <a:ea typeface="Inter" pitchFamily="34" charset="-122"/>
                <a:cs typeface="Inter" pitchFamily="34" charset="-120"/>
              </a:rPr>
              <a:t>Unified 360° view</a:t>
            </a:r>
            <a:endParaRPr lang="en-US" sz="1400" dirty="0"/>
          </a:p>
        </p:txBody>
      </p:sp>
      <p:sp>
        <p:nvSpPr>
          <p:cNvPr id="29" name="Text 22"/>
          <p:cNvSpPr/>
          <p:nvPr/>
        </p:nvSpPr>
        <p:spPr>
          <a:xfrm>
            <a:off x="7708900" y="2206163"/>
            <a:ext cx="36234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Every input from every brand</a:t>
            </a:r>
            <a:endParaRPr lang="en-US" sz="1200" dirty="0"/>
          </a:p>
        </p:txBody>
      </p:sp>
      <p:sp>
        <p:nvSpPr>
          <p:cNvPr id="30" name="Shape 23"/>
          <p:cNvSpPr/>
          <p:nvPr/>
        </p:nvSpPr>
        <p:spPr>
          <a:xfrm>
            <a:off x="7518400" y="2559183"/>
            <a:ext cx="3860800" cy="604441"/>
          </a:xfrm>
          <a:prstGeom prst="roundRect">
            <a:avLst>
              <a:gd name="adj" fmla="val 8404"/>
            </a:avLst>
          </a:prstGeom>
          <a:solidFill>
            <a:srgbClr val="FCFDFE"/>
          </a:solidFill>
          <a:ln/>
        </p:spPr>
      </p:sp>
      <p:sp>
        <p:nvSpPr>
          <p:cNvPr id="31" name="Shape 24"/>
          <p:cNvSpPr/>
          <p:nvPr/>
        </p:nvSpPr>
        <p:spPr>
          <a:xfrm>
            <a:off x="7518400" y="2559183"/>
            <a:ext cx="3860800" cy="604441"/>
          </a:xfrm>
          <a:custGeom>
            <a:avLst/>
            <a:gdLst/>
            <a:ahLst/>
            <a:cxnLst/>
            <a:rect l="l" t="t" r="r" b="b"/>
            <a:pathLst>
              <a:path w="3860800" h="604441">
                <a:moveTo>
                  <a:pt x="50800" y="604441"/>
                </a:moveTo>
                <a:lnTo>
                  <a:pt x="50800" y="604441"/>
                </a:lnTo>
                <a:arcTo hR="50800" wR="50800" stAng="5400000" swAng="5400000"/>
                <a:lnTo>
                  <a:pt x="0" y="50800"/>
                </a:lnTo>
                <a:arcTo hR="50800" wR="50800" stAng="10800000" swAng="5400000"/>
                <a:lnTo>
                  <a:pt x="50800" y="0"/>
                </a:lnTo>
                <a:arcTo hR="50800" wR="12700" stAng="16200000" swAng="-5400000"/>
                <a:lnTo>
                  <a:pt x="38100" y="553641"/>
                </a:lnTo>
                <a:arcTo hR="50800" wR="12700" stAng="10800000" swAng="-5400000"/>
                <a:close/>
              </a:path>
            </a:pathLst>
          </a:custGeom>
          <a:solidFill>
            <a:srgbClr val="01579B"/>
          </a:solidFill>
          <a:ln/>
        </p:spPr>
      </p:sp>
      <p:sp>
        <p:nvSpPr>
          <p:cNvPr id="32" name="Text 25"/>
          <p:cNvSpPr/>
          <p:nvPr/>
        </p:nvSpPr>
        <p:spPr>
          <a:xfrm>
            <a:off x="7708900" y="2635383"/>
            <a:ext cx="36234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2F59"/>
                </a:solidFill>
                <a:latin typeface="Inter" pitchFamily="34" charset="0"/>
                <a:ea typeface="Inter" pitchFamily="34" charset="-122"/>
                <a:cs typeface="Inter" pitchFamily="34" charset="-120"/>
              </a:rPr>
              <a:t>Workflow intelligence</a:t>
            </a:r>
            <a:endParaRPr lang="en-US" sz="1400" dirty="0"/>
          </a:p>
        </p:txBody>
      </p:sp>
      <p:sp>
        <p:nvSpPr>
          <p:cNvPr id="33" name="Text 26"/>
          <p:cNvSpPr/>
          <p:nvPr/>
        </p:nvSpPr>
        <p:spPr>
          <a:xfrm>
            <a:off x="7708900" y="2874104"/>
            <a:ext cx="36234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Status, bottlenecks, productivity</a:t>
            </a:r>
            <a:endParaRPr lang="en-US" sz="1200" dirty="0"/>
          </a:p>
        </p:txBody>
      </p:sp>
      <p:sp>
        <p:nvSpPr>
          <p:cNvPr id="34" name="Shape 27"/>
          <p:cNvSpPr/>
          <p:nvPr/>
        </p:nvSpPr>
        <p:spPr>
          <a:xfrm>
            <a:off x="7518400" y="3227124"/>
            <a:ext cx="3860800" cy="604441"/>
          </a:xfrm>
          <a:prstGeom prst="roundRect">
            <a:avLst>
              <a:gd name="adj" fmla="val 8404"/>
            </a:avLst>
          </a:prstGeom>
          <a:solidFill>
            <a:srgbClr val="FCFDFE"/>
          </a:solidFill>
          <a:ln/>
        </p:spPr>
      </p:sp>
      <p:sp>
        <p:nvSpPr>
          <p:cNvPr id="35" name="Shape 28"/>
          <p:cNvSpPr/>
          <p:nvPr/>
        </p:nvSpPr>
        <p:spPr>
          <a:xfrm>
            <a:off x="7518400" y="3227124"/>
            <a:ext cx="3860800" cy="604441"/>
          </a:xfrm>
          <a:custGeom>
            <a:avLst/>
            <a:gdLst/>
            <a:ahLst/>
            <a:cxnLst/>
            <a:rect l="l" t="t" r="r" b="b"/>
            <a:pathLst>
              <a:path w="3860800" h="604441">
                <a:moveTo>
                  <a:pt x="50800" y="604441"/>
                </a:moveTo>
                <a:lnTo>
                  <a:pt x="50800" y="604441"/>
                </a:lnTo>
                <a:arcTo hR="50800" wR="50800" stAng="5400000" swAng="5400000"/>
                <a:lnTo>
                  <a:pt x="0" y="50800"/>
                </a:lnTo>
                <a:arcTo hR="50800" wR="50800" stAng="10800000" swAng="5400000"/>
                <a:lnTo>
                  <a:pt x="50800" y="0"/>
                </a:lnTo>
                <a:arcTo hR="50800" wR="12700" stAng="16200000" swAng="-5400000"/>
                <a:lnTo>
                  <a:pt x="38100" y="553641"/>
                </a:lnTo>
                <a:arcTo hR="50800" wR="12700" stAng="10800000" swAng="-5400000"/>
                <a:close/>
              </a:path>
            </a:pathLst>
          </a:custGeom>
          <a:solidFill>
            <a:srgbClr val="01579B"/>
          </a:solidFill>
          <a:ln/>
        </p:spPr>
      </p:sp>
      <p:sp>
        <p:nvSpPr>
          <p:cNvPr id="36" name="Text 29"/>
          <p:cNvSpPr/>
          <p:nvPr/>
        </p:nvSpPr>
        <p:spPr>
          <a:xfrm>
            <a:off x="7708900" y="3303324"/>
            <a:ext cx="36234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2F59"/>
                </a:solidFill>
                <a:latin typeface="Inter" pitchFamily="34" charset="0"/>
                <a:ea typeface="Inter" pitchFamily="34" charset="-122"/>
                <a:cs typeface="Inter" pitchFamily="34" charset="-120"/>
              </a:rPr>
              <a:t>Coverage gap analysis</a:t>
            </a:r>
            <a:endParaRPr lang="en-US" sz="1400" dirty="0"/>
          </a:p>
        </p:txBody>
      </p:sp>
      <p:sp>
        <p:nvSpPr>
          <p:cNvPr id="37" name="Text 30"/>
          <p:cNvSpPr/>
          <p:nvPr/>
        </p:nvSpPr>
        <p:spPr>
          <a:xfrm>
            <a:off x="7708900" y="3542044"/>
            <a:ext cx="36234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Vs. trends and competitors</a:t>
            </a:r>
            <a:endParaRPr lang="en-US" sz="1200" dirty="0"/>
          </a:p>
        </p:txBody>
      </p:sp>
      <p:sp>
        <p:nvSpPr>
          <p:cNvPr id="38" name="Shape 31"/>
          <p:cNvSpPr/>
          <p:nvPr/>
        </p:nvSpPr>
        <p:spPr>
          <a:xfrm>
            <a:off x="7518400" y="3895065"/>
            <a:ext cx="3860800" cy="604441"/>
          </a:xfrm>
          <a:prstGeom prst="roundRect">
            <a:avLst>
              <a:gd name="adj" fmla="val 8404"/>
            </a:avLst>
          </a:prstGeom>
          <a:solidFill>
            <a:srgbClr val="FCFDFE"/>
          </a:solidFill>
          <a:ln/>
        </p:spPr>
      </p:sp>
      <p:sp>
        <p:nvSpPr>
          <p:cNvPr id="39" name="Shape 32"/>
          <p:cNvSpPr/>
          <p:nvPr/>
        </p:nvSpPr>
        <p:spPr>
          <a:xfrm>
            <a:off x="7518400" y="3895065"/>
            <a:ext cx="3860800" cy="604441"/>
          </a:xfrm>
          <a:custGeom>
            <a:avLst/>
            <a:gdLst/>
            <a:ahLst/>
            <a:cxnLst/>
            <a:rect l="l" t="t" r="r" b="b"/>
            <a:pathLst>
              <a:path w="3860800" h="604441">
                <a:moveTo>
                  <a:pt x="50800" y="604441"/>
                </a:moveTo>
                <a:lnTo>
                  <a:pt x="50800" y="604441"/>
                </a:lnTo>
                <a:arcTo hR="50800" wR="50800" stAng="5400000" swAng="5400000"/>
                <a:lnTo>
                  <a:pt x="0" y="50800"/>
                </a:lnTo>
                <a:arcTo hR="50800" wR="50800" stAng="10800000" swAng="5400000"/>
                <a:lnTo>
                  <a:pt x="50800" y="0"/>
                </a:lnTo>
                <a:arcTo hR="50800" wR="12700" stAng="16200000" swAng="-5400000"/>
                <a:lnTo>
                  <a:pt x="38100" y="553641"/>
                </a:lnTo>
                <a:arcTo hR="50800" wR="12700" stAng="10800000" swAng="-5400000"/>
                <a:close/>
              </a:path>
            </a:pathLst>
          </a:custGeom>
          <a:solidFill>
            <a:srgbClr val="01579B"/>
          </a:solidFill>
          <a:ln/>
        </p:spPr>
      </p:sp>
      <p:sp>
        <p:nvSpPr>
          <p:cNvPr id="40" name="Text 33"/>
          <p:cNvSpPr/>
          <p:nvPr/>
        </p:nvSpPr>
        <p:spPr>
          <a:xfrm>
            <a:off x="7708900" y="3971265"/>
            <a:ext cx="36234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2F59"/>
                </a:solidFill>
                <a:latin typeface="Inter" pitchFamily="34" charset="0"/>
                <a:ea typeface="Inter" pitchFamily="34" charset="-122"/>
                <a:cs typeface="Inter" pitchFamily="34" charset="-120"/>
              </a:rPr>
              <a:t>AI drafting</a:t>
            </a:r>
            <a:endParaRPr lang="en-US" sz="1400" dirty="0"/>
          </a:p>
        </p:txBody>
      </p:sp>
      <p:sp>
        <p:nvSpPr>
          <p:cNvPr id="41" name="Text 34"/>
          <p:cNvSpPr/>
          <p:nvPr/>
        </p:nvSpPr>
        <p:spPr>
          <a:xfrm>
            <a:off x="7708900" y="4209985"/>
            <a:ext cx="36234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Suggested drafts for each gap</a:t>
            </a:r>
            <a:endParaRPr lang="en-US" sz="1200" dirty="0"/>
          </a:p>
        </p:txBody>
      </p:sp>
      <p:sp>
        <p:nvSpPr>
          <p:cNvPr id="42" name="Shape 35"/>
          <p:cNvSpPr/>
          <p:nvPr/>
        </p:nvSpPr>
        <p:spPr>
          <a:xfrm>
            <a:off x="7518400" y="4563005"/>
            <a:ext cx="3860800" cy="604441"/>
          </a:xfrm>
          <a:prstGeom prst="roundRect">
            <a:avLst>
              <a:gd name="adj" fmla="val 8404"/>
            </a:avLst>
          </a:prstGeom>
          <a:solidFill>
            <a:srgbClr val="FCFDFE"/>
          </a:solidFill>
          <a:ln/>
        </p:spPr>
      </p:sp>
      <p:sp>
        <p:nvSpPr>
          <p:cNvPr id="43" name="Shape 36"/>
          <p:cNvSpPr/>
          <p:nvPr/>
        </p:nvSpPr>
        <p:spPr>
          <a:xfrm>
            <a:off x="7518400" y="4563005"/>
            <a:ext cx="3860800" cy="604441"/>
          </a:xfrm>
          <a:custGeom>
            <a:avLst/>
            <a:gdLst/>
            <a:ahLst/>
            <a:cxnLst/>
            <a:rect l="l" t="t" r="r" b="b"/>
            <a:pathLst>
              <a:path w="3860800" h="604441">
                <a:moveTo>
                  <a:pt x="50800" y="604441"/>
                </a:moveTo>
                <a:lnTo>
                  <a:pt x="50800" y="604441"/>
                </a:lnTo>
                <a:arcTo hR="50800" wR="50800" stAng="5400000" swAng="5400000"/>
                <a:lnTo>
                  <a:pt x="0" y="50800"/>
                </a:lnTo>
                <a:arcTo hR="50800" wR="50800" stAng="10800000" swAng="5400000"/>
                <a:lnTo>
                  <a:pt x="50800" y="0"/>
                </a:lnTo>
                <a:arcTo hR="50800" wR="12700" stAng="16200000" swAng="-5400000"/>
                <a:lnTo>
                  <a:pt x="38100" y="553641"/>
                </a:lnTo>
                <a:arcTo hR="50800" wR="12700" stAng="10800000" swAng="-5400000"/>
                <a:close/>
              </a:path>
            </a:pathLst>
          </a:custGeom>
          <a:solidFill>
            <a:srgbClr val="01579B"/>
          </a:solidFill>
          <a:ln/>
        </p:spPr>
      </p:sp>
      <p:sp>
        <p:nvSpPr>
          <p:cNvPr id="44" name="Text 37"/>
          <p:cNvSpPr/>
          <p:nvPr/>
        </p:nvSpPr>
        <p:spPr>
          <a:xfrm>
            <a:off x="7708900" y="4639205"/>
            <a:ext cx="36234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2F59"/>
                </a:solidFill>
                <a:latin typeface="Inter" pitchFamily="34" charset="0"/>
                <a:ea typeface="Inter" pitchFamily="34" charset="-122"/>
                <a:cs typeface="Inter" pitchFamily="34" charset="-120"/>
              </a:rPr>
              <a:t>Performance analytics</a:t>
            </a:r>
            <a:endParaRPr lang="en-US" sz="1400" dirty="0"/>
          </a:p>
        </p:txBody>
      </p:sp>
      <p:sp>
        <p:nvSpPr>
          <p:cNvPr id="45" name="Text 38"/>
          <p:cNvSpPr/>
          <p:nvPr/>
        </p:nvSpPr>
        <p:spPr>
          <a:xfrm>
            <a:off x="7708900" y="4877926"/>
            <a:ext cx="36234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Top articles, authors and topics</a:t>
            </a:r>
            <a:endParaRPr lang="en-US" sz="1200" dirty="0"/>
          </a:p>
        </p:txBody>
      </p:sp>
      <p:sp>
        <p:nvSpPr>
          <p:cNvPr id="46" name="Shape 39"/>
          <p:cNvSpPr/>
          <p:nvPr/>
        </p:nvSpPr>
        <p:spPr>
          <a:xfrm>
            <a:off x="7518400" y="5230946"/>
            <a:ext cx="3860800" cy="604441"/>
          </a:xfrm>
          <a:prstGeom prst="roundRect">
            <a:avLst>
              <a:gd name="adj" fmla="val 8404"/>
            </a:avLst>
          </a:prstGeom>
          <a:solidFill>
            <a:srgbClr val="FCFDFE"/>
          </a:solidFill>
          <a:ln/>
        </p:spPr>
      </p:sp>
      <p:sp>
        <p:nvSpPr>
          <p:cNvPr id="47" name="Shape 40"/>
          <p:cNvSpPr/>
          <p:nvPr/>
        </p:nvSpPr>
        <p:spPr>
          <a:xfrm>
            <a:off x="7518400" y="5230946"/>
            <a:ext cx="3860800" cy="604441"/>
          </a:xfrm>
          <a:custGeom>
            <a:avLst/>
            <a:gdLst/>
            <a:ahLst/>
            <a:cxnLst/>
            <a:rect l="l" t="t" r="r" b="b"/>
            <a:pathLst>
              <a:path w="3860800" h="604441">
                <a:moveTo>
                  <a:pt x="50800" y="604441"/>
                </a:moveTo>
                <a:lnTo>
                  <a:pt x="50800" y="604441"/>
                </a:lnTo>
                <a:arcTo hR="50800" wR="50800" stAng="5400000" swAng="5400000"/>
                <a:lnTo>
                  <a:pt x="0" y="50800"/>
                </a:lnTo>
                <a:arcTo hR="50800" wR="50800" stAng="10800000" swAng="5400000"/>
                <a:lnTo>
                  <a:pt x="50800" y="0"/>
                </a:lnTo>
                <a:arcTo hR="50800" wR="12700" stAng="16200000" swAng="-5400000"/>
                <a:lnTo>
                  <a:pt x="38100" y="553641"/>
                </a:lnTo>
                <a:arcTo hR="50800" wR="12700" stAng="10800000" swAng="-5400000"/>
                <a:close/>
              </a:path>
            </a:pathLst>
          </a:custGeom>
          <a:solidFill>
            <a:srgbClr val="01579B"/>
          </a:solidFill>
          <a:ln/>
        </p:spPr>
      </p:sp>
      <p:sp>
        <p:nvSpPr>
          <p:cNvPr id="48" name="Text 41"/>
          <p:cNvSpPr/>
          <p:nvPr/>
        </p:nvSpPr>
        <p:spPr>
          <a:xfrm>
            <a:off x="7708900" y="5307146"/>
            <a:ext cx="36234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2F59"/>
                </a:solidFill>
                <a:latin typeface="Inter" pitchFamily="34" charset="0"/>
                <a:ea typeface="Inter" pitchFamily="34" charset="-122"/>
                <a:cs typeface="Inter" pitchFamily="34" charset="-120"/>
              </a:rPr>
              <a:t>Content enrichment</a:t>
            </a:r>
            <a:endParaRPr lang="en-US" sz="1400" dirty="0"/>
          </a:p>
        </p:txBody>
      </p:sp>
      <p:sp>
        <p:nvSpPr>
          <p:cNvPr id="49" name="Text 42"/>
          <p:cNvSpPr/>
          <p:nvPr/>
        </p:nvSpPr>
        <p:spPr>
          <a:xfrm>
            <a:off x="7708900" y="5545866"/>
            <a:ext cx="36234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Audio, summaries, podcast, translation</a:t>
            </a:r>
            <a:endParaRPr lang="en-US" sz="1200" dirty="0"/>
          </a:p>
        </p:txBody>
      </p:sp>
      <p:sp>
        <p:nvSpPr>
          <p:cNvPr id="50" name="Text 43"/>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51" name="Text 44"/>
          <p:cNvSpPr/>
          <p:nvPr/>
        </p:nvSpPr>
        <p:spPr>
          <a:xfrm>
            <a:off x="11137702" y="6230609"/>
            <a:ext cx="24149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1579B"/>
                </a:solidFill>
                <a:latin typeface="Inter" pitchFamily="34" charset="0"/>
                <a:ea typeface="Inter" pitchFamily="34" charset="-122"/>
                <a:cs typeface="Inter" pitchFamily="34" charset="-120"/>
              </a:rPr>
              <a:t>01 DISCOVER</a:t>
            </a:r>
            <a:r>
              <a:rPr lang="en-US" sz="1200" spc="100" kern="0" dirty="0">
                <a:solidFill>
                  <a:srgbClr val="55667D"/>
                </a:solidFill>
                <a:latin typeface="Inter" pitchFamily="34" charset="0"/>
                <a:ea typeface="Inter" pitchFamily="34" charset="-122"/>
                <a:cs typeface="Inter" pitchFamily="34" charset="-120"/>
              </a:rPr>
              <a:t> · 02 DRAFT · 03 REVIEW · 04 PUBLISH · 05 ENRICH · 06 MEASURE</a:t>
            </a:r>
            <a:endParaRPr lang="en-US" sz="1200" dirty="0"/>
          </a:p>
        </p:txBody>
      </p:sp>
      <p:sp>
        <p:nvSpPr>
          <p:cNvPr id="5" name="Text 1"/>
          <p:cNvSpPr/>
          <p:nvPr>
            <p:ph type="title"/>
          </p:nvPr>
        </p:nvSpPr>
        <p:spPr>
          <a:xfrm>
            <a:off x="812800" y="1901627"/>
            <a:ext cx="5284724" cy="935699"/>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02F59"/>
                </a:solidFill>
                <a:latin typeface="Inter" pitchFamily="34" charset="0"/>
                <a:ea typeface="Inter" pitchFamily="34" charset="-122"/>
                <a:cs typeface="Inter" pitchFamily="34" charset="-120"/>
              </a:rPr>
              <a:t>Find the stories we’re missing</a:t>
            </a:r>
            <a:endParaRPr lang="en-US" sz="3200" dirty="0"/>
          </a:p>
        </p:txBody>
      </p:sp>
      <p:sp>
        <p:nvSpPr>
          <p:cNvPr id="6" name="Text 2"/>
          <p:cNvSpPr/>
          <p:nvPr/>
        </p:nvSpPr>
        <p:spPr>
          <a:xfrm>
            <a:off x="812800" y="3015128"/>
            <a:ext cx="5284724"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2536A"/>
                </a:solidFill>
                <a:latin typeface="Inter" pitchFamily="34" charset="0"/>
                <a:ea typeface="Inter" pitchFamily="34" charset="-122"/>
                <a:cs typeface="Inter" pitchFamily="34" charset="-120"/>
              </a:rPr>
              <a:t>Labeeb continuously compares what our media  brands publish with what audiences are searching for — and with what competitors are covering.</a:t>
            </a:r>
            <a:endParaRPr lang="en-US" sz="1500" dirty="0"/>
          </a:p>
        </p:txBody>
      </p:sp>
      <p:pic>
        <p:nvPicPr>
          <p:cNvPr id="7" name="Image 2" descr="CheckCircle">    </p:cNvPr>
          <p:cNvPicPr>
            <a:picLocks noChangeAspect="1"/>
          </p:cNvPicPr>
          <p:nvPr/>
        </p:nvPicPr>
        <p:blipFill>
          <a:blip r:embed="rId3"/>
          <a:srcRect l="0" r="0" t="0" b="0"/>
          <a:stretch/>
        </p:blipFill>
        <p:spPr>
          <a:xfrm>
            <a:off x="812800" y="4047003"/>
            <a:ext cx="203200" cy="203200"/>
          </a:xfrm>
          <a:prstGeom prst="rect">
            <a:avLst/>
          </a:prstGeom>
        </p:spPr>
      </p:pic>
      <p:sp>
        <p:nvSpPr>
          <p:cNvPr id="8" name="Text 3"/>
          <p:cNvSpPr/>
          <p:nvPr/>
        </p:nvSpPr>
        <p:spPr>
          <a:xfrm>
            <a:off x="1117600" y="4047003"/>
            <a:ext cx="497078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Our coverage measured against trending keywords and topics</a:t>
            </a:r>
            <a:endParaRPr lang="en-US" sz="1400" dirty="0"/>
          </a:p>
        </p:txBody>
      </p:sp>
      <p:pic>
        <p:nvPicPr>
          <p:cNvPr id="9" name="Image 3" descr="CheckCircle">    </p:cNvPr>
          <p:cNvPicPr>
            <a:picLocks noChangeAspect="1"/>
          </p:cNvPicPr>
          <p:nvPr/>
        </p:nvPicPr>
        <p:blipFill>
          <a:blip r:embed="rId4"/>
          <a:srcRect l="0" r="0" t="0" b="0"/>
          <a:stretch/>
        </p:blipFill>
        <p:spPr>
          <a:xfrm>
            <a:off x="812800" y="4659114"/>
            <a:ext cx="203200" cy="203200"/>
          </a:xfrm>
          <a:prstGeom prst="rect">
            <a:avLst/>
          </a:prstGeom>
        </p:spPr>
      </p:pic>
      <p:sp>
        <p:nvSpPr>
          <p:cNvPr id="10" name="Text 4"/>
          <p:cNvSpPr/>
          <p:nvPr/>
        </p:nvSpPr>
        <p:spPr>
          <a:xfrm>
            <a:off x="1117600" y="4659114"/>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Competitor gap analysis, topic by topic</a:t>
            </a:r>
            <a:endParaRPr lang="en-US" sz="1400" dirty="0"/>
          </a:p>
        </p:txBody>
      </p:sp>
      <p:pic>
        <p:nvPicPr>
          <p:cNvPr id="11" name="Image 4" descr="CheckCircle">    </p:cNvPr>
          <p:cNvPicPr>
            <a:picLocks noChangeAspect="1"/>
          </p:cNvPicPr>
          <p:nvPr/>
        </p:nvPicPr>
        <p:blipFill>
          <a:blip r:embed="rId5"/>
          <a:srcRect l="0" r="0" t="0" b="0"/>
          <a:stretch/>
        </p:blipFill>
        <p:spPr>
          <a:xfrm>
            <a:off x="812800" y="5022323"/>
            <a:ext cx="203200" cy="203200"/>
          </a:xfrm>
          <a:prstGeom prst="rect">
            <a:avLst/>
          </a:prstGeom>
        </p:spPr>
      </p:pic>
      <p:sp>
        <p:nvSpPr>
          <p:cNvPr id="12" name="Text 5"/>
          <p:cNvSpPr/>
          <p:nvPr/>
        </p:nvSpPr>
        <p:spPr>
          <a:xfrm>
            <a:off x="1117600" y="5022323"/>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Gaps surfaced per brand, ready for editors to act on</a:t>
            </a:r>
            <a:endParaRPr lang="en-US" sz="1400" dirty="0"/>
          </a:p>
        </p:txBody>
      </p:sp>
      <p:sp>
        <p:nvSpPr>
          <p:cNvPr id="13" name="Shape 6"/>
          <p:cNvSpPr/>
          <p:nvPr/>
        </p:nvSpPr>
        <p:spPr>
          <a:xfrm>
            <a:off x="6553200" y="1869548"/>
            <a:ext cx="4826000" cy="3433763"/>
          </a:xfrm>
          <a:prstGeom prst="roundRect">
            <a:avLst>
              <a:gd name="adj" fmla="val 4438"/>
            </a:avLst>
          </a:prstGeom>
          <a:solidFill>
            <a:srgbClr val="002F59"/>
          </a:solidFill>
          <a:ln/>
        </p:spPr>
      </p:sp>
      <p:sp>
        <p:nvSpPr>
          <p:cNvPr id="14" name="Text 7"/>
          <p:cNvSpPr/>
          <p:nvPr/>
        </p:nvSpPr>
        <p:spPr>
          <a:xfrm>
            <a:off x="6807200" y="2146368"/>
            <a:ext cx="264223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Coverage gaps · today</a:t>
            </a:r>
            <a:endParaRPr lang="en-US" sz="1600" dirty="0"/>
          </a:p>
        </p:txBody>
      </p:sp>
      <p:sp>
        <p:nvSpPr>
          <p:cNvPr id="15" name="Text 8"/>
          <p:cNvSpPr/>
          <p:nvPr/>
        </p:nvSpPr>
        <p:spPr>
          <a:xfrm>
            <a:off x="10401565" y="2123548"/>
            <a:ext cx="723635" cy="289520"/>
          </a:xfrm>
          <a:custGeom>
            <a:avLst/>
            <a:gdLst/>
            <a:ahLst/>
            <a:cxnLst/>
            <a:rect l="l" t="t" r="r" b="b"/>
            <a:pathLst>
              <a:path w="723635" h="289520">
                <a:moveTo>
                  <a:pt x="144760" y="0"/>
                </a:moveTo>
                <a:lnTo>
                  <a:pt x="578875" y="0"/>
                </a:lnTo>
                <a:arcTo hR="144760" wR="144760" stAng="16200000" swAng="5400000"/>
                <a:lnTo>
                  <a:pt x="723635" y="144760"/>
                </a:lnTo>
                <a:arcTo hR="144760" wR="144760" stAng="0" swAng="5400000"/>
                <a:lnTo>
                  <a:pt x="144760" y="289520"/>
                </a:lnTo>
                <a:arcTo hR="144760" wR="144760" stAng="5400000" swAng="5400000"/>
                <a:lnTo>
                  <a:pt x="0" y="144760"/>
                </a:lnTo>
                <a:arcTo hR="144760" wR="144760" stAng="10800000" swAng="5400000"/>
                <a:close/>
              </a:path>
            </a:pathLst>
          </a:custGeom>
          <a:solidFill>
            <a:srgbClr val="5DB8F0"/>
          </a:solidFill>
          <a:ln/>
        </p:spPr>
        <p:txBody>
          <a:bodyPr wrap="none" lIns="0" tIns="0" rIns="0" bIns="0" rtlCol="0" anchor="ctr">
            <a:normAutofit/>
          </a:bodyPr>
          <a:lstStyle/>
          <a:p>
            <a:pPr algn="ctr" indent="0" marL="0">
              <a:lnSpc>
                <a:spcPts val="1680"/>
              </a:lnSpc>
              <a:buNone/>
            </a:pPr>
            <a:r>
              <a:rPr lang="en-US" sz="1200" b="1" dirty="0">
                <a:solidFill>
                  <a:srgbClr val="002F59"/>
                </a:solidFill>
                <a:latin typeface="Inter" pitchFamily="34" charset="0"/>
                <a:ea typeface="Inter" pitchFamily="34" charset="-122"/>
                <a:cs typeface="Inter" pitchFamily="34" charset="-120"/>
              </a:rPr>
              <a:t>2 gaps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19900" y="2578168"/>
          <a:ext cx="4305300" cy="1892102"/>
        </p:xfrm>
        <a:graphic>
          <a:graphicData uri="http://schemas.openxmlformats.org/drawingml/2006/table">
            <a:tbl>
              <a:tblPr/>
              <a:tblGrid>
                <a:gridCol w="1205484"/>
                <a:gridCol w="774954"/>
                <a:gridCol w="774954"/>
                <a:gridCol w="602742"/>
                <a:gridCol w="947166"/>
              </a:tblGrid>
              <a:tr h="378420">
                <a:tc>
                  <a:txBody>
                    <a:bodyPr/>
                    <a:lstStyle/>
                    <a:p>
                      <a:pPr indent="0" marL="0">
                        <a:lnSpc>
                          <a:spcPts val="1680"/>
                        </a:lnSpc>
                        <a:buNone/>
                      </a:pPr>
                      <a:r>
                        <a:rPr lang="en-US" sz="1200" b="1" dirty="0">
                          <a:solidFill>
                            <a:srgbClr val="8DB0D2"/>
                          </a:solidFill>
                          <a:latin typeface="Inter" pitchFamily="34" charset="0"/>
                          <a:ea typeface="Inter" pitchFamily="34" charset="-122"/>
                          <a:cs typeface="Inter" pitchFamily="34" charset="-120"/>
                        </a:rPr>
                        <a:t>Topic</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62845"/>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62845"/>
                      </a:solidFill>
                      <a:prstDash val="solid"/>
                      <a:round/>
                      <a:headEnd type="none" w="med" len="med"/>
                      <a:tailEnd type="none" w="med" len="med"/>
                    </a:lnB>
                    <a:solidFill>
                      <a:srgbClr val="022D53"/>
                    </a:solidFill>
                  </a:tcPr>
                </a:tc>
                <a:tc>
                  <a:txBody>
                    <a:bodyPr/>
                    <a:lstStyle/>
                    <a:p>
                      <a:pPr indent="0" marL="0">
                        <a:lnSpc>
                          <a:spcPts val="1680"/>
                        </a:lnSpc>
                        <a:buNone/>
                      </a:pPr>
                      <a:r>
                        <a:rPr lang="en-US" sz="1200" b="1" dirty="0">
                          <a:solidFill>
                            <a:srgbClr val="8DB0D2"/>
                          </a:solidFill>
                          <a:latin typeface="Inter" pitchFamily="34" charset="0"/>
                          <a:ea typeface="Inter" pitchFamily="34" charset="-122"/>
                          <a:cs typeface="Inter" pitchFamily="34" charset="-120"/>
                        </a:rPr>
                        <a:t>Trend</a:t>
                      </a:r>
                      <a:endParaRPr lang="en-US" sz="1200" dirty="0">
                        <a:latin typeface="Inter" charset="0"/>
                        <a:ea typeface="Inter" charset="0"/>
                        <a:cs typeface="Inter" charset="0"/>
                      </a:endParaRPr>
                    </a:p>
                  </a:txBody>
                  <a:tcPr marL="76200" marR="76200" marT="76200" marB="76200" anchor="t">
                    <a:lnL w="12700" cap="flat" cmpd="sng" algn="ctr">
                      <a:solidFill>
                        <a:srgbClr val="062845"/>
                      </a:solidFill>
                      <a:prstDash val="solid"/>
                      <a:round/>
                      <a:headEnd type="none" w="med" len="med"/>
                      <a:tailEnd type="none" w="med" len="med"/>
                    </a:lnL>
                    <a:lnR w="12700" cap="flat" cmpd="sng" algn="ctr">
                      <a:solidFill>
                        <a:srgbClr val="062845"/>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62845"/>
                      </a:solidFill>
                      <a:prstDash val="solid"/>
                      <a:round/>
                      <a:headEnd type="none" w="med" len="med"/>
                      <a:tailEnd type="none" w="med" len="med"/>
                    </a:lnB>
                    <a:solidFill>
                      <a:srgbClr val="022D53"/>
                    </a:solidFill>
                  </a:tcPr>
                </a:tc>
                <a:tc>
                  <a:txBody>
                    <a:bodyPr/>
                    <a:lstStyle/>
                    <a:p>
                      <a:pPr indent="0" marL="0">
                        <a:lnSpc>
                          <a:spcPts val="1680"/>
                        </a:lnSpc>
                        <a:buNone/>
                      </a:pPr>
                      <a:r>
                        <a:rPr lang="en-US" sz="1200" b="1" dirty="0">
                          <a:solidFill>
                            <a:srgbClr val="8DB0D2"/>
                          </a:solidFill>
                          <a:latin typeface="Inter" pitchFamily="34" charset="0"/>
                          <a:ea typeface="Inter" pitchFamily="34" charset="-122"/>
                          <a:cs typeface="Inter" pitchFamily="34" charset="-120"/>
                        </a:rPr>
                        <a:t>Rivals</a:t>
                      </a:r>
                      <a:endParaRPr lang="en-US" sz="1200" dirty="0">
                        <a:latin typeface="Inter" charset="0"/>
                        <a:ea typeface="Inter" charset="0"/>
                        <a:cs typeface="Inter" charset="0"/>
                      </a:endParaRPr>
                    </a:p>
                  </a:txBody>
                  <a:tcPr marL="76200" marR="76200" marT="76200" marB="76200" anchor="t">
                    <a:lnL w="12700" cap="flat" cmpd="sng" algn="ctr">
                      <a:solidFill>
                        <a:srgbClr val="062845"/>
                      </a:solidFill>
                      <a:prstDash val="solid"/>
                      <a:round/>
                      <a:headEnd type="none" w="med" len="med"/>
                      <a:tailEnd type="none" w="med" len="med"/>
                    </a:lnL>
                    <a:lnR w="12700" cap="flat" cmpd="sng" algn="ctr">
                      <a:solidFill>
                        <a:srgbClr val="062845"/>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62845"/>
                      </a:solidFill>
                      <a:prstDash val="solid"/>
                      <a:round/>
                      <a:headEnd type="none" w="med" len="med"/>
                      <a:tailEnd type="none" w="med" len="med"/>
                    </a:lnB>
                    <a:solidFill>
                      <a:srgbClr val="022D53"/>
                    </a:solidFill>
                  </a:tcPr>
                </a:tc>
                <a:tc>
                  <a:txBody>
                    <a:bodyPr/>
                    <a:lstStyle/>
                    <a:p>
                      <a:pPr indent="0" marL="0">
                        <a:lnSpc>
                          <a:spcPts val="1680"/>
                        </a:lnSpc>
                        <a:buNone/>
                      </a:pPr>
                      <a:r>
                        <a:rPr lang="en-US" sz="1200" b="1" dirty="0">
                          <a:solidFill>
                            <a:srgbClr val="8DB0D2"/>
                          </a:solidFill>
                          <a:latin typeface="Inter" pitchFamily="34" charset="0"/>
                          <a:ea typeface="Inter" pitchFamily="34" charset="-122"/>
                          <a:cs typeface="Inter" pitchFamily="34" charset="-120"/>
                        </a:rPr>
                        <a:t>Us</a:t>
                      </a:r>
                      <a:endParaRPr lang="en-US" sz="1200" dirty="0">
                        <a:latin typeface="Inter" charset="0"/>
                        <a:ea typeface="Inter" charset="0"/>
                        <a:cs typeface="Inter" charset="0"/>
                      </a:endParaRPr>
                    </a:p>
                  </a:txBody>
                  <a:tcPr marL="76200" marR="76200" marT="76200" marB="76200" anchor="t">
                    <a:lnL w="12700" cap="flat" cmpd="sng" algn="ctr">
                      <a:solidFill>
                        <a:srgbClr val="062845"/>
                      </a:solidFill>
                      <a:prstDash val="solid"/>
                      <a:round/>
                      <a:headEnd type="none" w="med" len="med"/>
                      <a:tailEnd type="none" w="med" len="med"/>
                    </a:lnL>
                    <a:lnR w="12700" cap="flat" cmpd="sng" algn="ctr">
                      <a:solidFill>
                        <a:srgbClr val="062845"/>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62845"/>
                      </a:solidFill>
                      <a:prstDash val="solid"/>
                      <a:round/>
                      <a:headEnd type="none" w="med" len="med"/>
                      <a:tailEnd type="none" w="med" len="med"/>
                    </a:lnB>
                    <a:solidFill>
                      <a:srgbClr val="022D53"/>
                    </a:solidFill>
                  </a:tcPr>
                </a:tc>
                <a:tc>
                  <a:txBody>
                    <a:bodyPr/>
                    <a:lstStyle/>
                    <a:p>
                      <a:pPr indent="0" marL="0">
                        <a:lnSpc>
                          <a:spcPts val="1680"/>
                        </a:lnSpc>
                        <a:buNone/>
                      </a:pPr>
                      <a:r>
                        <a:rPr lang="en-US" sz="1200" b="1" dirty="0">
                          <a:solidFill>
                            <a:srgbClr val="8DB0D2"/>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76200" marB="76200" anchor="t">
                    <a:lnL w="12700" cap="flat" cmpd="sng" algn="ctr">
                      <a:solidFill>
                        <a:srgbClr val="062845"/>
                      </a:solidFill>
                      <a:prstDash val="solid"/>
                      <a:round/>
                      <a:headEnd type="none" w="med" len="med"/>
                      <a:tailEnd type="none" w="med" len="med"/>
                    </a:lnL>
                    <a:lnR w="12700" cap="flat" cmpd="sng" algn="ctr">
                      <a:solidFill>
                        <a:srgbClr val="062845"/>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62845"/>
                      </a:solidFill>
                      <a:prstDash val="solid"/>
                      <a:round/>
                      <a:headEnd type="none" w="med" len="med"/>
                      <a:tailEnd type="none" w="med" len="med"/>
                    </a:lnB>
                    <a:solidFill>
                      <a:srgbClr val="022D53"/>
                    </a:solidFill>
                  </a:tcPr>
                </a:tc>
              </a:tr>
              <a:tr h="378420">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Transfers</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62845"/>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Rising</a:t>
                      </a:r>
                      <a:endParaRPr lang="en-US" sz="1200" dirty="0">
                        <a:latin typeface="Inter" charset="0"/>
                        <a:ea typeface="Inter" charset="0"/>
                        <a:cs typeface="Inter" charset="0"/>
                      </a:endParaRPr>
                    </a:p>
                  </a:txBody>
                  <a:tcPr marL="76200" marR="76200" marT="76200" marB="76200" anchor="t">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62845"/>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76200" marR="76200" marT="76200" marB="76200" anchor="t">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62845"/>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76200" marR="76200" marT="76200" marB="76200" anchor="t">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62845"/>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indent="0" marL="0">
                        <a:lnSpc>
                          <a:spcPts val="1680"/>
                        </a:lnSpc>
                        <a:buNone/>
                      </a:pPr>
                      <a:r>
                        <a:rPr lang="en-US" sz="1200" dirty="0">
                          <a:solidFill>
                            <a:srgbClr val="5DB8F0"/>
                          </a:solidFill>
                          <a:latin typeface="Inter" pitchFamily="34" charset="0"/>
                          <a:ea typeface="Inter" pitchFamily="34" charset="-122"/>
                          <a:cs typeface="Inter" pitchFamily="34" charset="-120"/>
                        </a:rPr>
                        <a:t>Gap</a:t>
                      </a:r>
                      <a:endParaRPr lang="en-US" sz="1200" dirty="0">
                        <a:latin typeface="Inter" charset="0"/>
                        <a:ea typeface="Inter" charset="0"/>
                        <a:cs typeface="Inter" charset="0"/>
                      </a:endParaRPr>
                    </a:p>
                  </a:txBody>
                  <a:tcPr marL="76200" marR="76200" marT="76200" marB="76200" anchor="t">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62845"/>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r>
              <a:tr h="378420">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Fuel prices</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Rising</a:t>
                      </a:r>
                      <a:endParaRPr lang="en-US" sz="1200" dirty="0">
                        <a:latin typeface="Inter" charset="0"/>
                        <a:ea typeface="Inter" charset="0"/>
                        <a:cs typeface="Inter" charset="0"/>
                      </a:endParaRPr>
                    </a:p>
                  </a:txBody>
                  <a:tcPr marL="76200" marR="76200" marT="76200" marB="76200" anchor="t">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76200" marR="76200" marT="76200" marB="76200" anchor="t">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76200" marR="76200" marT="76200" marB="76200" anchor="t">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indent="0" marL="0">
                        <a:lnSpc>
                          <a:spcPts val="1680"/>
                        </a:lnSpc>
                        <a:buNone/>
                      </a:pPr>
                      <a:r>
                        <a:rPr lang="en-US" sz="1200" dirty="0">
                          <a:solidFill>
                            <a:srgbClr val="5DB8F0"/>
                          </a:solidFill>
                          <a:latin typeface="Inter" pitchFamily="34" charset="0"/>
                          <a:ea typeface="Inter" pitchFamily="34" charset="-122"/>
                          <a:cs typeface="Inter" pitchFamily="34" charset="-120"/>
                        </a:rPr>
                        <a:t>Gap</a:t>
                      </a:r>
                      <a:endParaRPr lang="en-US" sz="1200" dirty="0">
                        <a:latin typeface="Inter" charset="0"/>
                        <a:ea typeface="Inter" charset="0"/>
                        <a:cs typeface="Inter" charset="0"/>
                      </a:endParaRPr>
                    </a:p>
                  </a:txBody>
                  <a:tcPr marL="76200" marR="76200" marT="76200" marB="76200" anchor="t">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r>
              <a:tr h="378420">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Viral claim</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Peak</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3</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2</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indent="0" marL="0">
                        <a:lnSpc>
                          <a:spcPts val="1680"/>
                        </a:lnSpc>
                        <a:buNone/>
                      </a:pPr>
                      <a:r>
                        <a:rPr lang="en-US" sz="1200" dirty="0">
                          <a:solidFill>
                            <a:srgbClr val="BCD2E8"/>
                          </a:solidFill>
                          <a:latin typeface="Inter" pitchFamily="34" charset="0"/>
                          <a:ea typeface="Inter" pitchFamily="34" charset="-122"/>
                          <a:cs typeface="Inter" pitchFamily="34" charset="-120"/>
                        </a:rPr>
                        <a:t>Covered</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r>
              <a:tr h="378420">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Reshuffle</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Steady</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5</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indent="0" marL="0">
                        <a:lnSpc>
                          <a:spcPts val="1680"/>
                        </a:lnSpc>
                        <a:buNone/>
                      </a:pPr>
                      <a:r>
                        <a:rPr lang="en-US" sz="1200" dirty="0">
                          <a:solidFill>
                            <a:srgbClr val="F4F7FB"/>
                          </a:solidFill>
                          <a:latin typeface="Inter" pitchFamily="34" charset="0"/>
                          <a:ea typeface="Inter" pitchFamily="34" charset="-122"/>
                          <a:cs typeface="Inter" pitchFamily="34" charset="-120"/>
                        </a:rPr>
                        <a:t>3</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indent="0" marL="0">
                        <a:lnSpc>
                          <a:spcPts val="1680"/>
                        </a:lnSpc>
                        <a:buNone/>
                      </a:pPr>
                      <a:r>
                        <a:rPr lang="en-US" sz="1200" dirty="0">
                          <a:solidFill>
                            <a:srgbClr val="BCD2E8"/>
                          </a:solidFill>
                          <a:latin typeface="Inter" pitchFamily="34" charset="0"/>
                          <a:ea typeface="Inter" pitchFamily="34" charset="-122"/>
                          <a:cs typeface="Inter" pitchFamily="34" charset="-120"/>
                        </a:rPr>
                        <a:t>Covered</a:t>
                      </a:r>
                      <a:endParaRPr lang="en-US" sz="1200" dirty="0">
                        <a:latin typeface="Inter" charset="0"/>
                        <a:ea typeface="Inter" charset="0"/>
                        <a:cs typeface="Inter" charset="0"/>
                      </a:endParaRPr>
                    </a:p>
                  </a:txBody>
                  <a:tcPr marL="76200" marR="76200" marT="76200" marB="76200" anchor="t">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r>
            </a:tbl>
          </a:graphicData>
        </a:graphic>
      </p:graphicFrame>
      <p:sp>
        <p:nvSpPr>
          <p:cNvPr id="17" name="Text 9"/>
          <p:cNvSpPr/>
          <p:nvPr/>
        </p:nvSpPr>
        <p:spPr>
          <a:xfrm>
            <a:off x="6807200" y="4622670"/>
            <a:ext cx="4447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Illustrative view · Rivals and Us = stories published in the last 24 hours</a:t>
            </a:r>
            <a:endParaRPr lang="en-US" sz="1200" dirty="0"/>
          </a:p>
        </p:txBody>
      </p:sp>
      <p:sp>
        <p:nvSpPr>
          <p:cNvPr id="18" name="Text 10"/>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19" name="Text 11"/>
          <p:cNvSpPr/>
          <p:nvPr/>
        </p:nvSpPr>
        <p:spPr>
          <a:xfrm>
            <a:off x="11148947" y="6230609"/>
            <a:ext cx="23025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5667D"/>
                </a:solidFill>
                <a:latin typeface="Inter" pitchFamily="34" charset="0"/>
                <a:ea typeface="Inter" pitchFamily="34" charset="-122"/>
                <a:cs typeface="Inter" pitchFamily="34" charset="-120"/>
              </a:rPr>
              <a:t>01 DISCOVER · </a:t>
            </a:r>
            <a:r>
              <a:rPr lang="en-US" sz="1200" b="1" spc="100" kern="0" dirty="0">
                <a:solidFill>
                  <a:srgbClr val="01579B"/>
                </a:solidFill>
                <a:latin typeface="Inter" pitchFamily="34" charset="0"/>
                <a:ea typeface="Inter" pitchFamily="34" charset="-122"/>
                <a:cs typeface="Inter" pitchFamily="34" charset="-120"/>
              </a:rPr>
              <a:t>02 DRAFT</a:t>
            </a:r>
            <a:r>
              <a:rPr lang="en-US" sz="1200" spc="100" kern="0" dirty="0">
                <a:solidFill>
                  <a:srgbClr val="55667D"/>
                </a:solidFill>
                <a:latin typeface="Inter" pitchFamily="34" charset="0"/>
                <a:ea typeface="Inter" pitchFamily="34" charset="-122"/>
                <a:cs typeface="Inter" pitchFamily="34" charset="-120"/>
              </a:rPr>
              <a:t> · 03 REVIEW · 04 PUBLISH · 05 ENRICH · 06 MEASURE</a:t>
            </a:r>
            <a:endParaRPr lang="en-US" sz="1200" dirty="0"/>
          </a:p>
        </p:txBody>
      </p:sp>
      <p:sp>
        <p:nvSpPr>
          <p:cNvPr id="5" name="Text 1"/>
          <p:cNvSpPr/>
          <p:nvPr>
            <p:ph type="title"/>
          </p:nvPr>
        </p:nvSpPr>
        <p:spPr>
          <a:xfrm>
            <a:off x="812800" y="2026115"/>
            <a:ext cx="5284724" cy="935699"/>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02F59"/>
                </a:solidFill>
                <a:latin typeface="Inter" pitchFamily="34" charset="0"/>
                <a:ea typeface="Inter" pitchFamily="34" charset="-122"/>
                <a:cs typeface="Inter" pitchFamily="34" charset="-120"/>
              </a:rPr>
              <a:t>Turn every gap into a first draft</a:t>
            </a:r>
            <a:endParaRPr lang="en-US" sz="3200" dirty="0"/>
          </a:p>
        </p:txBody>
      </p:sp>
      <p:sp>
        <p:nvSpPr>
          <p:cNvPr id="6" name="Text 2"/>
          <p:cNvSpPr/>
          <p:nvPr/>
        </p:nvSpPr>
        <p:spPr>
          <a:xfrm>
            <a:off x="812800" y="3139613"/>
            <a:ext cx="5284724"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2536A"/>
                </a:solidFill>
                <a:latin typeface="Inter" pitchFamily="34" charset="0"/>
                <a:ea typeface="Inter" pitchFamily="34" charset="-122"/>
                <a:cs typeface="Inter" pitchFamily="34" charset="-120"/>
              </a:rPr>
              <a:t>For each gap it finds, Labeeb suggests an AI-generated draft — so the desk starts from structured copy instead of a blank page.</a:t>
            </a:r>
            <a:endParaRPr lang="en-US" sz="1500" dirty="0"/>
          </a:p>
        </p:txBody>
      </p:sp>
      <p:pic>
        <p:nvPicPr>
          <p:cNvPr id="7" name="Image 2" descr="CheckCircle">    </p:cNvPr>
          <p:cNvPicPr>
            <a:picLocks noChangeAspect="1"/>
          </p:cNvPicPr>
          <p:nvPr/>
        </p:nvPicPr>
        <p:blipFill>
          <a:blip r:embed="rId3"/>
          <a:srcRect l="0" r="0" t="0" b="0"/>
          <a:stretch/>
        </p:blipFill>
        <p:spPr>
          <a:xfrm>
            <a:off x="812800" y="4171491"/>
            <a:ext cx="203200" cy="203200"/>
          </a:xfrm>
          <a:prstGeom prst="rect">
            <a:avLst/>
          </a:prstGeom>
        </p:spPr>
      </p:pic>
      <p:sp>
        <p:nvSpPr>
          <p:cNvPr id="8" name="Text 3"/>
          <p:cNvSpPr/>
          <p:nvPr/>
        </p:nvSpPr>
        <p:spPr>
          <a:xfrm>
            <a:off x="1117600" y="4171491"/>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Drafts generated directly from the identified gap</a:t>
            </a:r>
            <a:endParaRPr lang="en-US" sz="1400" dirty="0"/>
          </a:p>
        </p:txBody>
      </p:sp>
      <p:pic>
        <p:nvPicPr>
          <p:cNvPr id="9" name="Image 3" descr="CheckCircle">    </p:cNvPr>
          <p:cNvPicPr>
            <a:picLocks noChangeAspect="1"/>
          </p:cNvPicPr>
          <p:nvPr/>
        </p:nvPicPr>
        <p:blipFill>
          <a:blip r:embed="rId4"/>
          <a:srcRect l="0" r="0" t="0" b="0"/>
          <a:stretch/>
        </p:blipFill>
        <p:spPr>
          <a:xfrm>
            <a:off x="812800" y="4534694"/>
            <a:ext cx="203200" cy="203200"/>
          </a:xfrm>
          <a:prstGeom prst="rect">
            <a:avLst/>
          </a:prstGeom>
        </p:spPr>
      </p:pic>
      <p:sp>
        <p:nvSpPr>
          <p:cNvPr id="10" name="Text 4"/>
          <p:cNvSpPr/>
          <p:nvPr/>
        </p:nvSpPr>
        <p:spPr>
          <a:xfrm>
            <a:off x="1117600" y="4534694"/>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Editors rewrite, refine or reject — people decide</a:t>
            </a:r>
            <a:endParaRPr lang="en-US" sz="1400" dirty="0"/>
          </a:p>
        </p:txBody>
      </p:sp>
      <p:pic>
        <p:nvPicPr>
          <p:cNvPr id="11" name="Image 4" descr="CheckCircle">    </p:cNvPr>
          <p:cNvPicPr>
            <a:picLocks noChangeAspect="1"/>
          </p:cNvPicPr>
          <p:nvPr/>
        </p:nvPicPr>
        <p:blipFill>
          <a:blip r:embed="rId5"/>
          <a:srcRect l="0" r="0" t="0" b="0"/>
          <a:stretch/>
        </p:blipFill>
        <p:spPr>
          <a:xfrm>
            <a:off x="812800" y="4897903"/>
            <a:ext cx="203200" cy="203200"/>
          </a:xfrm>
          <a:prstGeom prst="rect">
            <a:avLst/>
          </a:prstGeom>
        </p:spPr>
      </p:pic>
      <p:sp>
        <p:nvSpPr>
          <p:cNvPr id="12" name="Text 5"/>
          <p:cNvSpPr/>
          <p:nvPr/>
        </p:nvSpPr>
        <p:spPr>
          <a:xfrm>
            <a:off x="1117600" y="4897903"/>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Accepted drafts follow the standard editorial workflow</a:t>
            </a:r>
            <a:endParaRPr lang="en-US" sz="1400" dirty="0"/>
          </a:p>
        </p:txBody>
      </p:sp>
      <p:sp>
        <p:nvSpPr>
          <p:cNvPr id="13" name="Shape 6"/>
          <p:cNvSpPr/>
          <p:nvPr/>
        </p:nvSpPr>
        <p:spPr>
          <a:xfrm>
            <a:off x="6556375" y="1533128"/>
            <a:ext cx="4819650" cy="774237"/>
          </a:xfrm>
          <a:prstGeom prst="roundRect">
            <a:avLst>
              <a:gd name="adj" fmla="val 12713"/>
            </a:avLst>
          </a:prstGeom>
          <a:solidFill>
            <a:srgbClr val="FCFDFE"/>
          </a:solidFill>
          <a:ln w="6350">
            <a:solidFill>
              <a:srgbClr val="D3DEEA"/>
            </a:solidFill>
            <a:prstDash val="solid"/>
          </a:ln>
        </p:spPr>
      </p:sp>
      <p:pic>
        <p:nvPicPr>
          <p:cNvPr id="14" name="Image 5" descr="Search">    </p:cNvPr>
          <p:cNvPicPr>
            <a:picLocks noChangeAspect="1"/>
          </p:cNvPicPr>
          <p:nvPr/>
        </p:nvPicPr>
        <p:blipFill>
          <a:blip r:embed="rId6"/>
          <a:srcRect l="0" r="0" t="0" b="0"/>
          <a:stretch/>
        </p:blipFill>
        <p:spPr>
          <a:xfrm>
            <a:off x="6760634" y="1780515"/>
            <a:ext cx="279400" cy="279400"/>
          </a:xfrm>
          <a:prstGeom prst="rect">
            <a:avLst/>
          </a:prstGeom>
        </p:spPr>
      </p:pic>
      <p:sp>
        <p:nvSpPr>
          <p:cNvPr id="15" name="Text 7"/>
          <p:cNvSpPr/>
          <p:nvPr/>
        </p:nvSpPr>
        <p:spPr>
          <a:xfrm>
            <a:off x="7192434" y="1686589"/>
            <a:ext cx="40987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Gap detected</a:t>
            </a:r>
            <a:endParaRPr lang="en-US" sz="1500" dirty="0"/>
          </a:p>
        </p:txBody>
      </p:sp>
      <p:sp>
        <p:nvSpPr>
          <p:cNvPr id="16" name="Text 8"/>
          <p:cNvSpPr/>
          <p:nvPr/>
        </p:nvSpPr>
        <p:spPr>
          <a:xfrm>
            <a:off x="7192434" y="1940589"/>
            <a:ext cx="40987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Labeeb spots a rising topic with no story yet</a:t>
            </a:r>
            <a:endParaRPr lang="en-US" sz="1200" dirty="0"/>
          </a:p>
        </p:txBody>
      </p:sp>
      <p:pic>
        <p:nvPicPr>
          <p:cNvPr id="17" name="Image 6" descr="arrow-down">    </p:cNvPr>
          <p:cNvPicPr>
            <a:picLocks noChangeAspect="1"/>
          </p:cNvPicPr>
          <p:nvPr/>
        </p:nvPicPr>
        <p:blipFill>
          <a:blip r:embed="rId7"/>
          <a:srcRect l="0" r="0" t="0" b="0"/>
          <a:stretch/>
        </p:blipFill>
        <p:spPr>
          <a:xfrm>
            <a:off x="8896350" y="2374041"/>
            <a:ext cx="139700" cy="203200"/>
          </a:xfrm>
          <a:prstGeom prst="rect">
            <a:avLst/>
          </a:prstGeom>
        </p:spPr>
      </p:pic>
      <p:sp>
        <p:nvSpPr>
          <p:cNvPr id="18" name="Shape 9"/>
          <p:cNvSpPr/>
          <p:nvPr/>
        </p:nvSpPr>
        <p:spPr>
          <a:xfrm>
            <a:off x="6556375" y="2643916"/>
            <a:ext cx="4819650" cy="774237"/>
          </a:xfrm>
          <a:prstGeom prst="roundRect">
            <a:avLst>
              <a:gd name="adj" fmla="val 12713"/>
            </a:avLst>
          </a:prstGeom>
          <a:solidFill>
            <a:srgbClr val="FCFDFE"/>
          </a:solidFill>
          <a:ln w="6350">
            <a:solidFill>
              <a:srgbClr val="D3DEEA"/>
            </a:solidFill>
            <a:prstDash val="solid"/>
          </a:ln>
        </p:spPr>
      </p:sp>
      <p:pic>
        <p:nvPicPr>
          <p:cNvPr id="19" name="Image 7" descr="Lightbulb">    </p:cNvPr>
          <p:cNvPicPr>
            <a:picLocks noChangeAspect="1"/>
          </p:cNvPicPr>
          <p:nvPr/>
        </p:nvPicPr>
        <p:blipFill>
          <a:blip r:embed="rId8"/>
          <a:srcRect l="0" r="0" t="0" b="0"/>
          <a:stretch/>
        </p:blipFill>
        <p:spPr>
          <a:xfrm>
            <a:off x="6760634" y="2891303"/>
            <a:ext cx="279400" cy="279400"/>
          </a:xfrm>
          <a:prstGeom prst="rect">
            <a:avLst/>
          </a:prstGeom>
        </p:spPr>
      </p:pic>
      <p:sp>
        <p:nvSpPr>
          <p:cNvPr id="20" name="Text 10"/>
          <p:cNvSpPr/>
          <p:nvPr/>
        </p:nvSpPr>
        <p:spPr>
          <a:xfrm>
            <a:off x="7192434" y="2797373"/>
            <a:ext cx="40987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AI draft suggested</a:t>
            </a:r>
            <a:endParaRPr lang="en-US" sz="1500" dirty="0"/>
          </a:p>
        </p:txBody>
      </p:sp>
      <p:sp>
        <p:nvSpPr>
          <p:cNvPr id="21" name="Text 11"/>
          <p:cNvSpPr/>
          <p:nvPr/>
        </p:nvSpPr>
        <p:spPr>
          <a:xfrm>
            <a:off x="7192434" y="3051373"/>
            <a:ext cx="40987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A structured first draft, generated for that gap</a:t>
            </a:r>
            <a:endParaRPr lang="en-US" sz="1200" dirty="0"/>
          </a:p>
        </p:txBody>
      </p:sp>
      <p:pic>
        <p:nvPicPr>
          <p:cNvPr id="22" name="Image 8" descr="arrow-down">    </p:cNvPr>
          <p:cNvPicPr>
            <a:picLocks noChangeAspect="1"/>
          </p:cNvPicPr>
          <p:nvPr/>
        </p:nvPicPr>
        <p:blipFill>
          <a:blip r:embed="rId9"/>
          <a:srcRect l="0" r="0" t="0" b="0"/>
          <a:stretch/>
        </p:blipFill>
        <p:spPr>
          <a:xfrm>
            <a:off x="8896350" y="3484829"/>
            <a:ext cx="139700" cy="203200"/>
          </a:xfrm>
          <a:prstGeom prst="rect">
            <a:avLst/>
          </a:prstGeom>
        </p:spPr>
      </p:pic>
      <p:sp>
        <p:nvSpPr>
          <p:cNvPr id="23" name="Shape 12"/>
          <p:cNvSpPr/>
          <p:nvPr/>
        </p:nvSpPr>
        <p:spPr>
          <a:xfrm>
            <a:off x="6556375" y="3754704"/>
            <a:ext cx="4819650" cy="774237"/>
          </a:xfrm>
          <a:prstGeom prst="roundRect">
            <a:avLst>
              <a:gd name="adj" fmla="val 12713"/>
            </a:avLst>
          </a:prstGeom>
          <a:solidFill>
            <a:srgbClr val="002F59"/>
          </a:solidFill>
          <a:ln w="6350">
            <a:solidFill>
              <a:srgbClr val="002F59"/>
            </a:solidFill>
            <a:prstDash val="solid"/>
          </a:ln>
        </p:spPr>
      </p:sp>
      <p:pic>
        <p:nvPicPr>
          <p:cNvPr id="24" name="Image 9" descr="Users">    </p:cNvPr>
          <p:cNvPicPr>
            <a:picLocks noChangeAspect="1"/>
          </p:cNvPicPr>
          <p:nvPr/>
        </p:nvPicPr>
        <p:blipFill>
          <a:blip r:embed="rId10"/>
          <a:srcRect l="0" r="0" t="0" b="0"/>
          <a:stretch/>
        </p:blipFill>
        <p:spPr>
          <a:xfrm>
            <a:off x="6760634" y="4002087"/>
            <a:ext cx="279400" cy="279400"/>
          </a:xfrm>
          <a:prstGeom prst="rect">
            <a:avLst/>
          </a:prstGeom>
        </p:spPr>
      </p:pic>
      <p:sp>
        <p:nvSpPr>
          <p:cNvPr id="25" name="Text 13"/>
          <p:cNvSpPr/>
          <p:nvPr/>
        </p:nvSpPr>
        <p:spPr>
          <a:xfrm>
            <a:off x="7192434" y="3908161"/>
            <a:ext cx="40987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7FB"/>
                </a:solidFill>
                <a:latin typeface="Inter" pitchFamily="34" charset="0"/>
                <a:ea typeface="Inter" pitchFamily="34" charset="-122"/>
                <a:cs typeface="Inter" pitchFamily="34" charset="-120"/>
              </a:rPr>
              <a:t>Editor takes ownership</a:t>
            </a:r>
            <a:endParaRPr lang="en-US" sz="1500" dirty="0"/>
          </a:p>
        </p:txBody>
      </p:sp>
      <p:sp>
        <p:nvSpPr>
          <p:cNvPr id="26" name="Text 14"/>
          <p:cNvSpPr/>
          <p:nvPr/>
        </p:nvSpPr>
        <p:spPr>
          <a:xfrm>
            <a:off x="7192434" y="4162165"/>
            <a:ext cx="40987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D2E8"/>
                </a:solidFill>
                <a:latin typeface="Inter" pitchFamily="34" charset="0"/>
                <a:ea typeface="Inter" pitchFamily="34" charset="-122"/>
                <a:cs typeface="Inter" pitchFamily="34" charset="-120"/>
              </a:rPr>
              <a:t>Rewrites, verifies and decides whether it runs</a:t>
            </a:r>
            <a:endParaRPr lang="en-US" sz="1200" dirty="0"/>
          </a:p>
        </p:txBody>
      </p:sp>
      <p:pic>
        <p:nvPicPr>
          <p:cNvPr id="27" name="Image 10" descr="arrow-down">    </p:cNvPr>
          <p:cNvPicPr>
            <a:picLocks noChangeAspect="1"/>
          </p:cNvPicPr>
          <p:nvPr/>
        </p:nvPicPr>
        <p:blipFill>
          <a:blip r:embed="rId11"/>
          <a:srcRect l="0" r="0" t="0" b="0"/>
          <a:stretch/>
        </p:blipFill>
        <p:spPr>
          <a:xfrm>
            <a:off x="8896350" y="4595614"/>
            <a:ext cx="139700" cy="203200"/>
          </a:xfrm>
          <a:prstGeom prst="rect">
            <a:avLst/>
          </a:prstGeom>
        </p:spPr>
      </p:pic>
      <p:sp>
        <p:nvSpPr>
          <p:cNvPr id="28" name="Shape 15"/>
          <p:cNvSpPr/>
          <p:nvPr/>
        </p:nvSpPr>
        <p:spPr>
          <a:xfrm>
            <a:off x="6556375" y="4865489"/>
            <a:ext cx="4819650" cy="774237"/>
          </a:xfrm>
          <a:prstGeom prst="roundRect">
            <a:avLst>
              <a:gd name="adj" fmla="val 12713"/>
            </a:avLst>
          </a:prstGeom>
          <a:solidFill>
            <a:srgbClr val="FCFDFE"/>
          </a:solidFill>
          <a:ln w="6350">
            <a:solidFill>
              <a:srgbClr val="D3DEEA"/>
            </a:solidFill>
            <a:prstDash val="solid"/>
          </a:ln>
        </p:spPr>
      </p:sp>
      <p:pic>
        <p:nvPicPr>
          <p:cNvPr id="29" name="Image 11" descr="PaperPlane">    </p:cNvPr>
          <p:cNvPicPr>
            <a:picLocks noChangeAspect="1"/>
          </p:cNvPicPr>
          <p:nvPr/>
        </p:nvPicPr>
        <p:blipFill>
          <a:blip r:embed="rId12"/>
          <a:srcRect l="0" r="0" t="0" b="0"/>
          <a:stretch/>
        </p:blipFill>
        <p:spPr>
          <a:xfrm>
            <a:off x="6760634" y="5112879"/>
            <a:ext cx="279400" cy="279400"/>
          </a:xfrm>
          <a:prstGeom prst="rect">
            <a:avLst/>
          </a:prstGeom>
        </p:spPr>
      </p:pic>
      <p:sp>
        <p:nvSpPr>
          <p:cNvPr id="30" name="Text 16"/>
          <p:cNvSpPr/>
          <p:nvPr/>
        </p:nvSpPr>
        <p:spPr>
          <a:xfrm>
            <a:off x="7192434" y="5018949"/>
            <a:ext cx="40987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Into the workflow</a:t>
            </a:r>
            <a:endParaRPr lang="en-US" sz="1500" dirty="0"/>
          </a:p>
        </p:txBody>
      </p:sp>
      <p:sp>
        <p:nvSpPr>
          <p:cNvPr id="31" name="Text 17"/>
          <p:cNvSpPr/>
          <p:nvPr/>
        </p:nvSpPr>
        <p:spPr>
          <a:xfrm>
            <a:off x="7192434" y="5272949"/>
            <a:ext cx="40987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Same review and approval path as every story</a:t>
            </a:r>
            <a:endParaRPr lang="en-US" sz="1200" dirty="0"/>
          </a:p>
        </p:txBody>
      </p:sp>
      <p:sp>
        <p:nvSpPr>
          <p:cNvPr id="32" name="Text 18"/>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33" name="Text 19"/>
          <p:cNvSpPr/>
          <p:nvPr/>
        </p:nvSpPr>
        <p:spPr>
          <a:xfrm>
            <a:off x="11137967" y="6230609"/>
            <a:ext cx="24123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5667D"/>
                </a:solidFill>
                <a:latin typeface="Inter" pitchFamily="34" charset="0"/>
                <a:ea typeface="Inter" pitchFamily="34" charset="-122"/>
                <a:cs typeface="Inter" pitchFamily="34" charset="-120"/>
              </a:rPr>
              <a:t>01 DISCOVER · 02 DRAFT · </a:t>
            </a:r>
            <a:r>
              <a:rPr lang="en-US" sz="1200" b="1" spc="100" kern="0" dirty="0">
                <a:solidFill>
                  <a:srgbClr val="01579B"/>
                </a:solidFill>
                <a:latin typeface="Inter" pitchFamily="34" charset="0"/>
                <a:ea typeface="Inter" pitchFamily="34" charset="-122"/>
                <a:cs typeface="Inter" pitchFamily="34" charset="-120"/>
              </a:rPr>
              <a:t>03 REVIEW</a:t>
            </a:r>
            <a:r>
              <a:rPr lang="en-US" sz="1200" spc="100" kern="0" dirty="0">
                <a:solidFill>
                  <a:srgbClr val="55667D"/>
                </a:solidFill>
                <a:latin typeface="Inter" pitchFamily="34" charset="0"/>
                <a:ea typeface="Inter" pitchFamily="34" charset="-122"/>
                <a:cs typeface="Inter" pitchFamily="34" charset="-120"/>
              </a:rPr>
              <a:t> · 04 PUBLISH · 05 ENRICH · 06 MEASURE</a:t>
            </a:r>
            <a:endParaRPr lang="en-US" sz="1200" dirty="0"/>
          </a:p>
        </p:txBody>
      </p:sp>
      <p:sp>
        <p:nvSpPr>
          <p:cNvPr id="5" name="Text 1"/>
          <p:cNvSpPr/>
          <p:nvPr>
            <p:ph type="title"/>
          </p:nvPr>
        </p:nvSpPr>
        <p:spPr>
          <a:xfrm>
            <a:off x="812800" y="2253655"/>
            <a:ext cx="5284724" cy="480549"/>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02F59"/>
                </a:solidFill>
                <a:latin typeface="Inter" pitchFamily="34" charset="0"/>
                <a:ea typeface="Inter" pitchFamily="34" charset="-122"/>
                <a:cs typeface="Inter" pitchFamily="34" charset="-120"/>
              </a:rPr>
              <a:t>The AI Editorial Assistant</a:t>
            </a:r>
            <a:endParaRPr lang="en-US" sz="3200" dirty="0"/>
          </a:p>
        </p:txBody>
      </p:sp>
      <p:sp>
        <p:nvSpPr>
          <p:cNvPr id="6" name="Text 2"/>
          <p:cNvSpPr/>
          <p:nvPr/>
        </p:nvSpPr>
        <p:spPr>
          <a:xfrm>
            <a:off x="812800" y="2912008"/>
            <a:ext cx="5284724"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2536A"/>
                </a:solidFill>
                <a:latin typeface="Inter" pitchFamily="34" charset="0"/>
                <a:ea typeface="Inter" pitchFamily="34" charset="-122"/>
                <a:cs typeface="Inter" pitchFamily="34" charset="-120"/>
              </a:rPr>
              <a:t>The AI Editorial Assistant reviews copy against each brand’s editorial guidelines and corrects Arabic grammar and spelling — before the story reaches the desk editor.</a:t>
            </a:r>
            <a:endParaRPr lang="en-US" sz="1500" dirty="0"/>
          </a:p>
        </p:txBody>
      </p:sp>
      <p:pic>
        <p:nvPicPr>
          <p:cNvPr id="7" name="Image 2" descr="CheckCircle">    </p:cNvPr>
          <p:cNvPicPr>
            <a:picLocks noChangeAspect="1"/>
          </p:cNvPicPr>
          <p:nvPr/>
        </p:nvPicPr>
        <p:blipFill>
          <a:blip r:embed="rId3"/>
          <a:srcRect l="0" r="0" t="0" b="0"/>
          <a:stretch/>
        </p:blipFill>
        <p:spPr>
          <a:xfrm>
            <a:off x="812800" y="3943883"/>
            <a:ext cx="203200" cy="203200"/>
          </a:xfrm>
          <a:prstGeom prst="rect">
            <a:avLst/>
          </a:prstGeom>
        </p:spPr>
      </p:pic>
      <p:sp>
        <p:nvSpPr>
          <p:cNvPr id="8" name="Text 3"/>
          <p:cNvSpPr/>
          <p:nvPr/>
        </p:nvSpPr>
        <p:spPr>
          <a:xfrm>
            <a:off x="1117600" y="3943883"/>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Brand-specific style and editorial guidelines</a:t>
            </a:r>
            <a:endParaRPr lang="en-US" sz="1400" dirty="0"/>
          </a:p>
        </p:txBody>
      </p:sp>
      <p:pic>
        <p:nvPicPr>
          <p:cNvPr id="9" name="Image 3" descr="CheckCircle">    </p:cNvPr>
          <p:cNvPicPr>
            <a:picLocks noChangeAspect="1"/>
          </p:cNvPicPr>
          <p:nvPr/>
        </p:nvPicPr>
        <p:blipFill>
          <a:blip r:embed="rId4"/>
          <a:srcRect l="0" r="0" t="0" b="0"/>
          <a:stretch/>
        </p:blipFill>
        <p:spPr>
          <a:xfrm>
            <a:off x="812800" y="4307086"/>
            <a:ext cx="203200" cy="203200"/>
          </a:xfrm>
          <a:prstGeom prst="rect">
            <a:avLst/>
          </a:prstGeom>
        </p:spPr>
      </p:pic>
      <p:sp>
        <p:nvSpPr>
          <p:cNvPr id="10" name="Text 4"/>
          <p:cNvSpPr/>
          <p:nvPr/>
        </p:nvSpPr>
        <p:spPr>
          <a:xfrm>
            <a:off x="1117600" y="4307086"/>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Arabic grammar and spelling correction</a:t>
            </a:r>
            <a:endParaRPr lang="en-US" sz="1400" dirty="0"/>
          </a:p>
        </p:txBody>
      </p:sp>
      <p:pic>
        <p:nvPicPr>
          <p:cNvPr id="11" name="Image 4" descr="CheckCircle">    </p:cNvPr>
          <p:cNvPicPr>
            <a:picLocks noChangeAspect="1"/>
          </p:cNvPicPr>
          <p:nvPr/>
        </p:nvPicPr>
        <p:blipFill>
          <a:blip r:embed="rId5"/>
          <a:srcRect l="0" r="0" t="0" b="0"/>
          <a:stretch/>
        </p:blipFill>
        <p:spPr>
          <a:xfrm>
            <a:off x="812800" y="4670295"/>
            <a:ext cx="203200" cy="203200"/>
          </a:xfrm>
          <a:prstGeom prst="rect">
            <a:avLst/>
          </a:prstGeom>
        </p:spPr>
      </p:pic>
      <p:sp>
        <p:nvSpPr>
          <p:cNvPr id="12" name="Text 5"/>
          <p:cNvSpPr/>
          <p:nvPr/>
        </p:nvSpPr>
        <p:spPr>
          <a:xfrm>
            <a:off x="1117600" y="4670295"/>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Clear suggestions the editor accepts or rejects</a:t>
            </a:r>
            <a:endParaRPr lang="en-US" sz="1400" dirty="0"/>
          </a:p>
        </p:txBody>
      </p:sp>
      <p:sp>
        <p:nvSpPr>
          <p:cNvPr id="13" name="Shape 6"/>
          <p:cNvSpPr/>
          <p:nvPr/>
        </p:nvSpPr>
        <p:spPr>
          <a:xfrm>
            <a:off x="6556375" y="1703388"/>
            <a:ext cx="4819650" cy="3766145"/>
          </a:xfrm>
          <a:prstGeom prst="roundRect">
            <a:avLst>
              <a:gd name="adj" fmla="val 3962"/>
            </a:avLst>
          </a:prstGeom>
          <a:solidFill>
            <a:srgbClr val="FCFDFE"/>
          </a:solidFill>
          <a:ln w="6350">
            <a:solidFill>
              <a:srgbClr val="D3DEEA"/>
            </a:solidFill>
            <a:prstDash val="solid"/>
          </a:ln>
        </p:spPr>
      </p:sp>
      <p:sp>
        <p:nvSpPr>
          <p:cNvPr id="14" name="Text 7"/>
          <p:cNvSpPr/>
          <p:nvPr/>
        </p:nvSpPr>
        <p:spPr>
          <a:xfrm>
            <a:off x="6811434" y="1958448"/>
            <a:ext cx="443881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2F59"/>
                </a:solidFill>
                <a:latin typeface="Inter" pitchFamily="34" charset="0"/>
                <a:ea typeface="Inter" pitchFamily="34" charset="-122"/>
                <a:cs typeface="Inter" pitchFamily="34" charset="-120"/>
              </a:rPr>
              <a:t>AI Editorial Assistant · 3 suggestions</a:t>
            </a:r>
            <a:endParaRPr lang="en-US" sz="1600" dirty="0"/>
          </a:p>
        </p:txBody>
      </p:sp>
      <p:sp>
        <p:nvSpPr>
          <p:cNvPr id="15" name="Shape 8"/>
          <p:cNvSpPr/>
          <p:nvPr/>
        </p:nvSpPr>
        <p:spPr>
          <a:xfrm>
            <a:off x="6811434" y="2329259"/>
            <a:ext cx="4309533" cy="756841"/>
          </a:xfrm>
          <a:prstGeom prst="roundRect">
            <a:avLst>
              <a:gd name="adj" fmla="val 10068"/>
            </a:avLst>
          </a:prstGeom>
          <a:solidFill>
            <a:srgbClr val="F4F7FB"/>
          </a:solidFill>
          <a:ln/>
        </p:spPr>
      </p:sp>
      <p:sp>
        <p:nvSpPr>
          <p:cNvPr id="16" name="Text 9"/>
          <p:cNvSpPr/>
          <p:nvPr/>
        </p:nvSpPr>
        <p:spPr>
          <a:xfrm>
            <a:off x="6963834" y="2456259"/>
            <a:ext cx="1206500" cy="502841"/>
          </a:xfrm>
          <a:custGeom>
            <a:avLst/>
            <a:gdLst/>
            <a:ahLst/>
            <a:cxnLst/>
            <a:rect l="l" t="t" r="r" b="b"/>
            <a:pathLst>
              <a:path w="1206500" h="502841">
                <a:moveTo>
                  <a:pt x="251420" y="0"/>
                </a:moveTo>
                <a:lnTo>
                  <a:pt x="955080" y="0"/>
                </a:lnTo>
                <a:arcTo hR="251420" wR="251420" stAng="16200000" swAng="5400000"/>
                <a:lnTo>
                  <a:pt x="1206500" y="251420"/>
                </a:lnTo>
                <a:arcTo hR="251420" wR="251420" stAng="0" swAng="5400000"/>
                <a:lnTo>
                  <a:pt x="251420" y="502841"/>
                </a:lnTo>
                <a:arcTo hR="251420" wR="251420" stAng="5400000" swAng="5400000"/>
                <a:lnTo>
                  <a:pt x="0" y="251420"/>
                </a:lnTo>
                <a:arcTo hR="251420" wR="251420" stAng="10800000" swAng="5400000"/>
                <a:close/>
              </a:path>
            </a:pathLst>
          </a:custGeom>
          <a:solidFill>
            <a:srgbClr val="002F59"/>
          </a:solidFill>
          <a:ln/>
        </p:spPr>
        <p:txBody>
          <a:bodyPr wrap="square" lIns="63500" tIns="38100" rIns="63500" bIns="12700" rtlCol="0" anchor="t">
            <a:normAutofit/>
          </a:bodyPr>
          <a:lstStyle/>
          <a:p>
            <a:pPr algn="ctr" indent="0" marL="0">
              <a:lnSpc>
                <a:spcPts val="1680"/>
              </a:lnSpc>
              <a:buNone/>
            </a:pPr>
            <a:r>
              <a:rPr lang="en-US" sz="1200" b="1" dirty="0">
                <a:solidFill>
                  <a:srgbClr val="F4F7FB"/>
                </a:solidFill>
                <a:latin typeface="Inter" pitchFamily="34" charset="0"/>
                <a:ea typeface="Inter" pitchFamily="34" charset="-122"/>
                <a:cs typeface="Inter" pitchFamily="34" charset="-120"/>
              </a:rPr>
              <a:t>Editorial  guide</a:t>
            </a:r>
            <a:endParaRPr lang="en-US" sz="1200" dirty="0"/>
          </a:p>
        </p:txBody>
      </p:sp>
      <p:sp>
        <p:nvSpPr>
          <p:cNvPr id="17" name="Text 10"/>
          <p:cNvSpPr/>
          <p:nvPr/>
        </p:nvSpPr>
        <p:spPr>
          <a:xfrm>
            <a:off x="8297334" y="2456259"/>
            <a:ext cx="275137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2F59"/>
                </a:solidFill>
                <a:latin typeface="Inter" pitchFamily="34" charset="0"/>
                <a:ea typeface="Inter" pitchFamily="34" charset="-122"/>
                <a:cs typeface="Inter" pitchFamily="34" charset="-120"/>
              </a:rPr>
              <a:t>Use the brand’s preferred term</a:t>
            </a:r>
            <a:endParaRPr lang="en-US" sz="1300" dirty="0"/>
          </a:p>
        </p:txBody>
      </p:sp>
      <p:sp>
        <p:nvSpPr>
          <p:cNvPr id="18" name="Shape 11"/>
          <p:cNvSpPr/>
          <p:nvPr/>
        </p:nvSpPr>
        <p:spPr>
          <a:xfrm>
            <a:off x="6811434" y="3213100"/>
            <a:ext cx="4309533" cy="716227"/>
          </a:xfrm>
          <a:prstGeom prst="roundRect">
            <a:avLst>
              <a:gd name="adj" fmla="val 10639"/>
            </a:avLst>
          </a:prstGeom>
          <a:solidFill>
            <a:srgbClr val="F4F7FB"/>
          </a:solidFill>
          <a:ln/>
        </p:spPr>
      </p:sp>
      <p:sp>
        <p:nvSpPr>
          <p:cNvPr id="19" name="Text 12"/>
          <p:cNvSpPr/>
          <p:nvPr/>
        </p:nvSpPr>
        <p:spPr>
          <a:xfrm>
            <a:off x="6963834" y="3340100"/>
            <a:ext cx="1206500" cy="289520"/>
          </a:xfrm>
          <a:custGeom>
            <a:avLst/>
            <a:gdLst/>
            <a:ahLst/>
            <a:cxnLst/>
            <a:rect l="l" t="t" r="r" b="b"/>
            <a:pathLst>
              <a:path w="1206500" h="289520">
                <a:moveTo>
                  <a:pt x="144760" y="0"/>
                </a:moveTo>
                <a:lnTo>
                  <a:pt x="1061740" y="0"/>
                </a:lnTo>
                <a:arcTo hR="144760" wR="144760" stAng="16200000" swAng="5400000"/>
                <a:lnTo>
                  <a:pt x="1206500" y="144760"/>
                </a:lnTo>
                <a:arcTo hR="144760" wR="144760" stAng="0" swAng="5400000"/>
                <a:lnTo>
                  <a:pt x="144760" y="289520"/>
                </a:lnTo>
                <a:arcTo hR="144760" wR="144760" stAng="5400000" swAng="5400000"/>
                <a:lnTo>
                  <a:pt x="0" y="144760"/>
                </a:lnTo>
                <a:arcTo hR="144760" wR="144760" stAng="10800000" swAng="5400000"/>
                <a:close/>
              </a:path>
            </a:pathLst>
          </a:custGeom>
          <a:solidFill>
            <a:srgbClr val="1F5F9E"/>
          </a:solidFill>
          <a:ln/>
        </p:spPr>
        <p:txBody>
          <a:bodyPr wrap="square" lIns="63500" tIns="38100" rIns="63500" bIns="12700" rtlCol="0" anchor="t">
            <a:normAutofit/>
          </a:bodyPr>
          <a:lstStyle/>
          <a:p>
            <a:pPr algn="ctr" indent="0" marL="0">
              <a:lnSpc>
                <a:spcPts val="1680"/>
              </a:lnSpc>
              <a:buNone/>
            </a:pPr>
            <a:r>
              <a:rPr lang="en-US" sz="1200" b="1" dirty="0">
                <a:solidFill>
                  <a:srgbClr val="F4F7FB"/>
                </a:solidFill>
                <a:latin typeface="Inter" pitchFamily="34" charset="0"/>
                <a:ea typeface="Inter" pitchFamily="34" charset="-122"/>
                <a:cs typeface="Inter" pitchFamily="34" charset="-120"/>
              </a:rPr>
              <a:t>Grammar</a:t>
            </a:r>
            <a:endParaRPr lang="en-US" sz="1200" dirty="0"/>
          </a:p>
        </p:txBody>
      </p:sp>
      <p:sp>
        <p:nvSpPr>
          <p:cNvPr id="20" name="Text 13"/>
          <p:cNvSpPr/>
          <p:nvPr/>
        </p:nvSpPr>
        <p:spPr>
          <a:xfrm>
            <a:off x="8297334" y="3340100"/>
            <a:ext cx="275137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2F59"/>
                </a:solidFill>
                <a:latin typeface="Inter" pitchFamily="34" charset="0"/>
                <a:ea typeface="Inter" pitchFamily="34" charset="-122"/>
                <a:cs typeface="Inter" pitchFamily="34" charset="-120"/>
              </a:rPr>
              <a:t>Subject–verb agreement corrected</a:t>
            </a:r>
            <a:endParaRPr lang="en-US" sz="1300" dirty="0"/>
          </a:p>
        </p:txBody>
      </p:sp>
      <p:sp>
        <p:nvSpPr>
          <p:cNvPr id="21" name="Shape 14"/>
          <p:cNvSpPr/>
          <p:nvPr/>
        </p:nvSpPr>
        <p:spPr>
          <a:xfrm>
            <a:off x="6811434" y="4056329"/>
            <a:ext cx="4309533" cy="716227"/>
          </a:xfrm>
          <a:prstGeom prst="roundRect">
            <a:avLst>
              <a:gd name="adj" fmla="val 10639"/>
            </a:avLst>
          </a:prstGeom>
          <a:solidFill>
            <a:srgbClr val="F4F7FB"/>
          </a:solidFill>
          <a:ln/>
        </p:spPr>
      </p:sp>
      <p:sp>
        <p:nvSpPr>
          <p:cNvPr id="22" name="Text 15"/>
          <p:cNvSpPr/>
          <p:nvPr/>
        </p:nvSpPr>
        <p:spPr>
          <a:xfrm>
            <a:off x="6963834" y="4183329"/>
            <a:ext cx="1206500" cy="289520"/>
          </a:xfrm>
          <a:custGeom>
            <a:avLst/>
            <a:gdLst/>
            <a:ahLst/>
            <a:cxnLst/>
            <a:rect l="l" t="t" r="r" b="b"/>
            <a:pathLst>
              <a:path w="1206500" h="289520">
                <a:moveTo>
                  <a:pt x="144760" y="0"/>
                </a:moveTo>
                <a:lnTo>
                  <a:pt x="1061740" y="0"/>
                </a:lnTo>
                <a:arcTo hR="144760" wR="144760" stAng="16200000" swAng="5400000"/>
                <a:lnTo>
                  <a:pt x="1206500" y="144760"/>
                </a:lnTo>
                <a:arcTo hR="144760" wR="144760" stAng="0" swAng="5400000"/>
                <a:lnTo>
                  <a:pt x="144760" y="289520"/>
                </a:lnTo>
                <a:arcTo hR="144760" wR="144760" stAng="5400000" swAng="5400000"/>
                <a:lnTo>
                  <a:pt x="0" y="144760"/>
                </a:lnTo>
                <a:arcTo hR="144760" wR="144760" stAng="10800000" swAng="5400000"/>
                <a:close/>
              </a:path>
            </a:pathLst>
          </a:custGeom>
          <a:solidFill>
            <a:srgbClr val="01579B"/>
          </a:solidFill>
          <a:ln/>
        </p:spPr>
        <p:txBody>
          <a:bodyPr wrap="square" lIns="63500" tIns="38100" rIns="63500" bIns="12700" rtlCol="0" anchor="t">
            <a:normAutofit/>
          </a:bodyPr>
          <a:lstStyle/>
          <a:p>
            <a:pPr algn="ctr" indent="0" marL="0">
              <a:lnSpc>
                <a:spcPts val="1680"/>
              </a:lnSpc>
              <a:buNone/>
            </a:pPr>
            <a:r>
              <a:rPr lang="en-US" sz="1200" b="1" dirty="0">
                <a:solidFill>
                  <a:srgbClr val="F4F7FB"/>
                </a:solidFill>
                <a:latin typeface="Inter" pitchFamily="34" charset="0"/>
                <a:ea typeface="Inter" pitchFamily="34" charset="-122"/>
                <a:cs typeface="Inter" pitchFamily="34" charset="-120"/>
              </a:rPr>
              <a:t>Spelling</a:t>
            </a:r>
            <a:endParaRPr lang="en-US" sz="1200" dirty="0"/>
          </a:p>
        </p:txBody>
      </p:sp>
      <p:sp>
        <p:nvSpPr>
          <p:cNvPr id="23" name="Text 16"/>
          <p:cNvSpPr/>
          <p:nvPr/>
        </p:nvSpPr>
        <p:spPr>
          <a:xfrm>
            <a:off x="8297334" y="4183329"/>
            <a:ext cx="275137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2F59"/>
                </a:solidFill>
                <a:latin typeface="Inter" pitchFamily="34" charset="0"/>
                <a:ea typeface="Inter" pitchFamily="34" charset="-122"/>
                <a:cs typeface="Inter" pitchFamily="34" charset="-120"/>
              </a:rPr>
              <a:t>Hamza placement fixed in two words</a:t>
            </a:r>
            <a:endParaRPr lang="en-US" sz="1300" dirty="0"/>
          </a:p>
        </p:txBody>
      </p:sp>
      <p:sp>
        <p:nvSpPr>
          <p:cNvPr id="24" name="Text 17"/>
          <p:cNvSpPr/>
          <p:nvPr/>
        </p:nvSpPr>
        <p:spPr>
          <a:xfrm>
            <a:off x="6811434" y="4950358"/>
            <a:ext cx="11760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Editor decides:</a:t>
            </a:r>
            <a:endParaRPr lang="en-US" sz="1200" dirty="0"/>
          </a:p>
        </p:txBody>
      </p:sp>
      <p:sp>
        <p:nvSpPr>
          <p:cNvPr id="25" name="Text 18"/>
          <p:cNvSpPr/>
          <p:nvPr/>
        </p:nvSpPr>
        <p:spPr>
          <a:xfrm>
            <a:off x="7987506" y="4899558"/>
            <a:ext cx="804532" cy="314920"/>
          </a:xfrm>
          <a:prstGeom prst="roundRect">
            <a:avLst>
              <a:gd name="adj" fmla="val 50000"/>
            </a:avLst>
          </a:prstGeom>
          <a:solidFill>
            <a:srgbClr val="002F59"/>
          </a:solidFill>
          <a:ln/>
        </p:spPr>
        <p:txBody>
          <a:bodyPr wrap="none" lIns="0" tIns="0" rIns="0" bIns="0" rtlCol="0" anchor="ctr">
            <a:normAutofit/>
          </a:bodyPr>
          <a:lstStyle/>
          <a:p>
            <a:pPr algn="ctr" indent="0" marL="0">
              <a:lnSpc>
                <a:spcPts val="1680"/>
              </a:lnSpc>
              <a:buNone/>
            </a:pPr>
            <a:r>
              <a:rPr lang="en-US" sz="1200" b="1" dirty="0">
                <a:solidFill>
                  <a:srgbClr val="F4F7FB"/>
                </a:solidFill>
                <a:latin typeface="Inter" pitchFamily="34" charset="0"/>
                <a:ea typeface="Inter" pitchFamily="34" charset="-122"/>
                <a:cs typeface="Inter" pitchFamily="34" charset="-120"/>
              </a:rPr>
              <a:t>Accept</a:t>
            </a:r>
            <a:endParaRPr lang="en-US" sz="1200" dirty="0"/>
          </a:p>
        </p:txBody>
      </p:sp>
      <p:sp>
        <p:nvSpPr>
          <p:cNvPr id="26" name="Text 19"/>
          <p:cNvSpPr/>
          <p:nvPr/>
        </p:nvSpPr>
        <p:spPr>
          <a:xfrm>
            <a:off x="8899989" y="4905908"/>
            <a:ext cx="752277" cy="302220"/>
          </a:xfrm>
          <a:prstGeom prst="roundRect">
            <a:avLst>
              <a:gd name="adj" fmla="val 50000"/>
            </a:avLst>
          </a:prstGeom>
          <a:noFill/>
          <a:ln w="12700">
            <a:solidFill>
              <a:srgbClr val="002F59"/>
            </a:solidFill>
            <a:prstDash val="solid"/>
          </a:ln>
        </p:spPr>
        <p:txBody>
          <a:bodyPr wrap="none" lIns="0" tIns="0" rIns="0" bIns="0" rtlCol="0" anchor="ctr">
            <a:normAutofit/>
          </a:bodyPr>
          <a:lstStyle/>
          <a:p>
            <a:pPr algn="ctr" indent="0" marL="0">
              <a:lnSpc>
                <a:spcPts val="1680"/>
              </a:lnSpc>
              <a:buNone/>
            </a:pPr>
            <a:r>
              <a:rPr lang="en-US" sz="1200" b="1" dirty="0">
                <a:solidFill>
                  <a:srgbClr val="002F59"/>
                </a:solidFill>
                <a:latin typeface="Inter" pitchFamily="34" charset="0"/>
                <a:ea typeface="Inter" pitchFamily="34" charset="-122"/>
                <a:cs typeface="Inter" pitchFamily="34" charset="-120"/>
              </a:rPr>
              <a:t>Reject</a:t>
            </a:r>
            <a:endParaRPr lang="en-US" sz="1200" dirty="0"/>
          </a:p>
        </p:txBody>
      </p:sp>
      <p:sp>
        <p:nvSpPr>
          <p:cNvPr id="27" name="Text 20"/>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28" name="Text 21"/>
          <p:cNvSpPr/>
          <p:nvPr/>
        </p:nvSpPr>
        <p:spPr>
          <a:xfrm>
            <a:off x="11137702" y="6230609"/>
            <a:ext cx="24149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5667D"/>
                </a:solidFill>
                <a:latin typeface="Inter" pitchFamily="34" charset="0"/>
                <a:ea typeface="Inter" pitchFamily="34" charset="-122"/>
                <a:cs typeface="Inter" pitchFamily="34" charset="-120"/>
              </a:rPr>
              <a:t>01 DISCOVER · 02 DRAFT · 03 REVIEW · </a:t>
            </a:r>
            <a:r>
              <a:rPr lang="en-US" sz="1200" b="1" spc="100" kern="0" dirty="0">
                <a:solidFill>
                  <a:srgbClr val="01579B"/>
                </a:solidFill>
                <a:latin typeface="Inter" pitchFamily="34" charset="0"/>
                <a:ea typeface="Inter" pitchFamily="34" charset="-122"/>
                <a:cs typeface="Inter" pitchFamily="34" charset="-120"/>
              </a:rPr>
              <a:t>04 PUBLISH</a:t>
            </a:r>
            <a:r>
              <a:rPr lang="en-US" sz="1200" spc="100" kern="0" dirty="0">
                <a:solidFill>
                  <a:srgbClr val="55667D"/>
                </a:solidFill>
                <a:latin typeface="Inter" pitchFamily="34" charset="0"/>
                <a:ea typeface="Inter" pitchFamily="34" charset="-122"/>
                <a:cs typeface="Inter" pitchFamily="34" charset="-120"/>
              </a:rPr>
              <a:t> · 05 ENRICH · 06 MEASURE</a:t>
            </a:r>
            <a:endParaRPr lang="en-US" sz="1200" dirty="0"/>
          </a:p>
        </p:txBody>
      </p:sp>
      <p:sp>
        <p:nvSpPr>
          <p:cNvPr id="5" name="Text 1"/>
          <p:cNvSpPr/>
          <p:nvPr>
            <p:ph type="title"/>
          </p:nvPr>
        </p:nvSpPr>
        <p:spPr>
          <a:xfrm>
            <a:off x="812800" y="2026115"/>
            <a:ext cx="5284724" cy="935699"/>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02F59"/>
                </a:solidFill>
                <a:latin typeface="Inter" pitchFamily="34" charset="0"/>
                <a:ea typeface="Inter" pitchFamily="34" charset="-122"/>
                <a:cs typeface="Inter" pitchFamily="34" charset="-120"/>
              </a:rPr>
              <a:t>See every story, spot every bottleneck</a:t>
            </a:r>
            <a:endParaRPr lang="en-US" sz="3200" dirty="0"/>
          </a:p>
        </p:txBody>
      </p:sp>
      <p:sp>
        <p:nvSpPr>
          <p:cNvPr id="6" name="Text 2"/>
          <p:cNvSpPr/>
          <p:nvPr/>
        </p:nvSpPr>
        <p:spPr>
          <a:xfrm>
            <a:off x="812800" y="3139616"/>
            <a:ext cx="5284724"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2536A"/>
                </a:solidFill>
                <a:latin typeface="Inter" pitchFamily="34" charset="0"/>
                <a:ea typeface="Inter" pitchFamily="34" charset="-122"/>
                <a:cs typeface="Inter" pitchFamily="34" charset="-120"/>
              </a:rPr>
              <a:t>Labeeb follows each article across all brand CMSs, from draft to published, so editors-in-chief see where stories wait and how teams perform.</a:t>
            </a:r>
            <a:endParaRPr lang="en-US" sz="1500" dirty="0"/>
          </a:p>
        </p:txBody>
      </p:sp>
      <p:pic>
        <p:nvPicPr>
          <p:cNvPr id="7" name="Image 2" descr="CheckCircle">    </p:cNvPr>
          <p:cNvPicPr>
            <a:picLocks noChangeAspect="1"/>
          </p:cNvPicPr>
          <p:nvPr/>
        </p:nvPicPr>
        <p:blipFill>
          <a:blip r:embed="rId3"/>
          <a:srcRect l="0" r="0" t="0" b="0"/>
          <a:stretch/>
        </p:blipFill>
        <p:spPr>
          <a:xfrm>
            <a:off x="812800" y="4171491"/>
            <a:ext cx="203200" cy="203200"/>
          </a:xfrm>
          <a:prstGeom prst="rect">
            <a:avLst/>
          </a:prstGeom>
        </p:spPr>
      </p:pic>
      <p:sp>
        <p:nvSpPr>
          <p:cNvPr id="8" name="Text 3"/>
          <p:cNvSpPr/>
          <p:nvPr/>
        </p:nvSpPr>
        <p:spPr>
          <a:xfrm>
            <a:off x="1117600" y="4171491"/>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Live status for every article, across every brand</a:t>
            </a:r>
            <a:endParaRPr lang="en-US" sz="1400" dirty="0"/>
          </a:p>
        </p:txBody>
      </p:sp>
      <p:pic>
        <p:nvPicPr>
          <p:cNvPr id="9" name="Image 3" descr="CheckCircle">    </p:cNvPr>
          <p:cNvPicPr>
            <a:picLocks noChangeAspect="1"/>
          </p:cNvPicPr>
          <p:nvPr/>
        </p:nvPicPr>
        <p:blipFill>
          <a:blip r:embed="rId4"/>
          <a:srcRect l="0" r="0" t="0" b="0"/>
          <a:stretch/>
        </p:blipFill>
        <p:spPr>
          <a:xfrm>
            <a:off x="812800" y="4534694"/>
            <a:ext cx="203200" cy="203200"/>
          </a:xfrm>
          <a:prstGeom prst="rect">
            <a:avLst/>
          </a:prstGeom>
        </p:spPr>
      </p:pic>
      <p:sp>
        <p:nvSpPr>
          <p:cNvPr id="10" name="Text 4"/>
          <p:cNvSpPr/>
          <p:nvPr/>
        </p:nvSpPr>
        <p:spPr>
          <a:xfrm>
            <a:off x="1117600" y="4534694"/>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Bottleneck detection at each workflow step</a:t>
            </a:r>
            <a:endParaRPr lang="en-US" sz="1400" dirty="0"/>
          </a:p>
        </p:txBody>
      </p:sp>
      <p:pic>
        <p:nvPicPr>
          <p:cNvPr id="11" name="Image 4" descr="CheckCircle">    </p:cNvPr>
          <p:cNvPicPr>
            <a:picLocks noChangeAspect="1"/>
          </p:cNvPicPr>
          <p:nvPr/>
        </p:nvPicPr>
        <p:blipFill>
          <a:blip r:embed="rId5"/>
          <a:srcRect l="0" r="0" t="0" b="0"/>
          <a:stretch/>
        </p:blipFill>
        <p:spPr>
          <a:xfrm>
            <a:off x="812800" y="4897903"/>
            <a:ext cx="203200" cy="203200"/>
          </a:xfrm>
          <a:prstGeom prst="rect">
            <a:avLst/>
          </a:prstGeom>
        </p:spPr>
      </p:pic>
      <p:sp>
        <p:nvSpPr>
          <p:cNvPr id="12" name="Text 5"/>
          <p:cNvSpPr/>
          <p:nvPr/>
        </p:nvSpPr>
        <p:spPr>
          <a:xfrm>
            <a:off x="1117600" y="4897903"/>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Editorial team productivity at a glance</a:t>
            </a:r>
            <a:endParaRPr lang="en-US" sz="1400" dirty="0"/>
          </a:p>
        </p:txBody>
      </p:sp>
      <p:sp>
        <p:nvSpPr>
          <p:cNvPr id="13" name="Shape 6"/>
          <p:cNvSpPr/>
          <p:nvPr/>
        </p:nvSpPr>
        <p:spPr>
          <a:xfrm>
            <a:off x="6553200" y="2038418"/>
            <a:ext cx="4826000" cy="3096022"/>
          </a:xfrm>
          <a:prstGeom prst="roundRect">
            <a:avLst>
              <a:gd name="adj" fmla="val 4922"/>
            </a:avLst>
          </a:prstGeom>
          <a:solidFill>
            <a:srgbClr val="002F59"/>
          </a:solidFill>
          <a:ln/>
        </p:spPr>
      </p:sp>
      <p:sp>
        <p:nvSpPr>
          <p:cNvPr id="14" name="Text 7"/>
          <p:cNvSpPr/>
          <p:nvPr/>
        </p:nvSpPr>
        <p:spPr>
          <a:xfrm>
            <a:off x="6807200" y="2292418"/>
            <a:ext cx="44475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Workflow · all brands, today</a:t>
            </a:r>
            <a:endParaRPr lang="en-US" sz="1600" dirty="0"/>
          </a:p>
        </p:txBody>
      </p:sp>
      <p:sp>
        <p:nvSpPr>
          <p:cNvPr id="15" name="Text 8"/>
          <p:cNvSpPr/>
          <p:nvPr/>
        </p:nvSpPr>
        <p:spPr>
          <a:xfrm>
            <a:off x="6807200" y="2688630"/>
            <a:ext cx="11938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Draft</a:t>
            </a:r>
            <a:endParaRPr lang="en-US" sz="1300" dirty="0"/>
          </a:p>
        </p:txBody>
      </p:sp>
      <p:sp>
        <p:nvSpPr>
          <p:cNvPr id="16" name="Shape 9"/>
          <p:cNvSpPr/>
          <p:nvPr/>
        </p:nvSpPr>
        <p:spPr>
          <a:xfrm>
            <a:off x="8077200" y="2715289"/>
            <a:ext cx="1397000" cy="177800"/>
          </a:xfrm>
          <a:prstGeom prst="roundRect">
            <a:avLst>
              <a:gd name="adj" fmla="val 50000"/>
            </a:avLst>
          </a:prstGeom>
          <a:solidFill>
            <a:srgbClr val="6AA6DE"/>
          </a:solidFill>
          <a:ln/>
        </p:spPr>
      </p:sp>
      <p:sp>
        <p:nvSpPr>
          <p:cNvPr id="17" name="Text 10"/>
          <p:cNvSpPr/>
          <p:nvPr/>
        </p:nvSpPr>
        <p:spPr>
          <a:xfrm>
            <a:off x="6807200" y="3034047"/>
            <a:ext cx="11938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In review</a:t>
            </a:r>
            <a:endParaRPr lang="en-US" sz="1300" dirty="0"/>
          </a:p>
        </p:txBody>
      </p:sp>
      <p:sp>
        <p:nvSpPr>
          <p:cNvPr id="18" name="Shape 11"/>
          <p:cNvSpPr/>
          <p:nvPr/>
        </p:nvSpPr>
        <p:spPr>
          <a:xfrm>
            <a:off x="8077200" y="3060700"/>
            <a:ext cx="1905000" cy="177800"/>
          </a:xfrm>
          <a:prstGeom prst="roundRect">
            <a:avLst>
              <a:gd name="adj" fmla="val 50000"/>
            </a:avLst>
          </a:prstGeom>
          <a:solidFill>
            <a:srgbClr val="5DB8F0"/>
          </a:solidFill>
          <a:ln/>
        </p:spPr>
      </p:sp>
      <p:sp>
        <p:nvSpPr>
          <p:cNvPr id="19" name="Text 12"/>
          <p:cNvSpPr/>
          <p:nvPr/>
        </p:nvSpPr>
        <p:spPr>
          <a:xfrm>
            <a:off x="10109200" y="3042909"/>
            <a:ext cx="9467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8F0"/>
                </a:solidFill>
                <a:latin typeface="Inter" pitchFamily="34" charset="0"/>
                <a:ea typeface="Inter" pitchFamily="34" charset="-122"/>
                <a:cs typeface="Inter" pitchFamily="34" charset="-120"/>
              </a:rPr>
              <a:t>Bottleneck</a:t>
            </a:r>
            <a:endParaRPr lang="en-US" sz="1200" dirty="0"/>
          </a:p>
        </p:txBody>
      </p:sp>
      <p:sp>
        <p:nvSpPr>
          <p:cNvPr id="20" name="Text 13"/>
          <p:cNvSpPr/>
          <p:nvPr/>
        </p:nvSpPr>
        <p:spPr>
          <a:xfrm>
            <a:off x="6807200" y="3379459"/>
            <a:ext cx="11938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Editing</a:t>
            </a:r>
            <a:endParaRPr lang="en-US" sz="1300" dirty="0"/>
          </a:p>
        </p:txBody>
      </p:sp>
      <p:sp>
        <p:nvSpPr>
          <p:cNvPr id="21" name="Shape 14"/>
          <p:cNvSpPr/>
          <p:nvPr/>
        </p:nvSpPr>
        <p:spPr>
          <a:xfrm>
            <a:off x="8077200" y="3406118"/>
            <a:ext cx="1016000" cy="177800"/>
          </a:xfrm>
          <a:prstGeom prst="roundRect">
            <a:avLst>
              <a:gd name="adj" fmla="val 50000"/>
            </a:avLst>
          </a:prstGeom>
          <a:solidFill>
            <a:srgbClr val="6AA6DE"/>
          </a:solidFill>
          <a:ln/>
        </p:spPr>
      </p:sp>
      <p:sp>
        <p:nvSpPr>
          <p:cNvPr id="22" name="Text 15"/>
          <p:cNvSpPr/>
          <p:nvPr/>
        </p:nvSpPr>
        <p:spPr>
          <a:xfrm>
            <a:off x="6807200" y="3724870"/>
            <a:ext cx="11938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Approved</a:t>
            </a:r>
            <a:endParaRPr lang="en-US" sz="1300" dirty="0"/>
          </a:p>
        </p:txBody>
      </p:sp>
      <p:sp>
        <p:nvSpPr>
          <p:cNvPr id="23" name="Shape 16"/>
          <p:cNvSpPr/>
          <p:nvPr/>
        </p:nvSpPr>
        <p:spPr>
          <a:xfrm>
            <a:off x="8077200" y="3751529"/>
            <a:ext cx="762000" cy="177800"/>
          </a:xfrm>
          <a:prstGeom prst="roundRect">
            <a:avLst>
              <a:gd name="adj" fmla="val 50000"/>
            </a:avLst>
          </a:prstGeom>
          <a:solidFill>
            <a:srgbClr val="6AA6DE"/>
          </a:solidFill>
          <a:ln/>
        </p:spPr>
      </p:sp>
      <p:sp>
        <p:nvSpPr>
          <p:cNvPr id="24" name="Text 17"/>
          <p:cNvSpPr/>
          <p:nvPr/>
        </p:nvSpPr>
        <p:spPr>
          <a:xfrm>
            <a:off x="6807200" y="4070288"/>
            <a:ext cx="11938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Published</a:t>
            </a:r>
            <a:endParaRPr lang="en-US" sz="1300" dirty="0"/>
          </a:p>
        </p:txBody>
      </p:sp>
      <p:sp>
        <p:nvSpPr>
          <p:cNvPr id="25" name="Shape 18"/>
          <p:cNvSpPr/>
          <p:nvPr/>
        </p:nvSpPr>
        <p:spPr>
          <a:xfrm>
            <a:off x="8077200" y="4096941"/>
            <a:ext cx="1651000" cy="177800"/>
          </a:xfrm>
          <a:prstGeom prst="roundRect">
            <a:avLst>
              <a:gd name="adj" fmla="val 50000"/>
            </a:avLst>
          </a:prstGeom>
          <a:solidFill>
            <a:srgbClr val="6AA6DE"/>
          </a:solidFill>
          <a:ln/>
        </p:spPr>
      </p:sp>
      <p:sp>
        <p:nvSpPr>
          <p:cNvPr id="26" name="Text 19"/>
          <p:cNvSpPr/>
          <p:nvPr/>
        </p:nvSpPr>
        <p:spPr>
          <a:xfrm>
            <a:off x="6807200" y="4453799"/>
            <a:ext cx="4447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Illustrative view · bar length = articles currently in each status</a:t>
            </a:r>
            <a:endParaRPr lang="en-US" sz="1200" dirty="0"/>
          </a:p>
        </p:txBody>
      </p:sp>
      <p:sp>
        <p:nvSpPr>
          <p:cNvPr id="27" name="Text 20"/>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28" name="Text 21"/>
          <p:cNvSpPr/>
          <p:nvPr/>
        </p:nvSpPr>
        <p:spPr>
          <a:xfrm>
            <a:off x="11170245" y="6230609"/>
            <a:ext cx="20895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5667D"/>
                </a:solidFill>
                <a:latin typeface="Inter" pitchFamily="34" charset="0"/>
                <a:ea typeface="Inter" pitchFamily="34" charset="-122"/>
                <a:cs typeface="Inter" pitchFamily="34" charset="-120"/>
              </a:rPr>
              <a:t>01 DISCOVER · 02 DRAFT · 03 REVIEW · 04 PUBLISH · </a:t>
            </a:r>
            <a:r>
              <a:rPr lang="en-US" sz="1200" b="1" spc="100" kern="0" dirty="0">
                <a:solidFill>
                  <a:srgbClr val="01579B"/>
                </a:solidFill>
                <a:latin typeface="Inter" pitchFamily="34" charset="0"/>
                <a:ea typeface="Inter" pitchFamily="34" charset="-122"/>
                <a:cs typeface="Inter" pitchFamily="34" charset="-120"/>
              </a:rPr>
              <a:t>05 ENRICH</a:t>
            </a:r>
            <a:r>
              <a:rPr lang="en-US" sz="1200" spc="100" kern="0" dirty="0">
                <a:solidFill>
                  <a:srgbClr val="55667D"/>
                </a:solidFill>
                <a:latin typeface="Inter" pitchFamily="34" charset="0"/>
                <a:ea typeface="Inter" pitchFamily="34" charset="-122"/>
                <a:cs typeface="Inter" pitchFamily="34" charset="-120"/>
              </a:rPr>
              <a:t> · 06 MEASURE</a:t>
            </a:r>
            <a:endParaRPr lang="en-US" sz="1200" dirty="0"/>
          </a:p>
        </p:txBody>
      </p:sp>
      <p:sp>
        <p:nvSpPr>
          <p:cNvPr id="5"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2F59"/>
                </a:solidFill>
                <a:latin typeface="Inter" pitchFamily="34" charset="0"/>
                <a:ea typeface="Inter" pitchFamily="34" charset="-122"/>
                <a:cs typeface="Inter" pitchFamily="34" charset="-120"/>
              </a:rPr>
              <a:t>One story, every format</a:t>
            </a:r>
            <a:endParaRPr lang="en-US" sz="3600" dirty="0"/>
          </a:p>
        </p:txBody>
      </p:sp>
      <p:sp>
        <p:nvSpPr>
          <p:cNvPr id="6" name="Text 2"/>
          <p:cNvSpPr/>
          <p:nvPr/>
        </p:nvSpPr>
        <p:spPr>
          <a:xfrm>
            <a:off x="812800" y="1732229"/>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1579B"/>
                </a:solidFill>
                <a:latin typeface="Inter" pitchFamily="34" charset="0"/>
                <a:ea typeface="Inter" pitchFamily="34" charset="-122"/>
                <a:cs typeface="Inter" pitchFamily="34" charset="-120"/>
              </a:rPr>
              <a:t>Plug &amp; play modular services</a:t>
            </a:r>
            <a:r>
              <a:rPr lang="en-US" sz="1400" dirty="0">
                <a:solidFill>
                  <a:srgbClr val="42536A"/>
                </a:solidFill>
                <a:latin typeface="Inter" pitchFamily="34" charset="0"/>
                <a:ea typeface="Inter" pitchFamily="34" charset="-122"/>
                <a:cs typeface="Inter" pitchFamily="34" charset="-120"/>
              </a:rPr>
              <a:t> — integrated into every one of our brands’ outlets.</a:t>
            </a:r>
            <a:endParaRPr lang="en-US" sz="1400" dirty="0"/>
          </a:p>
        </p:txBody>
      </p:sp>
      <p:sp>
        <p:nvSpPr>
          <p:cNvPr id="7" name="Shape 3"/>
          <p:cNvSpPr/>
          <p:nvPr/>
        </p:nvSpPr>
        <p:spPr>
          <a:xfrm>
            <a:off x="815975" y="2776407"/>
            <a:ext cx="3295650" cy="2575057"/>
          </a:xfrm>
          <a:prstGeom prst="roundRect">
            <a:avLst>
              <a:gd name="adj" fmla="val 4809"/>
            </a:avLst>
          </a:prstGeom>
          <a:solidFill>
            <a:srgbClr val="FCFDFE"/>
          </a:solidFill>
          <a:ln w="6350">
            <a:solidFill>
              <a:srgbClr val="D3DEEA"/>
            </a:solidFill>
            <a:prstDash val="solid"/>
          </a:ln>
        </p:spPr>
      </p:sp>
      <p:sp>
        <p:nvSpPr>
          <p:cNvPr id="8" name="Text 4"/>
          <p:cNvSpPr/>
          <p:nvPr/>
        </p:nvSpPr>
        <p:spPr>
          <a:xfrm>
            <a:off x="1077383" y="3037818"/>
            <a:ext cx="1469760" cy="302220"/>
          </a:xfrm>
          <a:prstGeom prst="roundRect">
            <a:avLst>
              <a:gd name="adj" fmla="val 50000"/>
            </a:avLst>
          </a:prstGeom>
          <a:noFill/>
          <a:ln w="12700">
            <a:solidFill>
              <a:srgbClr val="01579B"/>
            </a:solidFill>
            <a:prstDash val="solid"/>
          </a:ln>
        </p:spPr>
        <p:txBody>
          <a:bodyPr wrap="none" lIns="0" tIns="0" rIns="0" bIns="0" rtlCol="0" anchor="ctr">
            <a:normAutofit/>
          </a:bodyPr>
          <a:lstStyle/>
          <a:p>
            <a:pPr algn="ctr" indent="0" marL="0">
              <a:lnSpc>
                <a:spcPts val="1680"/>
              </a:lnSpc>
              <a:buNone/>
            </a:pPr>
            <a:r>
              <a:rPr lang="en-US" sz="1200" b="1" dirty="0">
                <a:solidFill>
                  <a:srgbClr val="01579B"/>
                </a:solidFill>
                <a:latin typeface="Inter" pitchFamily="34" charset="0"/>
                <a:ea typeface="Inter" pitchFamily="34" charset="-122"/>
                <a:cs typeface="Inter" pitchFamily="34" charset="-120"/>
              </a:rPr>
              <a:t>Alaraby Aljadeed</a:t>
            </a:r>
            <a:endParaRPr lang="en-US" sz="1200" dirty="0"/>
          </a:p>
        </p:txBody>
      </p:sp>
      <p:sp>
        <p:nvSpPr>
          <p:cNvPr id="9" name="Text 5"/>
          <p:cNvSpPr/>
          <p:nvPr/>
        </p:nvSpPr>
        <p:spPr>
          <a:xfrm>
            <a:off x="1071033" y="3460688"/>
            <a:ext cx="286909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F59"/>
                </a:solidFill>
                <a:latin typeface="Inter" pitchFamily="34" charset="0"/>
                <a:ea typeface="Inter" pitchFamily="34" charset="-122"/>
                <a:cs typeface="Inter" pitchFamily="34" charset="-120"/>
              </a:rPr>
              <a:t>Published article</a:t>
            </a:r>
            <a:endParaRPr lang="en-US" sz="1800" dirty="0"/>
          </a:p>
        </p:txBody>
      </p:sp>
      <p:sp>
        <p:nvSpPr>
          <p:cNvPr id="10" name="Shape 6"/>
          <p:cNvSpPr/>
          <p:nvPr/>
        </p:nvSpPr>
        <p:spPr>
          <a:xfrm>
            <a:off x="1071033" y="3849291"/>
            <a:ext cx="2794000" cy="88900"/>
          </a:xfrm>
          <a:prstGeom prst="roundRect">
            <a:avLst>
              <a:gd name="adj" fmla="val 50000"/>
            </a:avLst>
          </a:prstGeom>
          <a:solidFill>
            <a:srgbClr val="D3DEEA"/>
          </a:solidFill>
          <a:ln/>
        </p:spPr>
      </p:sp>
      <p:sp>
        <p:nvSpPr>
          <p:cNvPr id="11" name="Shape 7"/>
          <p:cNvSpPr/>
          <p:nvPr/>
        </p:nvSpPr>
        <p:spPr>
          <a:xfrm>
            <a:off x="1071033" y="4052491"/>
            <a:ext cx="2794000" cy="88900"/>
          </a:xfrm>
          <a:prstGeom prst="roundRect">
            <a:avLst>
              <a:gd name="adj" fmla="val 50000"/>
            </a:avLst>
          </a:prstGeom>
          <a:solidFill>
            <a:srgbClr val="D3DEEA"/>
          </a:solidFill>
          <a:ln/>
        </p:spPr>
      </p:sp>
      <p:sp>
        <p:nvSpPr>
          <p:cNvPr id="12" name="Shape 8"/>
          <p:cNvSpPr/>
          <p:nvPr/>
        </p:nvSpPr>
        <p:spPr>
          <a:xfrm>
            <a:off x="1071033" y="4255691"/>
            <a:ext cx="2540000" cy="88900"/>
          </a:xfrm>
          <a:prstGeom prst="roundRect">
            <a:avLst>
              <a:gd name="adj" fmla="val 50000"/>
            </a:avLst>
          </a:prstGeom>
          <a:solidFill>
            <a:srgbClr val="D3DEEA"/>
          </a:solidFill>
          <a:ln/>
        </p:spPr>
      </p:sp>
      <p:sp>
        <p:nvSpPr>
          <p:cNvPr id="13" name="Shape 9"/>
          <p:cNvSpPr/>
          <p:nvPr/>
        </p:nvSpPr>
        <p:spPr>
          <a:xfrm>
            <a:off x="1071033" y="4458891"/>
            <a:ext cx="2667000" cy="88900"/>
          </a:xfrm>
          <a:prstGeom prst="roundRect">
            <a:avLst>
              <a:gd name="adj" fmla="val 50000"/>
            </a:avLst>
          </a:prstGeom>
          <a:solidFill>
            <a:srgbClr val="D3DEEA"/>
          </a:solidFill>
          <a:ln/>
        </p:spPr>
      </p:sp>
      <p:sp>
        <p:nvSpPr>
          <p:cNvPr id="14" name="Shape 10"/>
          <p:cNvSpPr/>
          <p:nvPr/>
        </p:nvSpPr>
        <p:spPr>
          <a:xfrm>
            <a:off x="1071033" y="4662091"/>
            <a:ext cx="1651000" cy="88900"/>
          </a:xfrm>
          <a:prstGeom prst="roundRect">
            <a:avLst>
              <a:gd name="adj" fmla="val 50000"/>
            </a:avLst>
          </a:prstGeom>
          <a:solidFill>
            <a:srgbClr val="D3DEEA"/>
          </a:solidFill>
          <a:ln/>
        </p:spPr>
      </p:sp>
      <p:sp>
        <p:nvSpPr>
          <p:cNvPr id="15" name="Text 11"/>
          <p:cNvSpPr/>
          <p:nvPr/>
        </p:nvSpPr>
        <p:spPr>
          <a:xfrm>
            <a:off x="1071033" y="4865291"/>
            <a:ext cx="286909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Written once by the newsroom</a:t>
            </a:r>
            <a:endParaRPr lang="en-US" sz="1300" dirty="0"/>
          </a:p>
        </p:txBody>
      </p:sp>
      <p:pic>
        <p:nvPicPr>
          <p:cNvPr id="16" name="Image 2" descr="arrow-right">    </p:cNvPr>
          <p:cNvPicPr>
            <a:picLocks noChangeAspect="1"/>
          </p:cNvPicPr>
          <p:nvPr/>
        </p:nvPicPr>
        <p:blipFill>
          <a:blip r:embed="rId3"/>
          <a:srcRect l="0" r="0" t="0" b="0"/>
          <a:stretch/>
        </p:blipFill>
        <p:spPr>
          <a:xfrm>
            <a:off x="4419600" y="3911538"/>
            <a:ext cx="609600" cy="304800"/>
          </a:xfrm>
          <a:prstGeom prst="rect">
            <a:avLst/>
          </a:prstGeom>
        </p:spPr>
      </p:pic>
      <p:sp>
        <p:nvSpPr>
          <p:cNvPr id="17" name="Shape 12"/>
          <p:cNvSpPr/>
          <p:nvPr/>
        </p:nvSpPr>
        <p:spPr>
          <a:xfrm>
            <a:off x="5337175" y="2439925"/>
            <a:ext cx="6038850" cy="731044"/>
          </a:xfrm>
          <a:prstGeom prst="roundRect">
            <a:avLst>
              <a:gd name="adj" fmla="val 13464"/>
            </a:avLst>
          </a:prstGeom>
          <a:solidFill>
            <a:srgbClr val="FCFDFE"/>
          </a:solidFill>
          <a:ln w="6350">
            <a:solidFill>
              <a:srgbClr val="D3DEEA"/>
            </a:solidFill>
            <a:prstDash val="solid"/>
          </a:ln>
        </p:spPr>
      </p:sp>
      <p:sp>
        <p:nvSpPr>
          <p:cNvPr id="18" name="Shape 13"/>
          <p:cNvSpPr/>
          <p:nvPr/>
        </p:nvSpPr>
        <p:spPr>
          <a:xfrm>
            <a:off x="5541433" y="2576847"/>
            <a:ext cx="457200" cy="457200"/>
          </a:xfrm>
          <a:prstGeom prst="roundRect">
            <a:avLst>
              <a:gd name="adj" fmla="val 22222"/>
            </a:avLst>
          </a:prstGeom>
          <a:solidFill>
            <a:srgbClr val="002F59"/>
          </a:solidFill>
          <a:ln/>
        </p:spPr>
      </p:sp>
      <p:pic>
        <p:nvPicPr>
          <p:cNvPr id="19" name="Image 3" descr="Play">    </p:cNvPr>
          <p:cNvPicPr>
            <a:picLocks noChangeAspect="1"/>
          </p:cNvPicPr>
          <p:nvPr/>
        </p:nvPicPr>
        <p:blipFill>
          <a:blip r:embed="rId4"/>
          <a:srcRect l="0" r="0" t="0" b="0"/>
          <a:stretch/>
        </p:blipFill>
        <p:spPr>
          <a:xfrm>
            <a:off x="5643033" y="2678447"/>
            <a:ext cx="254000" cy="254000"/>
          </a:xfrm>
          <a:prstGeom prst="rect">
            <a:avLst/>
          </a:prstGeom>
        </p:spPr>
      </p:pic>
      <p:sp>
        <p:nvSpPr>
          <p:cNvPr id="20" name="Text 14"/>
          <p:cNvSpPr/>
          <p:nvPr/>
        </p:nvSpPr>
        <p:spPr>
          <a:xfrm>
            <a:off x="6176433" y="2555280"/>
            <a:ext cx="514519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2F59"/>
                </a:solidFill>
                <a:latin typeface="Inter" pitchFamily="34" charset="0"/>
                <a:ea typeface="Inter" pitchFamily="34" charset="-122"/>
                <a:cs typeface="Inter" pitchFamily="34" charset="-120"/>
              </a:rPr>
              <a:t>Text-to-speech</a:t>
            </a:r>
            <a:endParaRPr lang="en-US" sz="1600" dirty="0"/>
          </a:p>
        </p:txBody>
      </p:sp>
      <p:sp>
        <p:nvSpPr>
          <p:cNvPr id="21" name="Text 15"/>
          <p:cNvSpPr/>
          <p:nvPr/>
        </p:nvSpPr>
        <p:spPr>
          <a:xfrm>
            <a:off x="6176433" y="2824497"/>
            <a:ext cx="514519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Every article as natural Arabic audio</a:t>
            </a:r>
            <a:endParaRPr lang="en-US" sz="1300" dirty="0"/>
          </a:p>
        </p:txBody>
      </p:sp>
      <p:sp>
        <p:nvSpPr>
          <p:cNvPr id="22" name="Shape 16"/>
          <p:cNvSpPr/>
          <p:nvPr/>
        </p:nvSpPr>
        <p:spPr>
          <a:xfrm>
            <a:off x="5337175" y="3278919"/>
            <a:ext cx="6038850" cy="731044"/>
          </a:xfrm>
          <a:prstGeom prst="roundRect">
            <a:avLst>
              <a:gd name="adj" fmla="val 13464"/>
            </a:avLst>
          </a:prstGeom>
          <a:solidFill>
            <a:srgbClr val="FCFDFE"/>
          </a:solidFill>
          <a:ln w="6350">
            <a:solidFill>
              <a:srgbClr val="D3DEEA"/>
            </a:solidFill>
            <a:prstDash val="solid"/>
          </a:ln>
        </p:spPr>
      </p:sp>
      <p:sp>
        <p:nvSpPr>
          <p:cNvPr id="23" name="Shape 17"/>
          <p:cNvSpPr/>
          <p:nvPr/>
        </p:nvSpPr>
        <p:spPr>
          <a:xfrm>
            <a:off x="5541433" y="3415841"/>
            <a:ext cx="457200" cy="457200"/>
          </a:xfrm>
          <a:prstGeom prst="roundRect">
            <a:avLst>
              <a:gd name="adj" fmla="val 22222"/>
            </a:avLst>
          </a:prstGeom>
          <a:solidFill>
            <a:srgbClr val="002F59"/>
          </a:solidFill>
          <a:ln/>
        </p:spPr>
      </p:sp>
      <p:pic>
        <p:nvPicPr>
          <p:cNvPr id="24" name="Image 4" descr="Book">    </p:cNvPr>
          <p:cNvPicPr>
            <a:picLocks noChangeAspect="1"/>
          </p:cNvPicPr>
          <p:nvPr/>
        </p:nvPicPr>
        <p:blipFill>
          <a:blip r:embed="rId5"/>
          <a:srcRect l="0" r="0" t="0" b="0"/>
          <a:stretch/>
        </p:blipFill>
        <p:spPr>
          <a:xfrm>
            <a:off x="5643033" y="3517441"/>
            <a:ext cx="254000" cy="254000"/>
          </a:xfrm>
          <a:prstGeom prst="rect">
            <a:avLst/>
          </a:prstGeom>
        </p:spPr>
      </p:pic>
      <p:sp>
        <p:nvSpPr>
          <p:cNvPr id="25" name="Text 18"/>
          <p:cNvSpPr/>
          <p:nvPr/>
        </p:nvSpPr>
        <p:spPr>
          <a:xfrm>
            <a:off x="6176433" y="3394273"/>
            <a:ext cx="514519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2F59"/>
                </a:solidFill>
                <a:latin typeface="Inter" pitchFamily="34" charset="0"/>
                <a:ea typeface="Inter" pitchFamily="34" charset="-122"/>
                <a:cs typeface="Inter" pitchFamily="34" charset="-120"/>
              </a:rPr>
              <a:t>Summarization</a:t>
            </a:r>
            <a:endParaRPr lang="en-US" sz="1600" dirty="0"/>
          </a:p>
        </p:txBody>
      </p:sp>
      <p:sp>
        <p:nvSpPr>
          <p:cNvPr id="26" name="Text 19"/>
          <p:cNvSpPr/>
          <p:nvPr/>
        </p:nvSpPr>
        <p:spPr>
          <a:xfrm>
            <a:off x="6176433" y="3663491"/>
            <a:ext cx="514519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Key points for readers at a glance</a:t>
            </a:r>
            <a:endParaRPr lang="en-US" sz="1300" dirty="0"/>
          </a:p>
        </p:txBody>
      </p:sp>
      <p:sp>
        <p:nvSpPr>
          <p:cNvPr id="27" name="Shape 20"/>
          <p:cNvSpPr/>
          <p:nvPr/>
        </p:nvSpPr>
        <p:spPr>
          <a:xfrm>
            <a:off x="5337175" y="4117913"/>
            <a:ext cx="6038850" cy="731044"/>
          </a:xfrm>
          <a:prstGeom prst="roundRect">
            <a:avLst>
              <a:gd name="adj" fmla="val 13464"/>
            </a:avLst>
          </a:prstGeom>
          <a:solidFill>
            <a:srgbClr val="FCFDFE"/>
          </a:solidFill>
          <a:ln w="6350">
            <a:solidFill>
              <a:srgbClr val="D3DEEA"/>
            </a:solidFill>
            <a:prstDash val="solid"/>
          </a:ln>
        </p:spPr>
      </p:sp>
      <p:sp>
        <p:nvSpPr>
          <p:cNvPr id="28" name="Shape 21"/>
          <p:cNvSpPr/>
          <p:nvPr/>
        </p:nvSpPr>
        <p:spPr>
          <a:xfrm>
            <a:off x="5541433" y="4254835"/>
            <a:ext cx="457200" cy="457200"/>
          </a:xfrm>
          <a:prstGeom prst="roundRect">
            <a:avLst>
              <a:gd name="adj" fmla="val 22222"/>
            </a:avLst>
          </a:prstGeom>
          <a:solidFill>
            <a:srgbClr val="002F59"/>
          </a:solidFill>
          <a:ln/>
        </p:spPr>
      </p:sp>
      <p:pic>
        <p:nvPicPr>
          <p:cNvPr id="29" name="Image 5" descr="Chat">    </p:cNvPr>
          <p:cNvPicPr>
            <a:picLocks noChangeAspect="1"/>
          </p:cNvPicPr>
          <p:nvPr/>
        </p:nvPicPr>
        <p:blipFill>
          <a:blip r:embed="rId6"/>
          <a:srcRect l="0" r="0" t="0" b="0"/>
          <a:stretch/>
        </p:blipFill>
        <p:spPr>
          <a:xfrm>
            <a:off x="5643033" y="4356435"/>
            <a:ext cx="254000" cy="254000"/>
          </a:xfrm>
          <a:prstGeom prst="rect">
            <a:avLst/>
          </a:prstGeom>
        </p:spPr>
      </p:pic>
      <p:sp>
        <p:nvSpPr>
          <p:cNvPr id="30" name="Text 22"/>
          <p:cNvSpPr/>
          <p:nvPr/>
        </p:nvSpPr>
        <p:spPr>
          <a:xfrm>
            <a:off x="6176433" y="4233267"/>
            <a:ext cx="514519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2F59"/>
                </a:solidFill>
                <a:latin typeface="Inter" pitchFamily="34" charset="0"/>
                <a:ea typeface="Inter" pitchFamily="34" charset="-122"/>
                <a:cs typeface="Inter" pitchFamily="34" charset="-120"/>
              </a:rPr>
              <a:t>AI-generated podcast</a:t>
            </a:r>
            <a:endParaRPr lang="en-US" sz="1600" dirty="0"/>
          </a:p>
        </p:txBody>
      </p:sp>
      <p:sp>
        <p:nvSpPr>
          <p:cNvPr id="31" name="Text 23"/>
          <p:cNvSpPr/>
          <p:nvPr/>
        </p:nvSpPr>
        <p:spPr>
          <a:xfrm>
            <a:off x="6176433" y="4502485"/>
            <a:ext cx="514519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Articles turned into conversational audio</a:t>
            </a:r>
            <a:endParaRPr lang="en-US" sz="1300" dirty="0"/>
          </a:p>
        </p:txBody>
      </p:sp>
      <p:sp>
        <p:nvSpPr>
          <p:cNvPr id="32" name="Shape 24"/>
          <p:cNvSpPr/>
          <p:nvPr/>
        </p:nvSpPr>
        <p:spPr>
          <a:xfrm>
            <a:off x="5337175" y="4956907"/>
            <a:ext cx="6038850" cy="731044"/>
          </a:xfrm>
          <a:prstGeom prst="roundRect">
            <a:avLst>
              <a:gd name="adj" fmla="val 13464"/>
            </a:avLst>
          </a:prstGeom>
          <a:solidFill>
            <a:srgbClr val="FCFDFE"/>
          </a:solidFill>
          <a:ln w="6350">
            <a:solidFill>
              <a:srgbClr val="D3DEEA"/>
            </a:solidFill>
            <a:prstDash val="solid"/>
          </a:ln>
        </p:spPr>
      </p:sp>
      <p:sp>
        <p:nvSpPr>
          <p:cNvPr id="33" name="Shape 25"/>
          <p:cNvSpPr/>
          <p:nvPr/>
        </p:nvSpPr>
        <p:spPr>
          <a:xfrm>
            <a:off x="5541433" y="5093829"/>
            <a:ext cx="457200" cy="457200"/>
          </a:xfrm>
          <a:prstGeom prst="roundRect">
            <a:avLst>
              <a:gd name="adj" fmla="val 22222"/>
            </a:avLst>
          </a:prstGeom>
          <a:solidFill>
            <a:srgbClr val="002F59"/>
          </a:solidFill>
          <a:ln/>
        </p:spPr>
      </p:sp>
      <p:pic>
        <p:nvPicPr>
          <p:cNvPr id="34" name="Image 6" descr="Globe">    </p:cNvPr>
          <p:cNvPicPr>
            <a:picLocks noChangeAspect="1"/>
          </p:cNvPicPr>
          <p:nvPr/>
        </p:nvPicPr>
        <p:blipFill>
          <a:blip r:embed="rId7"/>
          <a:srcRect l="0" r="0" t="0" b="0"/>
          <a:stretch/>
        </p:blipFill>
        <p:spPr>
          <a:xfrm>
            <a:off x="5643033" y="5195429"/>
            <a:ext cx="254000" cy="254000"/>
          </a:xfrm>
          <a:prstGeom prst="rect">
            <a:avLst/>
          </a:prstGeom>
        </p:spPr>
      </p:pic>
      <p:sp>
        <p:nvSpPr>
          <p:cNvPr id="35" name="Text 26"/>
          <p:cNvSpPr/>
          <p:nvPr/>
        </p:nvSpPr>
        <p:spPr>
          <a:xfrm>
            <a:off x="6176433" y="5072261"/>
            <a:ext cx="514519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2F59"/>
                </a:solidFill>
                <a:latin typeface="Inter" pitchFamily="34" charset="0"/>
                <a:ea typeface="Inter" pitchFamily="34" charset="-122"/>
                <a:cs typeface="Inter" pitchFamily="34" charset="-120"/>
              </a:rPr>
              <a:t>Translation</a:t>
            </a:r>
            <a:endParaRPr lang="en-US" sz="1600" dirty="0"/>
          </a:p>
        </p:txBody>
      </p:sp>
      <p:sp>
        <p:nvSpPr>
          <p:cNvPr id="36" name="Text 27"/>
          <p:cNvSpPr/>
          <p:nvPr/>
        </p:nvSpPr>
        <p:spPr>
          <a:xfrm>
            <a:off x="6176433" y="5341479"/>
            <a:ext cx="514519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Stories translated to reach new audiences</a:t>
            </a:r>
            <a:endParaRPr lang="en-US" sz="1300" dirty="0"/>
          </a:p>
        </p:txBody>
      </p:sp>
      <p:sp>
        <p:nvSpPr>
          <p:cNvPr id="37" name="Text 28"/>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38" name="Text 29"/>
          <p:cNvSpPr/>
          <p:nvPr/>
        </p:nvSpPr>
        <p:spPr>
          <a:xfrm>
            <a:off x="11204377" y="6230609"/>
            <a:ext cx="17482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5667D"/>
                </a:solidFill>
                <a:latin typeface="Inter" pitchFamily="34" charset="0"/>
                <a:ea typeface="Inter" pitchFamily="34" charset="-122"/>
                <a:cs typeface="Inter" pitchFamily="34" charset="-120"/>
              </a:rPr>
              <a:t>01 DISCOVER · 02 DRAFT · 03 REVIEW · 04 PUBLISH · </a:t>
            </a:r>
            <a:r>
              <a:rPr lang="en-US" sz="1200" b="1" spc="100" kern="0" dirty="0">
                <a:solidFill>
                  <a:srgbClr val="01579B"/>
                </a:solidFill>
                <a:latin typeface="Inter" pitchFamily="34" charset="0"/>
                <a:ea typeface="Inter" pitchFamily="34" charset="-122"/>
                <a:cs typeface="Inter" pitchFamily="34" charset="-120"/>
              </a:rPr>
              <a:t>05 ENRICH</a:t>
            </a:r>
            <a:r>
              <a:rPr lang="en-US" sz="1200" spc="100" kern="0" dirty="0">
                <a:solidFill>
                  <a:srgbClr val="55667D"/>
                </a:solidFill>
                <a:latin typeface="Inter" pitchFamily="34" charset="0"/>
                <a:ea typeface="Inter" pitchFamily="34" charset="-122"/>
                <a:cs typeface="Inter" pitchFamily="34" charset="-120"/>
              </a:rPr>
              <a:t> · 06 MEASURE</a:t>
            </a:r>
            <a:endParaRPr lang="en-US" sz="1200" dirty="0"/>
          </a:p>
        </p:txBody>
      </p:sp>
      <p:sp>
        <p:nvSpPr>
          <p:cNvPr id="5"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2F59"/>
                </a:solidFill>
                <a:latin typeface="Inter" pitchFamily="34" charset="0"/>
                <a:ea typeface="Inter" pitchFamily="34" charset="-122"/>
                <a:cs typeface="Inter" pitchFamily="34" charset="-120"/>
              </a:rPr>
              <a:t>Build once, plug into every brand</a:t>
            </a:r>
            <a:endParaRPr lang="en-US" sz="3600" dirty="0"/>
          </a:p>
        </p:txBody>
      </p:sp>
      <p:sp>
        <p:nvSpPr>
          <p:cNvPr id="6" name="Text 2"/>
          <p:cNvSpPr/>
          <p:nvPr/>
        </p:nvSpPr>
        <p:spPr>
          <a:xfrm>
            <a:off x="812800" y="2206892"/>
            <a:ext cx="62788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5667D"/>
                </a:solidFill>
                <a:latin typeface="Inter" pitchFamily="34" charset="0"/>
                <a:ea typeface="Inter" pitchFamily="34" charset="-122"/>
                <a:cs typeface="Inter" pitchFamily="34" charset="-120"/>
              </a:rPr>
              <a:t>SERVICE MODULES</a:t>
            </a:r>
            <a:endParaRPr lang="en-US" sz="1200" dirty="0"/>
          </a:p>
        </p:txBody>
      </p:sp>
      <p:sp>
        <p:nvSpPr>
          <p:cNvPr id="7" name="Text 3"/>
          <p:cNvSpPr/>
          <p:nvPr/>
        </p:nvSpPr>
        <p:spPr>
          <a:xfrm>
            <a:off x="812800" y="2509112"/>
            <a:ext cx="1466850" cy="375907"/>
          </a:xfrm>
          <a:prstGeom prst="roundRect">
            <a:avLst>
              <a:gd name="adj" fmla="val 20271"/>
            </a:avLst>
          </a:prstGeom>
          <a:solidFill>
            <a:srgbClr val="002F59"/>
          </a:solidFill>
          <a:ln/>
        </p:spPr>
        <p:txBody>
          <a:bodyPr wrap="square" lIns="28482" tIns="66582" rIns="28482" bIns="41182" rtlCol="0" anchor="t">
            <a:normAutofit/>
          </a:bodyPr>
          <a:lstStyle/>
          <a:p>
            <a:pPr algn="ctr" indent="0" marL="0">
              <a:lnSpc>
                <a:spcPts val="1560"/>
              </a:lnSpc>
              <a:buNone/>
            </a:pPr>
            <a:r>
              <a:rPr lang="en-US" sz="1200" dirty="0">
                <a:solidFill>
                  <a:srgbClr val="F4F7FB"/>
                </a:solidFill>
                <a:latin typeface="Inter" pitchFamily="34" charset="0"/>
                <a:ea typeface="Inter" pitchFamily="34" charset="-122"/>
                <a:cs typeface="Inter" pitchFamily="34" charset="-120"/>
              </a:rPr>
              <a:t>Text-to-speech</a:t>
            </a:r>
            <a:endParaRPr lang="en-US" sz="1200" dirty="0"/>
          </a:p>
        </p:txBody>
      </p:sp>
      <p:sp>
        <p:nvSpPr>
          <p:cNvPr id="8" name="Text 4"/>
          <p:cNvSpPr/>
          <p:nvPr/>
        </p:nvSpPr>
        <p:spPr>
          <a:xfrm>
            <a:off x="2355850" y="2509112"/>
            <a:ext cx="1466850" cy="375907"/>
          </a:xfrm>
          <a:prstGeom prst="roundRect">
            <a:avLst>
              <a:gd name="adj" fmla="val 20271"/>
            </a:avLst>
          </a:prstGeom>
          <a:solidFill>
            <a:srgbClr val="002F59"/>
          </a:solidFill>
          <a:ln/>
        </p:spPr>
        <p:txBody>
          <a:bodyPr wrap="square" lIns="28482" tIns="66582" rIns="28482" bIns="41182" rtlCol="0" anchor="t">
            <a:normAutofit/>
          </a:bodyPr>
          <a:lstStyle/>
          <a:p>
            <a:pPr algn="ctr" indent="0" marL="0">
              <a:lnSpc>
                <a:spcPts val="1560"/>
              </a:lnSpc>
              <a:buNone/>
            </a:pPr>
            <a:r>
              <a:rPr lang="en-US" sz="1200" dirty="0">
                <a:solidFill>
                  <a:srgbClr val="F4F7FB"/>
                </a:solidFill>
                <a:latin typeface="Inter" pitchFamily="34" charset="0"/>
                <a:ea typeface="Inter" pitchFamily="34" charset="-122"/>
                <a:cs typeface="Inter" pitchFamily="34" charset="-120"/>
              </a:rPr>
              <a:t>Summarization</a:t>
            </a:r>
            <a:endParaRPr lang="en-US" sz="1200" dirty="0"/>
          </a:p>
        </p:txBody>
      </p:sp>
      <p:sp>
        <p:nvSpPr>
          <p:cNvPr id="9" name="Text 5"/>
          <p:cNvSpPr/>
          <p:nvPr/>
        </p:nvSpPr>
        <p:spPr>
          <a:xfrm>
            <a:off x="3898900" y="2509112"/>
            <a:ext cx="1466850" cy="375907"/>
          </a:xfrm>
          <a:prstGeom prst="roundRect">
            <a:avLst>
              <a:gd name="adj" fmla="val 20271"/>
            </a:avLst>
          </a:prstGeom>
          <a:solidFill>
            <a:srgbClr val="002F59"/>
          </a:solidFill>
          <a:ln/>
        </p:spPr>
        <p:txBody>
          <a:bodyPr wrap="square" lIns="28482" tIns="66582" rIns="28482" bIns="41182" rtlCol="0" anchor="t">
            <a:normAutofit/>
          </a:bodyPr>
          <a:lstStyle/>
          <a:p>
            <a:pPr algn="ctr" indent="0" marL="0">
              <a:lnSpc>
                <a:spcPts val="1560"/>
              </a:lnSpc>
              <a:buNone/>
            </a:pPr>
            <a:r>
              <a:rPr lang="en-US" sz="1200" dirty="0">
                <a:solidFill>
                  <a:srgbClr val="F4F7FB"/>
                </a:solidFill>
                <a:latin typeface="Inter" pitchFamily="34" charset="0"/>
                <a:ea typeface="Inter" pitchFamily="34" charset="-122"/>
                <a:cs typeface="Inter" pitchFamily="34" charset="-120"/>
              </a:rPr>
              <a:t>AI podcast</a:t>
            </a:r>
            <a:endParaRPr lang="en-US" sz="1200" dirty="0"/>
          </a:p>
        </p:txBody>
      </p:sp>
      <p:sp>
        <p:nvSpPr>
          <p:cNvPr id="10" name="Text 6"/>
          <p:cNvSpPr/>
          <p:nvPr/>
        </p:nvSpPr>
        <p:spPr>
          <a:xfrm>
            <a:off x="5441950" y="2509112"/>
            <a:ext cx="1466850" cy="375907"/>
          </a:xfrm>
          <a:prstGeom prst="roundRect">
            <a:avLst>
              <a:gd name="adj" fmla="val 20271"/>
            </a:avLst>
          </a:prstGeom>
          <a:solidFill>
            <a:srgbClr val="002F59"/>
          </a:solidFill>
          <a:ln/>
        </p:spPr>
        <p:txBody>
          <a:bodyPr wrap="square" lIns="28482" tIns="66582" rIns="28482" bIns="41182" rtlCol="0" anchor="t">
            <a:normAutofit/>
          </a:bodyPr>
          <a:lstStyle/>
          <a:p>
            <a:pPr algn="ctr" indent="0" marL="0">
              <a:lnSpc>
                <a:spcPts val="1560"/>
              </a:lnSpc>
              <a:buNone/>
            </a:pPr>
            <a:r>
              <a:rPr lang="en-US" sz="1200" dirty="0">
                <a:solidFill>
                  <a:srgbClr val="F4F7FB"/>
                </a:solidFill>
                <a:latin typeface="Inter" pitchFamily="34" charset="0"/>
                <a:ea typeface="Inter" pitchFamily="34" charset="-122"/>
                <a:cs typeface="Inter" pitchFamily="34" charset="-120"/>
              </a:rPr>
              <a:t>Translation</a:t>
            </a:r>
            <a:endParaRPr lang="en-US" sz="1200" dirty="0"/>
          </a:p>
        </p:txBody>
      </p:sp>
      <p:sp>
        <p:nvSpPr>
          <p:cNvPr id="11" name="Text 7"/>
          <p:cNvSpPr/>
          <p:nvPr/>
        </p:nvSpPr>
        <p:spPr>
          <a:xfrm>
            <a:off x="812800" y="2961221"/>
            <a:ext cx="1466850" cy="375907"/>
          </a:xfrm>
          <a:prstGeom prst="roundRect">
            <a:avLst>
              <a:gd name="adj" fmla="val 20271"/>
            </a:avLst>
          </a:prstGeom>
          <a:solidFill>
            <a:srgbClr val="002F59"/>
          </a:solidFill>
          <a:ln/>
        </p:spPr>
        <p:txBody>
          <a:bodyPr wrap="square" lIns="28482" tIns="66582" rIns="28482" bIns="41182" rtlCol="0" anchor="t">
            <a:normAutofit/>
          </a:bodyPr>
          <a:lstStyle/>
          <a:p>
            <a:pPr algn="ctr" indent="0" marL="0">
              <a:lnSpc>
                <a:spcPts val="1560"/>
              </a:lnSpc>
              <a:buNone/>
            </a:pPr>
            <a:r>
              <a:rPr lang="en-US" sz="1200" dirty="0">
                <a:solidFill>
                  <a:srgbClr val="F4F7FB"/>
                </a:solidFill>
                <a:latin typeface="Inter" pitchFamily="34" charset="0"/>
                <a:ea typeface="Inter" pitchFamily="34" charset="-122"/>
                <a:cs typeface="Inter" pitchFamily="34" charset="-120"/>
              </a:rPr>
              <a:t>Live captions</a:t>
            </a:r>
            <a:endParaRPr lang="en-US" sz="1200" dirty="0"/>
          </a:p>
        </p:txBody>
      </p:sp>
      <p:sp>
        <p:nvSpPr>
          <p:cNvPr id="12" name="Text 8"/>
          <p:cNvSpPr/>
          <p:nvPr/>
        </p:nvSpPr>
        <p:spPr>
          <a:xfrm>
            <a:off x="2355850" y="2961221"/>
            <a:ext cx="1466850" cy="375907"/>
          </a:xfrm>
          <a:prstGeom prst="roundRect">
            <a:avLst>
              <a:gd name="adj" fmla="val 20271"/>
            </a:avLst>
          </a:prstGeom>
          <a:solidFill>
            <a:srgbClr val="002F59"/>
          </a:solidFill>
          <a:ln/>
        </p:spPr>
        <p:txBody>
          <a:bodyPr wrap="square" lIns="28482" tIns="66582" rIns="28482" bIns="41182" rtlCol="0" anchor="t">
            <a:normAutofit/>
          </a:bodyPr>
          <a:lstStyle/>
          <a:p>
            <a:pPr algn="ctr" indent="0" marL="0">
              <a:lnSpc>
                <a:spcPts val="1560"/>
              </a:lnSpc>
              <a:buNone/>
            </a:pPr>
            <a:r>
              <a:rPr lang="en-US" sz="1200" dirty="0">
                <a:solidFill>
                  <a:srgbClr val="F4F7FB"/>
                </a:solidFill>
                <a:latin typeface="Inter" pitchFamily="34" charset="0"/>
                <a:ea typeface="Inter" pitchFamily="34" charset="-122"/>
                <a:cs typeface="Inter" pitchFamily="34" charset="-120"/>
              </a:rPr>
              <a:t>AI chatbot</a:t>
            </a:r>
            <a:endParaRPr lang="en-US" sz="1200" dirty="0"/>
          </a:p>
        </p:txBody>
      </p:sp>
      <p:sp>
        <p:nvSpPr>
          <p:cNvPr id="13" name="Text 9"/>
          <p:cNvSpPr/>
          <p:nvPr/>
        </p:nvSpPr>
        <p:spPr>
          <a:xfrm>
            <a:off x="3898900" y="2961221"/>
            <a:ext cx="1466850" cy="375907"/>
          </a:xfrm>
          <a:prstGeom prst="roundRect">
            <a:avLst>
              <a:gd name="adj" fmla="val 20271"/>
            </a:avLst>
          </a:prstGeom>
          <a:solidFill>
            <a:srgbClr val="002F59"/>
          </a:solidFill>
          <a:ln/>
        </p:spPr>
        <p:txBody>
          <a:bodyPr wrap="square" lIns="28482" tIns="66582" rIns="28482" bIns="41182" rtlCol="0" anchor="t">
            <a:normAutofit/>
          </a:bodyPr>
          <a:lstStyle/>
          <a:p>
            <a:pPr algn="ctr" indent="0" marL="0">
              <a:lnSpc>
                <a:spcPts val="1560"/>
              </a:lnSpc>
              <a:buNone/>
            </a:pPr>
            <a:r>
              <a:rPr lang="en-US" sz="1200" dirty="0">
                <a:solidFill>
                  <a:srgbClr val="F4F7FB"/>
                </a:solidFill>
                <a:latin typeface="Inter" pitchFamily="34" charset="0"/>
                <a:ea typeface="Inter" pitchFamily="34" charset="-122"/>
                <a:cs typeface="Inter" pitchFamily="34" charset="-120"/>
              </a:rPr>
              <a:t>Editorial Assistant</a:t>
            </a:r>
            <a:endParaRPr lang="en-US" sz="1200" dirty="0"/>
          </a:p>
        </p:txBody>
      </p:sp>
      <p:sp>
        <p:nvSpPr>
          <p:cNvPr id="14" name="Text 10"/>
          <p:cNvSpPr/>
          <p:nvPr/>
        </p:nvSpPr>
        <p:spPr>
          <a:xfrm>
            <a:off x="5448300" y="2967571"/>
            <a:ext cx="1454150" cy="363207"/>
          </a:xfrm>
          <a:prstGeom prst="roundRect">
            <a:avLst>
              <a:gd name="adj" fmla="val 19231"/>
            </a:avLst>
          </a:prstGeom>
          <a:noFill/>
          <a:ln w="12700">
            <a:solidFill>
              <a:srgbClr val="01579B"/>
            </a:solidFill>
            <a:prstDash val="dash"/>
          </a:ln>
        </p:spPr>
        <p:txBody>
          <a:bodyPr wrap="square" lIns="36692" tIns="62092" rIns="36692" bIns="36692" rtlCol="0" anchor="t">
            <a:normAutofit/>
          </a:bodyPr>
          <a:lstStyle/>
          <a:p>
            <a:pPr algn="ctr" indent="0" marL="0">
              <a:lnSpc>
                <a:spcPts val="1560"/>
              </a:lnSpc>
              <a:buNone/>
            </a:pPr>
            <a:r>
              <a:rPr lang="en-US" sz="1200" dirty="0">
                <a:solidFill>
                  <a:srgbClr val="01579B"/>
                </a:solidFill>
                <a:latin typeface="Inter" pitchFamily="34" charset="0"/>
                <a:ea typeface="Inter" pitchFamily="34" charset="-122"/>
                <a:cs typeface="Inter" pitchFamily="34" charset="-120"/>
              </a:rPr>
              <a:t>+ Next module</a:t>
            </a:r>
            <a:endParaRPr lang="en-US" sz="1200" dirty="0"/>
          </a:p>
        </p:txBody>
      </p:sp>
      <p:pic>
        <p:nvPicPr>
          <p:cNvPr id="15" name="Image 2" descr="arrow-down">    </p:cNvPr>
          <p:cNvPicPr>
            <a:picLocks noChangeAspect="1"/>
          </p:cNvPicPr>
          <p:nvPr/>
        </p:nvPicPr>
        <p:blipFill>
          <a:blip r:embed="rId3"/>
          <a:srcRect l="0" r="0" t="0" b="0"/>
          <a:stretch/>
        </p:blipFill>
        <p:spPr>
          <a:xfrm>
            <a:off x="3784600" y="3426023"/>
            <a:ext cx="152400" cy="203200"/>
          </a:xfrm>
          <a:prstGeom prst="rect">
            <a:avLst/>
          </a:prstGeom>
        </p:spPr>
      </p:pic>
      <p:sp>
        <p:nvSpPr>
          <p:cNvPr id="16" name="Shape 11"/>
          <p:cNvSpPr/>
          <p:nvPr/>
        </p:nvSpPr>
        <p:spPr>
          <a:xfrm>
            <a:off x="812800" y="3718123"/>
            <a:ext cx="6096000" cy="733954"/>
          </a:xfrm>
          <a:prstGeom prst="roundRect">
            <a:avLst>
              <a:gd name="adj" fmla="val 12112"/>
            </a:avLst>
          </a:prstGeom>
          <a:solidFill>
            <a:srgbClr val="5DB8F0"/>
          </a:solidFill>
          <a:ln/>
        </p:spPr>
      </p:sp>
      <p:pic>
        <p:nvPicPr>
          <p:cNvPr id="17" name="Image 3" descr="Link">    </p:cNvPr>
          <p:cNvPicPr>
            <a:picLocks noChangeAspect="1"/>
          </p:cNvPicPr>
          <p:nvPr/>
        </p:nvPicPr>
        <p:blipFill>
          <a:blip r:embed="rId4"/>
          <a:srcRect l="0" r="0" t="0" b="0"/>
          <a:stretch/>
        </p:blipFill>
        <p:spPr>
          <a:xfrm>
            <a:off x="990600" y="3958103"/>
            <a:ext cx="254000" cy="254000"/>
          </a:xfrm>
          <a:prstGeom prst="rect">
            <a:avLst/>
          </a:prstGeom>
        </p:spPr>
      </p:pic>
      <p:sp>
        <p:nvSpPr>
          <p:cNvPr id="18" name="Text 12"/>
          <p:cNvSpPr/>
          <p:nvPr/>
        </p:nvSpPr>
        <p:spPr>
          <a:xfrm>
            <a:off x="1371600" y="3845123"/>
            <a:ext cx="5520182"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02F59"/>
                </a:solidFill>
                <a:latin typeface="Inter" pitchFamily="34" charset="0"/>
                <a:ea typeface="Inter" pitchFamily="34" charset="-122"/>
                <a:cs typeface="Inter" pitchFamily="34" charset="-120"/>
              </a:rPr>
              <a:t>Shared plug &amp; play layer</a:t>
            </a:r>
            <a:r>
              <a:rPr lang="en-US" sz="1400" dirty="0">
                <a:solidFill>
                  <a:srgbClr val="002F59"/>
                </a:solidFill>
                <a:latin typeface="Inter" pitchFamily="34" charset="0"/>
                <a:ea typeface="Inter" pitchFamily="34" charset="-122"/>
                <a:cs typeface="Inter" pitchFamily="34" charset="-120"/>
              </a:rPr>
              <a:t> · one integration pattern for every module</a:t>
            </a:r>
            <a:endParaRPr lang="en-US" sz="1400" dirty="0"/>
          </a:p>
        </p:txBody>
      </p:sp>
      <p:pic>
        <p:nvPicPr>
          <p:cNvPr id="19" name="Image 4" descr="arrow-down">    </p:cNvPr>
          <p:cNvPicPr>
            <a:picLocks noChangeAspect="1"/>
          </p:cNvPicPr>
          <p:nvPr/>
        </p:nvPicPr>
        <p:blipFill>
          <a:blip r:embed="rId5"/>
          <a:srcRect l="0" r="0" t="0" b="0"/>
          <a:stretch/>
        </p:blipFill>
        <p:spPr>
          <a:xfrm>
            <a:off x="3784600" y="4540982"/>
            <a:ext cx="152400" cy="203200"/>
          </a:xfrm>
          <a:prstGeom prst="rect">
            <a:avLst/>
          </a:prstGeom>
        </p:spPr>
      </p:pic>
      <p:sp>
        <p:nvSpPr>
          <p:cNvPr id="20" name="Text 13"/>
          <p:cNvSpPr/>
          <p:nvPr/>
        </p:nvSpPr>
        <p:spPr>
          <a:xfrm>
            <a:off x="812800" y="4833082"/>
            <a:ext cx="62788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5667D"/>
                </a:solidFill>
                <a:latin typeface="Inter" pitchFamily="34" charset="0"/>
                <a:ea typeface="Inter" pitchFamily="34" charset="-122"/>
                <a:cs typeface="Inter" pitchFamily="34" charset="-120"/>
              </a:rPr>
              <a:t>BRAND OUTLETS</a:t>
            </a:r>
            <a:endParaRPr lang="en-US" sz="1200" dirty="0"/>
          </a:p>
        </p:txBody>
      </p:sp>
      <p:sp>
        <p:nvSpPr>
          <p:cNvPr id="21" name="Text 14"/>
          <p:cNvSpPr/>
          <p:nvPr/>
        </p:nvSpPr>
        <p:spPr>
          <a:xfrm>
            <a:off x="815975" y="5138477"/>
            <a:ext cx="1460500" cy="378023"/>
          </a:xfrm>
          <a:prstGeom prst="roundRect">
            <a:avLst>
              <a:gd name="adj" fmla="val 19318"/>
            </a:avLst>
          </a:prstGeom>
          <a:solidFill>
            <a:srgbClr val="FCFDFE"/>
          </a:solidFill>
          <a:ln w="6350">
            <a:solidFill>
              <a:srgbClr val="D3DEEA"/>
            </a:solidFill>
            <a:prstDash val="solid"/>
          </a:ln>
        </p:spPr>
        <p:txBody>
          <a:bodyPr wrap="square" lIns="30470" tIns="68570" rIns="30470" bIns="43170" rtlCol="0" anchor="t">
            <a:normAutofit/>
          </a:bodyPr>
          <a:lstStyle/>
          <a:p>
            <a:pPr algn="ctr" indent="0" marL="0">
              <a:lnSpc>
                <a:spcPts val="1560"/>
              </a:lnSpc>
              <a:buNone/>
            </a:pPr>
            <a:r>
              <a:rPr lang="en-US" sz="1200" dirty="0">
                <a:solidFill>
                  <a:srgbClr val="002F59"/>
                </a:solidFill>
                <a:latin typeface="Inter" pitchFamily="34" charset="0"/>
                <a:ea typeface="Inter" pitchFamily="34" charset="-122"/>
                <a:cs typeface="Inter" pitchFamily="34" charset="-120"/>
              </a:rPr>
              <a:t>News websites</a:t>
            </a:r>
            <a:endParaRPr lang="en-US" sz="1200" dirty="0"/>
          </a:p>
        </p:txBody>
      </p:sp>
      <p:sp>
        <p:nvSpPr>
          <p:cNvPr id="22" name="Text 15"/>
          <p:cNvSpPr/>
          <p:nvPr/>
        </p:nvSpPr>
        <p:spPr>
          <a:xfrm>
            <a:off x="2359025" y="5138477"/>
            <a:ext cx="1460500" cy="378023"/>
          </a:xfrm>
          <a:prstGeom prst="roundRect">
            <a:avLst>
              <a:gd name="adj" fmla="val 19318"/>
            </a:avLst>
          </a:prstGeom>
          <a:solidFill>
            <a:srgbClr val="FCFDFE"/>
          </a:solidFill>
          <a:ln w="6350">
            <a:solidFill>
              <a:srgbClr val="D3DEEA"/>
            </a:solidFill>
            <a:prstDash val="solid"/>
          </a:ln>
        </p:spPr>
        <p:txBody>
          <a:bodyPr wrap="square" lIns="30470" tIns="68570" rIns="30470" bIns="43170" rtlCol="0" anchor="t">
            <a:normAutofit/>
          </a:bodyPr>
          <a:lstStyle/>
          <a:p>
            <a:pPr algn="ctr" indent="0" marL="0">
              <a:lnSpc>
                <a:spcPts val="1560"/>
              </a:lnSpc>
              <a:buNone/>
            </a:pPr>
            <a:r>
              <a:rPr lang="en-US" sz="1200" dirty="0">
                <a:solidFill>
                  <a:srgbClr val="002F59"/>
                </a:solidFill>
                <a:latin typeface="Inter" pitchFamily="34" charset="0"/>
                <a:ea typeface="Inter" pitchFamily="34" charset="-122"/>
                <a:cs typeface="Inter" pitchFamily="34" charset="-120"/>
              </a:rPr>
              <a:t>Mobile apps</a:t>
            </a:r>
            <a:endParaRPr lang="en-US" sz="1200" dirty="0"/>
          </a:p>
        </p:txBody>
      </p:sp>
      <p:sp>
        <p:nvSpPr>
          <p:cNvPr id="23" name="Text 16"/>
          <p:cNvSpPr/>
          <p:nvPr/>
        </p:nvSpPr>
        <p:spPr>
          <a:xfrm>
            <a:off x="3902075" y="5138477"/>
            <a:ext cx="1460500" cy="378023"/>
          </a:xfrm>
          <a:prstGeom prst="roundRect">
            <a:avLst>
              <a:gd name="adj" fmla="val 19318"/>
            </a:avLst>
          </a:prstGeom>
          <a:solidFill>
            <a:srgbClr val="FCFDFE"/>
          </a:solidFill>
          <a:ln w="6350">
            <a:solidFill>
              <a:srgbClr val="D3DEEA"/>
            </a:solidFill>
            <a:prstDash val="solid"/>
          </a:ln>
        </p:spPr>
        <p:txBody>
          <a:bodyPr wrap="square" lIns="30470" tIns="68570" rIns="30470" bIns="43170" rtlCol="0" anchor="t">
            <a:normAutofit/>
          </a:bodyPr>
          <a:lstStyle/>
          <a:p>
            <a:pPr algn="ctr" indent="0" marL="0">
              <a:lnSpc>
                <a:spcPts val="1560"/>
              </a:lnSpc>
              <a:buNone/>
            </a:pPr>
            <a:r>
              <a:rPr lang="en-US" sz="1200" dirty="0">
                <a:solidFill>
                  <a:srgbClr val="002F59"/>
                </a:solidFill>
                <a:latin typeface="Inter" pitchFamily="34" charset="0"/>
                <a:ea typeface="Inter" pitchFamily="34" charset="-122"/>
                <a:cs typeface="Inter" pitchFamily="34" charset="-120"/>
              </a:rPr>
              <a:t>OTT</a:t>
            </a:r>
            <a:endParaRPr lang="en-US" sz="1200" dirty="0"/>
          </a:p>
        </p:txBody>
      </p:sp>
      <p:sp>
        <p:nvSpPr>
          <p:cNvPr id="24" name="Text 17"/>
          <p:cNvSpPr/>
          <p:nvPr/>
        </p:nvSpPr>
        <p:spPr>
          <a:xfrm>
            <a:off x="5445125" y="5138477"/>
            <a:ext cx="1460500" cy="378023"/>
          </a:xfrm>
          <a:prstGeom prst="roundRect">
            <a:avLst>
              <a:gd name="adj" fmla="val 19318"/>
            </a:avLst>
          </a:prstGeom>
          <a:solidFill>
            <a:srgbClr val="FCFDFE"/>
          </a:solidFill>
          <a:ln w="6350">
            <a:solidFill>
              <a:srgbClr val="D3DEEA"/>
            </a:solidFill>
            <a:prstDash val="solid"/>
          </a:ln>
        </p:spPr>
        <p:txBody>
          <a:bodyPr wrap="square" lIns="30470" tIns="68570" rIns="30470" bIns="43170" rtlCol="0" anchor="t">
            <a:normAutofit/>
          </a:bodyPr>
          <a:lstStyle/>
          <a:p>
            <a:pPr algn="ctr" indent="0" marL="0">
              <a:lnSpc>
                <a:spcPts val="1560"/>
              </a:lnSpc>
              <a:buNone/>
            </a:pPr>
            <a:r>
              <a:rPr lang="en-US" sz="1200" dirty="0">
                <a:solidFill>
                  <a:srgbClr val="002F59"/>
                </a:solidFill>
                <a:latin typeface="Inter" pitchFamily="34" charset="0"/>
                <a:ea typeface="Inter" pitchFamily="34" charset="-122"/>
                <a:cs typeface="Inter" pitchFamily="34" charset="-120"/>
              </a:rPr>
              <a:t>TV livestreams</a:t>
            </a:r>
            <a:endParaRPr lang="en-US" sz="1200" dirty="0"/>
          </a:p>
        </p:txBody>
      </p:sp>
      <p:sp>
        <p:nvSpPr>
          <p:cNvPr id="25" name="Shape 18"/>
          <p:cNvSpPr/>
          <p:nvPr/>
        </p:nvSpPr>
        <p:spPr>
          <a:xfrm>
            <a:off x="7315200" y="1892436"/>
            <a:ext cx="4064000" cy="909241"/>
          </a:xfrm>
          <a:prstGeom prst="roundRect">
            <a:avLst>
              <a:gd name="adj" fmla="val 8381"/>
            </a:avLst>
          </a:prstGeom>
          <a:solidFill>
            <a:srgbClr val="FCFDFE"/>
          </a:solidFill>
          <a:ln/>
        </p:spPr>
      </p:sp>
      <p:sp>
        <p:nvSpPr>
          <p:cNvPr id="26" name="Shape 19"/>
          <p:cNvSpPr/>
          <p:nvPr/>
        </p:nvSpPr>
        <p:spPr>
          <a:xfrm>
            <a:off x="7315200" y="1892436"/>
            <a:ext cx="4064000" cy="909241"/>
          </a:xfrm>
          <a:custGeom>
            <a:avLst/>
            <a:gdLst/>
            <a:ahLst/>
            <a:cxnLst/>
            <a:rect l="l" t="t" r="r" b="b"/>
            <a:pathLst>
              <a:path w="4064000" h="909241">
                <a:moveTo>
                  <a:pt x="76200" y="909241"/>
                </a:moveTo>
                <a:lnTo>
                  <a:pt x="76200" y="909241"/>
                </a:lnTo>
                <a:arcTo hR="76200" wR="76200" stAng="5400000" swAng="5400000"/>
                <a:lnTo>
                  <a:pt x="0" y="76200"/>
                </a:lnTo>
                <a:arcTo hR="76200" wR="76200" stAng="10800000" swAng="5400000"/>
                <a:lnTo>
                  <a:pt x="76200" y="0"/>
                </a:lnTo>
                <a:arcTo hR="76200" wR="38100" stAng="16200000" swAng="-5400000"/>
                <a:lnTo>
                  <a:pt x="38100" y="833041"/>
                </a:lnTo>
                <a:arcTo hR="76200" wR="38100" stAng="10800000" swAng="-5400000"/>
                <a:close/>
              </a:path>
            </a:pathLst>
          </a:custGeom>
          <a:solidFill>
            <a:srgbClr val="01579B"/>
          </a:solidFill>
          <a:ln/>
        </p:spPr>
      </p:sp>
      <p:pic>
        <p:nvPicPr>
          <p:cNvPr id="27" name="Image 5" descr="Tool">    </p:cNvPr>
          <p:cNvPicPr>
            <a:picLocks noChangeAspect="1"/>
          </p:cNvPicPr>
          <p:nvPr/>
        </p:nvPicPr>
        <p:blipFill>
          <a:blip r:embed="rId6"/>
          <a:srcRect l="0" r="0" t="0" b="0"/>
          <a:stretch/>
        </p:blipFill>
        <p:spPr>
          <a:xfrm>
            <a:off x="7505700" y="2006736"/>
            <a:ext cx="254000" cy="254000"/>
          </a:xfrm>
          <a:prstGeom prst="rect">
            <a:avLst/>
          </a:prstGeom>
        </p:spPr>
      </p:pic>
      <p:sp>
        <p:nvSpPr>
          <p:cNvPr id="28" name="Text 20"/>
          <p:cNvSpPr/>
          <p:nvPr/>
        </p:nvSpPr>
        <p:spPr>
          <a:xfrm>
            <a:off x="7886700" y="2006736"/>
            <a:ext cx="34403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Build once</a:t>
            </a:r>
            <a:endParaRPr lang="en-US" sz="1500" dirty="0"/>
          </a:p>
        </p:txBody>
      </p:sp>
      <p:sp>
        <p:nvSpPr>
          <p:cNvPr id="29" name="Text 21"/>
          <p:cNvSpPr/>
          <p:nvPr/>
        </p:nvSpPr>
        <p:spPr>
          <a:xfrm>
            <a:off x="7886700" y="2260736"/>
            <a:ext cx="34403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One team builds and maintains each service for the whole group.</a:t>
            </a:r>
            <a:endParaRPr lang="en-US" sz="1200" dirty="0"/>
          </a:p>
        </p:txBody>
      </p:sp>
      <p:sp>
        <p:nvSpPr>
          <p:cNvPr id="30" name="Shape 22"/>
          <p:cNvSpPr/>
          <p:nvPr/>
        </p:nvSpPr>
        <p:spPr>
          <a:xfrm>
            <a:off x="7315200" y="2903277"/>
            <a:ext cx="4064000" cy="909241"/>
          </a:xfrm>
          <a:prstGeom prst="roundRect">
            <a:avLst>
              <a:gd name="adj" fmla="val 8381"/>
            </a:avLst>
          </a:prstGeom>
          <a:solidFill>
            <a:srgbClr val="FCFDFE"/>
          </a:solidFill>
          <a:ln/>
        </p:spPr>
      </p:sp>
      <p:sp>
        <p:nvSpPr>
          <p:cNvPr id="31" name="Shape 23"/>
          <p:cNvSpPr/>
          <p:nvPr/>
        </p:nvSpPr>
        <p:spPr>
          <a:xfrm>
            <a:off x="7315200" y="2903277"/>
            <a:ext cx="4064000" cy="909241"/>
          </a:xfrm>
          <a:custGeom>
            <a:avLst/>
            <a:gdLst/>
            <a:ahLst/>
            <a:cxnLst/>
            <a:rect l="l" t="t" r="r" b="b"/>
            <a:pathLst>
              <a:path w="4064000" h="909241">
                <a:moveTo>
                  <a:pt x="76200" y="909241"/>
                </a:moveTo>
                <a:lnTo>
                  <a:pt x="76200" y="909241"/>
                </a:lnTo>
                <a:arcTo hR="76200" wR="76200" stAng="5400000" swAng="5400000"/>
                <a:lnTo>
                  <a:pt x="0" y="76200"/>
                </a:lnTo>
                <a:arcTo hR="76200" wR="76200" stAng="10800000" swAng="5400000"/>
                <a:lnTo>
                  <a:pt x="76200" y="0"/>
                </a:lnTo>
                <a:arcTo hR="76200" wR="38100" stAng="16200000" swAng="-5400000"/>
                <a:lnTo>
                  <a:pt x="38100" y="833041"/>
                </a:lnTo>
                <a:arcTo hR="76200" wR="38100" stAng="10800000" swAng="-5400000"/>
                <a:close/>
              </a:path>
            </a:pathLst>
          </a:custGeom>
          <a:solidFill>
            <a:srgbClr val="01579B"/>
          </a:solidFill>
          <a:ln/>
        </p:spPr>
      </p:sp>
      <p:pic>
        <p:nvPicPr>
          <p:cNvPr id="32" name="Image 6" descr="Link">    </p:cNvPr>
          <p:cNvPicPr>
            <a:picLocks noChangeAspect="1"/>
          </p:cNvPicPr>
          <p:nvPr/>
        </p:nvPicPr>
        <p:blipFill>
          <a:blip r:embed="rId7"/>
          <a:srcRect l="0" r="0" t="0" b="0"/>
          <a:stretch/>
        </p:blipFill>
        <p:spPr>
          <a:xfrm>
            <a:off x="7505700" y="3017577"/>
            <a:ext cx="254000" cy="254000"/>
          </a:xfrm>
          <a:prstGeom prst="rect">
            <a:avLst/>
          </a:prstGeom>
        </p:spPr>
      </p:pic>
      <p:sp>
        <p:nvSpPr>
          <p:cNvPr id="33" name="Text 24"/>
          <p:cNvSpPr/>
          <p:nvPr/>
        </p:nvSpPr>
        <p:spPr>
          <a:xfrm>
            <a:off x="7886700" y="3017577"/>
            <a:ext cx="34403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Plug in anywhere</a:t>
            </a:r>
            <a:endParaRPr lang="en-US" sz="1500" dirty="0"/>
          </a:p>
        </p:txBody>
      </p:sp>
      <p:sp>
        <p:nvSpPr>
          <p:cNvPr id="34" name="Text 25"/>
          <p:cNvSpPr/>
          <p:nvPr/>
        </p:nvSpPr>
        <p:spPr>
          <a:xfrm>
            <a:off x="7886700" y="3271577"/>
            <a:ext cx="34403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A brand or outlet adopts a service by configuration, not a rebuild.</a:t>
            </a:r>
            <a:endParaRPr lang="en-US" sz="1200" dirty="0"/>
          </a:p>
        </p:txBody>
      </p:sp>
      <p:sp>
        <p:nvSpPr>
          <p:cNvPr id="35" name="Shape 26"/>
          <p:cNvSpPr/>
          <p:nvPr/>
        </p:nvSpPr>
        <p:spPr>
          <a:xfrm>
            <a:off x="7315200" y="3914118"/>
            <a:ext cx="4064000" cy="909241"/>
          </a:xfrm>
          <a:prstGeom prst="roundRect">
            <a:avLst>
              <a:gd name="adj" fmla="val 8381"/>
            </a:avLst>
          </a:prstGeom>
          <a:solidFill>
            <a:srgbClr val="FCFDFE"/>
          </a:solidFill>
          <a:ln/>
        </p:spPr>
      </p:sp>
      <p:sp>
        <p:nvSpPr>
          <p:cNvPr id="36" name="Shape 27"/>
          <p:cNvSpPr/>
          <p:nvPr/>
        </p:nvSpPr>
        <p:spPr>
          <a:xfrm>
            <a:off x="7315200" y="3914118"/>
            <a:ext cx="4064000" cy="909241"/>
          </a:xfrm>
          <a:custGeom>
            <a:avLst/>
            <a:gdLst/>
            <a:ahLst/>
            <a:cxnLst/>
            <a:rect l="l" t="t" r="r" b="b"/>
            <a:pathLst>
              <a:path w="4064000" h="909241">
                <a:moveTo>
                  <a:pt x="76200" y="909241"/>
                </a:moveTo>
                <a:lnTo>
                  <a:pt x="76200" y="909241"/>
                </a:lnTo>
                <a:arcTo hR="76200" wR="76200" stAng="5400000" swAng="5400000"/>
                <a:lnTo>
                  <a:pt x="0" y="76200"/>
                </a:lnTo>
                <a:arcTo hR="76200" wR="76200" stAng="10800000" swAng="5400000"/>
                <a:lnTo>
                  <a:pt x="76200" y="0"/>
                </a:lnTo>
                <a:arcTo hR="76200" wR="38100" stAng="16200000" swAng="-5400000"/>
                <a:lnTo>
                  <a:pt x="38100" y="833041"/>
                </a:lnTo>
                <a:arcTo hR="76200" wR="38100" stAng="10800000" swAng="-5400000"/>
                <a:close/>
              </a:path>
            </a:pathLst>
          </a:custGeom>
          <a:solidFill>
            <a:srgbClr val="01579B"/>
          </a:solidFill>
          <a:ln/>
        </p:spPr>
      </p:sp>
      <p:pic>
        <p:nvPicPr>
          <p:cNvPr id="37" name="Image 7" descr="Lightning">    </p:cNvPr>
          <p:cNvPicPr>
            <a:picLocks noChangeAspect="1"/>
          </p:cNvPicPr>
          <p:nvPr/>
        </p:nvPicPr>
        <p:blipFill>
          <a:blip r:embed="rId8"/>
          <a:srcRect l="0" r="0" t="0" b="0"/>
          <a:stretch/>
        </p:blipFill>
        <p:spPr>
          <a:xfrm>
            <a:off x="7505700" y="4028418"/>
            <a:ext cx="254000" cy="254000"/>
          </a:xfrm>
          <a:prstGeom prst="rect">
            <a:avLst/>
          </a:prstGeom>
        </p:spPr>
      </p:pic>
      <p:sp>
        <p:nvSpPr>
          <p:cNvPr id="38" name="Text 28"/>
          <p:cNvSpPr/>
          <p:nvPr/>
        </p:nvSpPr>
        <p:spPr>
          <a:xfrm>
            <a:off x="7886700" y="4028418"/>
            <a:ext cx="34403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Improve once, everywhere</a:t>
            </a:r>
            <a:endParaRPr lang="en-US" sz="1500" dirty="0"/>
          </a:p>
        </p:txBody>
      </p:sp>
      <p:sp>
        <p:nvSpPr>
          <p:cNvPr id="39" name="Text 29"/>
          <p:cNvSpPr/>
          <p:nvPr/>
        </p:nvSpPr>
        <p:spPr>
          <a:xfrm>
            <a:off x="7886700" y="4282418"/>
            <a:ext cx="34403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Every upgrade to a module reaches all brands at the same time.</a:t>
            </a:r>
            <a:endParaRPr lang="en-US" sz="1200" dirty="0"/>
          </a:p>
        </p:txBody>
      </p:sp>
      <p:sp>
        <p:nvSpPr>
          <p:cNvPr id="40" name="Shape 30"/>
          <p:cNvSpPr/>
          <p:nvPr/>
        </p:nvSpPr>
        <p:spPr>
          <a:xfrm>
            <a:off x="7315200" y="4924958"/>
            <a:ext cx="4064000" cy="909241"/>
          </a:xfrm>
          <a:prstGeom prst="roundRect">
            <a:avLst>
              <a:gd name="adj" fmla="val 8381"/>
            </a:avLst>
          </a:prstGeom>
          <a:solidFill>
            <a:srgbClr val="FCFDFE"/>
          </a:solidFill>
          <a:ln/>
        </p:spPr>
      </p:sp>
      <p:sp>
        <p:nvSpPr>
          <p:cNvPr id="41" name="Shape 31"/>
          <p:cNvSpPr/>
          <p:nvPr/>
        </p:nvSpPr>
        <p:spPr>
          <a:xfrm>
            <a:off x="7315200" y="4924958"/>
            <a:ext cx="4064000" cy="909241"/>
          </a:xfrm>
          <a:custGeom>
            <a:avLst/>
            <a:gdLst/>
            <a:ahLst/>
            <a:cxnLst/>
            <a:rect l="l" t="t" r="r" b="b"/>
            <a:pathLst>
              <a:path w="4064000" h="909241">
                <a:moveTo>
                  <a:pt x="76200" y="909241"/>
                </a:moveTo>
                <a:lnTo>
                  <a:pt x="76200" y="909241"/>
                </a:lnTo>
                <a:arcTo hR="76200" wR="76200" stAng="5400000" swAng="5400000"/>
                <a:lnTo>
                  <a:pt x="0" y="76200"/>
                </a:lnTo>
                <a:arcTo hR="76200" wR="76200" stAng="10800000" swAng="5400000"/>
                <a:lnTo>
                  <a:pt x="76200" y="0"/>
                </a:lnTo>
                <a:arcTo hR="76200" wR="38100" stAng="16200000" swAng="-5400000"/>
                <a:lnTo>
                  <a:pt x="38100" y="833041"/>
                </a:lnTo>
                <a:arcTo hR="76200" wR="38100" stAng="10800000" swAng="-5400000"/>
                <a:close/>
              </a:path>
            </a:pathLst>
          </a:custGeom>
          <a:solidFill>
            <a:srgbClr val="01579B"/>
          </a:solidFill>
          <a:ln/>
        </p:spPr>
      </p:sp>
      <p:pic>
        <p:nvPicPr>
          <p:cNvPr id="42" name="Image 8" descr="Settings">    </p:cNvPr>
          <p:cNvPicPr>
            <a:picLocks noChangeAspect="1"/>
          </p:cNvPicPr>
          <p:nvPr/>
        </p:nvPicPr>
        <p:blipFill>
          <a:blip r:embed="rId9"/>
          <a:srcRect l="0" r="0" t="0" b="0"/>
          <a:stretch/>
        </p:blipFill>
        <p:spPr>
          <a:xfrm>
            <a:off x="7505700" y="5039258"/>
            <a:ext cx="254000" cy="254000"/>
          </a:xfrm>
          <a:prstGeom prst="rect">
            <a:avLst/>
          </a:prstGeom>
        </p:spPr>
      </p:pic>
      <p:sp>
        <p:nvSpPr>
          <p:cNvPr id="43" name="Text 32"/>
          <p:cNvSpPr/>
          <p:nvPr/>
        </p:nvSpPr>
        <p:spPr>
          <a:xfrm>
            <a:off x="7886700" y="5039258"/>
            <a:ext cx="34403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Each brand keeps its voice</a:t>
            </a:r>
            <a:endParaRPr lang="en-US" sz="1500" dirty="0"/>
          </a:p>
        </p:txBody>
      </p:sp>
      <p:sp>
        <p:nvSpPr>
          <p:cNvPr id="44" name="Text 33"/>
          <p:cNvSpPr/>
          <p:nvPr/>
        </p:nvSpPr>
        <p:spPr>
          <a:xfrm>
            <a:off x="7886700" y="5293258"/>
            <a:ext cx="34403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Modules are configured per brand: style, language and tone.</a:t>
            </a:r>
            <a:endParaRPr lang="en-US" sz="1200" dirty="0"/>
          </a:p>
        </p:txBody>
      </p:sp>
      <p:sp>
        <p:nvSpPr>
          <p:cNvPr id="45" name="Text 34"/>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46" name="Text 35"/>
          <p:cNvSpPr/>
          <p:nvPr/>
        </p:nvSpPr>
        <p:spPr>
          <a:xfrm>
            <a:off x="11173420" y="6230609"/>
            <a:ext cx="2057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18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DB8F0"/>
                </a:solidFill>
                <a:latin typeface="Inter" pitchFamily="34" charset="0"/>
                <a:ea typeface="Inter" pitchFamily="34" charset="-122"/>
                <a:cs typeface="Inter" pitchFamily="34" charset="-120"/>
              </a:rPr>
              <a:t>CALL TO ACTION · AI VIBE CODERS</a:t>
            </a:r>
            <a:endParaRPr lang="en-US" sz="1200" dirty="0"/>
          </a:p>
        </p:txBody>
      </p:sp>
      <p:sp>
        <p:nvSpPr>
          <p:cNvPr id="5"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7FB"/>
                </a:solidFill>
                <a:latin typeface="Inter" pitchFamily="34" charset="0"/>
                <a:ea typeface="Inter" pitchFamily="34" charset="-122"/>
                <a:cs typeface="Inter" pitchFamily="34" charset="-120"/>
              </a:rPr>
              <a:t>Build the next module with us</a:t>
            </a:r>
            <a:endParaRPr lang="en-US" sz="3600" dirty="0"/>
          </a:p>
        </p:txBody>
      </p:sp>
      <p:sp>
        <p:nvSpPr>
          <p:cNvPr id="6" name="Shape 2"/>
          <p:cNvSpPr/>
          <p:nvPr/>
        </p:nvSpPr>
        <p:spPr>
          <a:xfrm>
            <a:off x="815975" y="2280779"/>
            <a:ext cx="6597650" cy="883444"/>
          </a:xfrm>
          <a:prstGeom prst="roundRect">
            <a:avLst>
              <a:gd name="adj" fmla="val 11141"/>
            </a:avLst>
          </a:prstGeom>
          <a:solidFill>
            <a:srgbClr val="0A3D6E"/>
          </a:solidFill>
          <a:ln w="6350">
            <a:solidFill>
              <a:srgbClr val="1F5A8C"/>
            </a:solidFill>
            <a:prstDash val="solid"/>
          </a:ln>
        </p:spPr>
      </p:sp>
      <p:sp>
        <p:nvSpPr>
          <p:cNvPr id="7" name="Text 3"/>
          <p:cNvSpPr/>
          <p:nvPr/>
        </p:nvSpPr>
        <p:spPr>
          <a:xfrm>
            <a:off x="1020233" y="2459633"/>
            <a:ext cx="4318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5DB8F0"/>
                </a:solidFill>
                <a:latin typeface="Inter" pitchFamily="34" charset="0"/>
                <a:ea typeface="Inter" pitchFamily="34" charset="-122"/>
                <a:cs typeface="Inter" pitchFamily="34" charset="-120"/>
              </a:rPr>
              <a:t>01</a:t>
            </a:r>
            <a:endParaRPr lang="en-US" sz="2000" dirty="0"/>
          </a:p>
        </p:txBody>
      </p:sp>
      <p:sp>
        <p:nvSpPr>
          <p:cNvPr id="8" name="Text 4"/>
          <p:cNvSpPr/>
          <p:nvPr/>
        </p:nvSpPr>
        <p:spPr>
          <a:xfrm>
            <a:off x="1553633" y="2459633"/>
            <a:ext cx="582540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Join the Fadaat AI Hackathon</a:t>
            </a:r>
            <a:endParaRPr lang="en-US" sz="1600" dirty="0"/>
          </a:p>
        </p:txBody>
      </p:sp>
      <p:sp>
        <p:nvSpPr>
          <p:cNvPr id="9" name="Text 5"/>
          <p:cNvSpPr/>
          <p:nvPr/>
        </p:nvSpPr>
        <p:spPr>
          <a:xfrm>
            <a:off x="1553633" y="2754250"/>
            <a:ext cx="582540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Build an AI module for media — the next box in our framework.</a:t>
            </a:r>
            <a:endParaRPr lang="en-US" sz="1300" dirty="0"/>
          </a:p>
        </p:txBody>
      </p:sp>
      <p:sp>
        <p:nvSpPr>
          <p:cNvPr id="10" name="Shape 6"/>
          <p:cNvSpPr/>
          <p:nvPr/>
        </p:nvSpPr>
        <p:spPr>
          <a:xfrm>
            <a:off x="815975" y="3297572"/>
            <a:ext cx="6597650" cy="883444"/>
          </a:xfrm>
          <a:prstGeom prst="roundRect">
            <a:avLst>
              <a:gd name="adj" fmla="val 11141"/>
            </a:avLst>
          </a:prstGeom>
          <a:solidFill>
            <a:srgbClr val="0A3D6E"/>
          </a:solidFill>
          <a:ln w="6350">
            <a:solidFill>
              <a:srgbClr val="1F5A8C"/>
            </a:solidFill>
            <a:prstDash val="solid"/>
          </a:ln>
        </p:spPr>
      </p:sp>
      <p:sp>
        <p:nvSpPr>
          <p:cNvPr id="11" name="Text 7"/>
          <p:cNvSpPr/>
          <p:nvPr/>
        </p:nvSpPr>
        <p:spPr>
          <a:xfrm>
            <a:off x="1020233" y="3476427"/>
            <a:ext cx="4318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5DB8F0"/>
                </a:solidFill>
                <a:latin typeface="Inter" pitchFamily="34" charset="0"/>
                <a:ea typeface="Inter" pitchFamily="34" charset="-122"/>
                <a:cs typeface="Inter" pitchFamily="34" charset="-120"/>
              </a:rPr>
              <a:t>02</a:t>
            </a:r>
            <a:endParaRPr lang="en-US" sz="2000" dirty="0"/>
          </a:p>
        </p:txBody>
      </p:sp>
      <p:sp>
        <p:nvSpPr>
          <p:cNvPr id="12" name="Text 8"/>
          <p:cNvSpPr/>
          <p:nvPr/>
        </p:nvSpPr>
        <p:spPr>
          <a:xfrm>
            <a:off x="1553633" y="3476427"/>
            <a:ext cx="582540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Plug it into our framework</a:t>
            </a:r>
            <a:endParaRPr lang="en-US" sz="1600" dirty="0"/>
          </a:p>
        </p:txBody>
      </p:sp>
      <p:sp>
        <p:nvSpPr>
          <p:cNvPr id="13" name="Text 9"/>
          <p:cNvSpPr/>
          <p:nvPr/>
        </p:nvSpPr>
        <p:spPr>
          <a:xfrm>
            <a:off x="1553633" y="3771044"/>
            <a:ext cx="582540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Your module fits the same plug &amp; play layer that serves every brand.</a:t>
            </a:r>
            <a:endParaRPr lang="en-US" sz="1300" dirty="0"/>
          </a:p>
        </p:txBody>
      </p:sp>
      <p:sp>
        <p:nvSpPr>
          <p:cNvPr id="14" name="Shape 10"/>
          <p:cNvSpPr/>
          <p:nvPr/>
        </p:nvSpPr>
        <p:spPr>
          <a:xfrm>
            <a:off x="819150" y="4317541"/>
            <a:ext cx="6591300" cy="1125141"/>
          </a:xfrm>
          <a:prstGeom prst="roundRect">
            <a:avLst>
              <a:gd name="adj" fmla="val 8466"/>
            </a:avLst>
          </a:prstGeom>
          <a:solidFill>
            <a:srgbClr val="0A3D6E"/>
          </a:solidFill>
          <a:ln w="12700">
            <a:solidFill>
              <a:srgbClr val="5DB8F0"/>
            </a:solidFill>
            <a:prstDash val="solid"/>
          </a:ln>
        </p:spPr>
      </p:sp>
      <p:sp>
        <p:nvSpPr>
          <p:cNvPr id="15" name="Text 11"/>
          <p:cNvSpPr/>
          <p:nvPr/>
        </p:nvSpPr>
        <p:spPr>
          <a:xfrm>
            <a:off x="1028700" y="4501691"/>
            <a:ext cx="4318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5DB8F0"/>
                </a:solidFill>
                <a:latin typeface="Inter" pitchFamily="34" charset="0"/>
                <a:ea typeface="Inter" pitchFamily="34" charset="-122"/>
                <a:cs typeface="Inter" pitchFamily="34" charset="-120"/>
              </a:rPr>
              <a:t>03</a:t>
            </a:r>
            <a:endParaRPr lang="en-US" sz="2000" dirty="0"/>
          </a:p>
        </p:txBody>
      </p:sp>
      <p:sp>
        <p:nvSpPr>
          <p:cNvPr id="16" name="Text 12"/>
          <p:cNvSpPr/>
          <p:nvPr/>
        </p:nvSpPr>
        <p:spPr>
          <a:xfrm>
            <a:off x="1562100" y="4501691"/>
            <a:ext cx="580796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Win a place in our internship</a:t>
            </a:r>
            <a:endParaRPr lang="en-US" sz="1600" dirty="0"/>
          </a:p>
        </p:txBody>
      </p:sp>
      <p:sp>
        <p:nvSpPr>
          <p:cNvPr id="17" name="Text 13"/>
          <p:cNvSpPr/>
          <p:nvPr/>
        </p:nvSpPr>
        <p:spPr>
          <a:xfrm>
            <a:off x="1562100" y="4796303"/>
            <a:ext cx="580796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Winners join the Fadaat Technology Internship Program, building prototypes, POCs and MVPs beside our project managers.</a:t>
            </a:r>
            <a:endParaRPr lang="en-US" sz="1300" dirty="0"/>
          </a:p>
        </p:txBody>
      </p:sp>
      <p:sp>
        <p:nvSpPr>
          <p:cNvPr id="18" name="Shape 14"/>
          <p:cNvSpPr/>
          <p:nvPr/>
        </p:nvSpPr>
        <p:spPr>
          <a:xfrm>
            <a:off x="7832725" y="2047478"/>
            <a:ext cx="3536950" cy="3631671"/>
          </a:xfrm>
          <a:prstGeom prst="roundRect">
            <a:avLst>
              <a:gd name="adj" fmla="val 4039"/>
            </a:avLst>
          </a:prstGeom>
          <a:noFill/>
          <a:ln w="19050">
            <a:solidFill>
              <a:srgbClr val="5DB8F0"/>
            </a:solidFill>
            <a:prstDash val="dash"/>
          </a:ln>
        </p:spPr>
      </p:sp>
      <p:pic>
        <p:nvPicPr>
          <p:cNvPr id="19" name="Image 2" descr="Code">    </p:cNvPr>
          <p:cNvPicPr>
            <a:picLocks noChangeAspect="1"/>
          </p:cNvPicPr>
          <p:nvPr/>
        </p:nvPicPr>
        <p:blipFill>
          <a:blip r:embed="rId3"/>
          <a:srcRect l="0" r="0" t="0" b="0"/>
          <a:stretch/>
        </p:blipFill>
        <p:spPr>
          <a:xfrm>
            <a:off x="9398000" y="2308889"/>
            <a:ext cx="406400" cy="406400"/>
          </a:xfrm>
          <a:prstGeom prst="rect">
            <a:avLst/>
          </a:prstGeom>
        </p:spPr>
      </p:pic>
      <p:sp>
        <p:nvSpPr>
          <p:cNvPr id="20" name="Text 15"/>
          <p:cNvSpPr/>
          <p:nvPr/>
        </p:nvSpPr>
        <p:spPr>
          <a:xfrm>
            <a:off x="8303419" y="2842289"/>
            <a:ext cx="2595563" cy="360627"/>
          </a:xfrm>
          <a:prstGeom prst="rect">
            <a:avLst/>
          </a:prstGeom>
          <a:noFill/>
          <a:ln/>
        </p:spPr>
        <p:txBody>
          <a:bodyPr wrap="square" lIns="0" tIns="0" rIns="0" bIns="0" rtlCol="0" anchor="t">
            <a:normAutofit/>
          </a:bodyPr>
          <a:lstStyle/>
          <a:p>
            <a:pPr algn="ctr" indent="0" marL="0">
              <a:lnSpc>
                <a:spcPts val="2640"/>
              </a:lnSpc>
              <a:buNone/>
            </a:pPr>
            <a:r>
              <a:rPr lang="en-US" sz="2400" b="1" dirty="0">
                <a:solidFill>
                  <a:srgbClr val="F4F7FB"/>
                </a:solidFill>
                <a:latin typeface="Inter" pitchFamily="34" charset="0"/>
                <a:ea typeface="Inter" pitchFamily="34" charset="-122"/>
                <a:cs typeface="Inter" pitchFamily="34" charset="-120"/>
              </a:rPr>
              <a:t>+ Next module</a:t>
            </a:r>
            <a:endParaRPr lang="en-US" sz="2400" dirty="0"/>
          </a:p>
        </p:txBody>
      </p:sp>
      <p:sp>
        <p:nvSpPr>
          <p:cNvPr id="21" name="Text 16"/>
          <p:cNvSpPr/>
          <p:nvPr/>
        </p:nvSpPr>
        <p:spPr>
          <a:xfrm>
            <a:off x="8957476" y="3304518"/>
            <a:ext cx="1287383" cy="274307"/>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BCD2E8"/>
                </a:solidFill>
                <a:latin typeface="Inter" pitchFamily="34" charset="0"/>
                <a:ea typeface="Inter" pitchFamily="34" charset="-122"/>
                <a:cs typeface="Inter" pitchFamily="34" charset="-120"/>
              </a:rPr>
              <a:t>Built by you?</a:t>
            </a:r>
            <a:endParaRPr lang="en-US" sz="1400" dirty="0"/>
          </a:p>
        </p:txBody>
      </p:sp>
      <p:sp>
        <p:nvSpPr>
          <p:cNvPr id="22" name="Text 17"/>
          <p:cNvSpPr/>
          <p:nvPr/>
        </p:nvSpPr>
        <p:spPr>
          <a:xfrm>
            <a:off x="8909050" y="3686770"/>
            <a:ext cx="1384300" cy="1384300"/>
          </a:xfrm>
          <a:prstGeom prst="roundRect">
            <a:avLst>
              <a:gd name="adj" fmla="val 6881"/>
            </a:avLst>
          </a:prstGeom>
          <a:solidFill>
            <a:srgbClr val="0A3D6E"/>
          </a:solidFill>
          <a:ln w="12700">
            <a:solidFill>
              <a:srgbClr val="1F5A8C"/>
            </a:solidFill>
            <a:prstDash val="dash"/>
          </a:ln>
        </p:spPr>
        <p:txBody>
          <a:bodyPr wrap="square" lIns="0" tIns="0" rIns="0" bIns="0" rtlCol="0" anchor="ctr">
            <a:normAutofit/>
          </a:bodyPr>
          <a:lstStyle/>
          <a:p>
            <a:pPr algn="ctr" indent="0" marL="0">
              <a:lnSpc>
                <a:spcPts val="1680"/>
              </a:lnSpc>
              <a:buNone/>
            </a:pPr>
            <a:r>
              <a:rPr lang="en-US" sz="1200" dirty="0">
                <a:solidFill>
                  <a:srgbClr val="8DB0D2"/>
                </a:solidFill>
                <a:latin typeface="Inter" pitchFamily="34" charset="0"/>
                <a:ea typeface="Inter" pitchFamily="34" charset="-122"/>
                <a:cs typeface="Inter" pitchFamily="34" charset="-120"/>
              </a:rPr>
              <a:t>[QR code]</a:t>
            </a:r>
            <a:endParaRPr lang="en-US" sz="1200" dirty="0"/>
          </a:p>
        </p:txBody>
      </p:sp>
      <p:sp>
        <p:nvSpPr>
          <p:cNvPr id="23" name="Text 18"/>
          <p:cNvSpPr/>
          <p:nvPr/>
        </p:nvSpPr>
        <p:spPr>
          <a:xfrm>
            <a:off x="8052911" y="5204420"/>
            <a:ext cx="309657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DB0D2"/>
                </a:solidFill>
                <a:latin typeface="Inter" pitchFamily="34" charset="0"/>
                <a:ea typeface="Inter" pitchFamily="34" charset="-122"/>
                <a:cs typeface="Inter" pitchFamily="34" charset="-120"/>
              </a:rPr>
              <a:t>[Registration link · hackathon dates]</a:t>
            </a:r>
            <a:endParaRPr lang="en-US" sz="1200" dirty="0"/>
          </a:p>
        </p:txBody>
      </p:sp>
      <p:sp>
        <p:nvSpPr>
          <p:cNvPr id="24" name="Text 19"/>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25" name="Text 20"/>
          <p:cNvSpPr/>
          <p:nvPr/>
        </p:nvSpPr>
        <p:spPr>
          <a:xfrm>
            <a:off x="11172230" y="6230609"/>
            <a:ext cx="20697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B0D2"/>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2F59"/>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18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DB0D2"/>
                </a:solidFill>
                <a:latin typeface="Inter" pitchFamily="34" charset="0"/>
                <a:ea typeface="Inter" pitchFamily="34" charset="-122"/>
                <a:cs typeface="Inter" pitchFamily="34" charset="-120"/>
              </a:rPr>
              <a:t>01 DISCOVER · 02 DRAFT · 03 REVIEW · 04 PUBLISH · </a:t>
            </a:r>
            <a:r>
              <a:rPr lang="en-US" sz="1200" b="1" spc="100" kern="0" dirty="0">
                <a:solidFill>
                  <a:srgbClr val="5DB8F0"/>
                </a:solidFill>
                <a:latin typeface="Inter" pitchFamily="34" charset="0"/>
                <a:ea typeface="Inter" pitchFamily="34" charset="-122"/>
                <a:cs typeface="Inter" pitchFamily="34" charset="-120"/>
              </a:rPr>
              <a:t>05 ENRICH</a:t>
            </a:r>
            <a:r>
              <a:rPr lang="en-US" sz="1200" spc="100" kern="0" dirty="0">
                <a:solidFill>
                  <a:srgbClr val="8DB0D2"/>
                </a:solidFill>
                <a:latin typeface="Inter" pitchFamily="34" charset="0"/>
                <a:ea typeface="Inter" pitchFamily="34" charset="-122"/>
                <a:cs typeface="Inter" pitchFamily="34" charset="-120"/>
              </a:rPr>
              <a:t> · 06 MEASURE</a:t>
            </a:r>
            <a:endParaRPr lang="en-US" sz="1200" dirty="0"/>
          </a:p>
        </p:txBody>
      </p:sp>
      <p:sp>
        <p:nvSpPr>
          <p:cNvPr id="5" name="Text 1"/>
          <p:cNvSpPr/>
          <p:nvPr>
            <p:ph type="title"/>
          </p:nvPr>
        </p:nvSpPr>
        <p:spPr>
          <a:xfrm>
            <a:off x="812800" y="1127720"/>
            <a:ext cx="470892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7FB"/>
                </a:solidFill>
                <a:latin typeface="Inter" pitchFamily="34" charset="0"/>
                <a:ea typeface="Inter" pitchFamily="34" charset="-122"/>
                <a:cs typeface="Inter" pitchFamily="34" charset="-120"/>
              </a:rPr>
              <a:t>Enrichment services</a:t>
            </a:r>
            <a:endParaRPr lang="en-US" sz="3600" dirty="0"/>
          </a:p>
        </p:txBody>
      </p:sp>
      <p:sp>
        <p:nvSpPr>
          <p:cNvPr id="6" name="Text 2"/>
          <p:cNvSpPr/>
          <p:nvPr/>
        </p:nvSpPr>
        <p:spPr>
          <a:xfrm>
            <a:off x="5521722" y="1221718"/>
            <a:ext cx="1223698" cy="314920"/>
          </a:xfrm>
          <a:prstGeom prst="roundRect">
            <a:avLst>
              <a:gd name="adj" fmla="val 50000"/>
            </a:avLst>
          </a:prstGeom>
          <a:solidFill>
            <a:srgbClr val="5DB8F0"/>
          </a:solidFill>
          <a:ln/>
        </p:spPr>
        <p:txBody>
          <a:bodyPr wrap="none" lIns="0" tIns="0" rIns="0" bIns="0" rtlCol="0" anchor="ctr">
            <a:normAutofit/>
          </a:bodyPr>
          <a:lstStyle/>
          <a:p>
            <a:pPr algn="ctr" indent="0" marL="0">
              <a:lnSpc>
                <a:spcPts val="1680"/>
              </a:lnSpc>
              <a:buNone/>
            </a:pPr>
            <a:r>
              <a:rPr lang="en-US" sz="1200" b="1" spc="100" kern="0" dirty="0">
                <a:solidFill>
                  <a:srgbClr val="002F59"/>
                </a:solidFill>
                <a:latin typeface="Inter" pitchFamily="34" charset="0"/>
                <a:ea typeface="Inter" pitchFamily="34" charset="-122"/>
                <a:cs typeface="Inter" pitchFamily="34" charset="-120"/>
              </a:rPr>
              <a:t>LIVE DEMO</a:t>
            </a:r>
            <a:endParaRPr lang="en-US" sz="1200" dirty="0"/>
          </a:p>
        </p:txBody>
      </p:sp>
      <p:sp>
        <p:nvSpPr>
          <p:cNvPr id="7" name="Shape 3"/>
          <p:cNvSpPr/>
          <p:nvPr/>
        </p:nvSpPr>
        <p:spPr>
          <a:xfrm>
            <a:off x="815975" y="1938604"/>
            <a:ext cx="3397250" cy="1858037"/>
          </a:xfrm>
          <a:prstGeom prst="roundRect">
            <a:avLst>
              <a:gd name="adj" fmla="val 6664"/>
            </a:avLst>
          </a:prstGeom>
          <a:solidFill>
            <a:srgbClr val="0A3D6E"/>
          </a:solidFill>
          <a:ln w="6350">
            <a:solidFill>
              <a:srgbClr val="1F5A8C"/>
            </a:solidFill>
            <a:prstDash val="solid"/>
          </a:ln>
        </p:spPr>
      </p:sp>
      <p:sp>
        <p:nvSpPr>
          <p:cNvPr id="8" name="Shape 4"/>
          <p:cNvSpPr/>
          <p:nvPr/>
        </p:nvSpPr>
        <p:spPr>
          <a:xfrm>
            <a:off x="1045633" y="2271979"/>
            <a:ext cx="457200" cy="457200"/>
          </a:xfrm>
          <a:prstGeom prst="roundRect">
            <a:avLst>
              <a:gd name="adj" fmla="val 22222"/>
            </a:avLst>
          </a:prstGeom>
          <a:solidFill>
            <a:srgbClr val="5DB8F0"/>
          </a:solidFill>
          <a:ln/>
        </p:spPr>
      </p:sp>
      <p:pic>
        <p:nvPicPr>
          <p:cNvPr id="9" name="Image 2" descr="Play">    </p:cNvPr>
          <p:cNvPicPr>
            <a:picLocks noChangeAspect="1"/>
          </p:cNvPicPr>
          <p:nvPr/>
        </p:nvPicPr>
        <p:blipFill>
          <a:blip r:embed="rId3"/>
          <a:srcRect l="0" r="0" t="0" b="0"/>
          <a:stretch/>
        </p:blipFill>
        <p:spPr>
          <a:xfrm>
            <a:off x="1147233" y="2373579"/>
            <a:ext cx="254000" cy="254000"/>
          </a:xfrm>
          <a:prstGeom prst="rect">
            <a:avLst/>
          </a:prstGeom>
        </p:spPr>
      </p:pic>
      <p:sp>
        <p:nvSpPr>
          <p:cNvPr id="10" name="Text 5"/>
          <p:cNvSpPr/>
          <p:nvPr/>
        </p:nvSpPr>
        <p:spPr>
          <a:xfrm>
            <a:off x="1045633" y="2843479"/>
            <a:ext cx="302607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7FB"/>
                </a:solidFill>
                <a:latin typeface="Inter" pitchFamily="34" charset="0"/>
                <a:ea typeface="Inter" pitchFamily="34" charset="-122"/>
                <a:cs typeface="Inter" pitchFamily="34" charset="-120"/>
              </a:rPr>
              <a:t>Text-to-speech</a:t>
            </a:r>
            <a:endParaRPr lang="en-US" sz="1800" dirty="0"/>
          </a:p>
        </p:txBody>
      </p:sp>
      <p:sp>
        <p:nvSpPr>
          <p:cNvPr id="11" name="Text 6"/>
          <p:cNvSpPr/>
          <p:nvPr/>
        </p:nvSpPr>
        <p:spPr>
          <a:xfrm>
            <a:off x="1045633" y="3232088"/>
            <a:ext cx="316441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Natural Arabic audio for every article</a:t>
            </a:r>
            <a:endParaRPr lang="en-US" sz="1300" dirty="0"/>
          </a:p>
        </p:txBody>
      </p:sp>
      <p:sp>
        <p:nvSpPr>
          <p:cNvPr id="12" name="Shape 7"/>
          <p:cNvSpPr/>
          <p:nvPr/>
        </p:nvSpPr>
        <p:spPr>
          <a:xfrm>
            <a:off x="4397375" y="1938604"/>
            <a:ext cx="3397250" cy="1858037"/>
          </a:xfrm>
          <a:prstGeom prst="roundRect">
            <a:avLst>
              <a:gd name="adj" fmla="val 6664"/>
            </a:avLst>
          </a:prstGeom>
          <a:solidFill>
            <a:srgbClr val="0A3D6E"/>
          </a:solidFill>
          <a:ln w="6350">
            <a:solidFill>
              <a:srgbClr val="1F5A8C"/>
            </a:solidFill>
            <a:prstDash val="solid"/>
          </a:ln>
        </p:spPr>
      </p:sp>
      <p:sp>
        <p:nvSpPr>
          <p:cNvPr id="13" name="Shape 8"/>
          <p:cNvSpPr/>
          <p:nvPr/>
        </p:nvSpPr>
        <p:spPr>
          <a:xfrm>
            <a:off x="4627033" y="2271979"/>
            <a:ext cx="457200" cy="457200"/>
          </a:xfrm>
          <a:prstGeom prst="roundRect">
            <a:avLst>
              <a:gd name="adj" fmla="val 22222"/>
            </a:avLst>
          </a:prstGeom>
          <a:solidFill>
            <a:srgbClr val="5DB8F0"/>
          </a:solidFill>
          <a:ln/>
        </p:spPr>
      </p:sp>
      <p:pic>
        <p:nvPicPr>
          <p:cNvPr id="14" name="Image 3" descr="Book">    </p:cNvPr>
          <p:cNvPicPr>
            <a:picLocks noChangeAspect="1"/>
          </p:cNvPicPr>
          <p:nvPr/>
        </p:nvPicPr>
        <p:blipFill>
          <a:blip r:embed="rId4"/>
          <a:srcRect l="0" r="0" t="0" b="0"/>
          <a:stretch/>
        </p:blipFill>
        <p:spPr>
          <a:xfrm>
            <a:off x="4728633" y="2373579"/>
            <a:ext cx="254000" cy="254000"/>
          </a:xfrm>
          <a:prstGeom prst="rect">
            <a:avLst/>
          </a:prstGeom>
        </p:spPr>
      </p:pic>
      <p:sp>
        <p:nvSpPr>
          <p:cNvPr id="15" name="Text 9"/>
          <p:cNvSpPr/>
          <p:nvPr/>
        </p:nvSpPr>
        <p:spPr>
          <a:xfrm>
            <a:off x="4627033" y="2843479"/>
            <a:ext cx="302607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7FB"/>
                </a:solidFill>
                <a:latin typeface="Inter" pitchFamily="34" charset="0"/>
                <a:ea typeface="Inter" pitchFamily="34" charset="-122"/>
                <a:cs typeface="Inter" pitchFamily="34" charset="-120"/>
              </a:rPr>
              <a:t>Summarization</a:t>
            </a:r>
            <a:endParaRPr lang="en-US" sz="1800" dirty="0"/>
          </a:p>
        </p:txBody>
      </p:sp>
      <p:sp>
        <p:nvSpPr>
          <p:cNvPr id="16" name="Text 10"/>
          <p:cNvSpPr/>
          <p:nvPr/>
        </p:nvSpPr>
        <p:spPr>
          <a:xfrm>
            <a:off x="4627033" y="3232088"/>
            <a:ext cx="302607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Key points of any story at a glance</a:t>
            </a:r>
            <a:endParaRPr lang="en-US" sz="1300" dirty="0"/>
          </a:p>
        </p:txBody>
      </p:sp>
      <p:sp>
        <p:nvSpPr>
          <p:cNvPr id="17" name="Shape 11"/>
          <p:cNvSpPr/>
          <p:nvPr/>
        </p:nvSpPr>
        <p:spPr>
          <a:xfrm>
            <a:off x="7978775" y="1938604"/>
            <a:ext cx="3397250" cy="1858037"/>
          </a:xfrm>
          <a:prstGeom prst="roundRect">
            <a:avLst>
              <a:gd name="adj" fmla="val 6664"/>
            </a:avLst>
          </a:prstGeom>
          <a:solidFill>
            <a:srgbClr val="0A3D6E"/>
          </a:solidFill>
          <a:ln w="6350">
            <a:solidFill>
              <a:srgbClr val="1F5A8C"/>
            </a:solidFill>
            <a:prstDash val="solid"/>
          </a:ln>
        </p:spPr>
      </p:sp>
      <p:sp>
        <p:nvSpPr>
          <p:cNvPr id="18" name="Shape 12"/>
          <p:cNvSpPr/>
          <p:nvPr/>
        </p:nvSpPr>
        <p:spPr>
          <a:xfrm>
            <a:off x="8208434" y="2168265"/>
            <a:ext cx="457200" cy="457200"/>
          </a:xfrm>
          <a:prstGeom prst="roundRect">
            <a:avLst>
              <a:gd name="adj" fmla="val 22222"/>
            </a:avLst>
          </a:prstGeom>
          <a:solidFill>
            <a:srgbClr val="5DB8F0"/>
          </a:solidFill>
          <a:ln/>
        </p:spPr>
      </p:sp>
      <p:pic>
        <p:nvPicPr>
          <p:cNvPr id="19" name="Image 4" descr="Chat">    </p:cNvPr>
          <p:cNvPicPr>
            <a:picLocks noChangeAspect="1"/>
          </p:cNvPicPr>
          <p:nvPr/>
        </p:nvPicPr>
        <p:blipFill>
          <a:blip r:embed="rId5"/>
          <a:srcRect l="0" r="0" t="0" b="0"/>
          <a:stretch/>
        </p:blipFill>
        <p:spPr>
          <a:xfrm>
            <a:off x="8310034" y="2269865"/>
            <a:ext cx="254000" cy="254000"/>
          </a:xfrm>
          <a:prstGeom prst="rect">
            <a:avLst/>
          </a:prstGeom>
        </p:spPr>
      </p:pic>
      <p:sp>
        <p:nvSpPr>
          <p:cNvPr id="20" name="Text 13"/>
          <p:cNvSpPr/>
          <p:nvPr/>
        </p:nvSpPr>
        <p:spPr>
          <a:xfrm>
            <a:off x="8208434" y="2739765"/>
            <a:ext cx="3026071" cy="290843"/>
          </a:xfrm>
          <a:prstGeom prst="rect">
            <a:avLst/>
          </a:prstGeom>
          <a:noFill/>
          <a:ln/>
        </p:spPr>
        <p:txBody>
          <a:bodyPr wrap="square" lIns="0" tIns="0" rIns="0" bIns="0" rtlCol="0" anchor="t">
            <a:normAutofit/>
          </a:bodyPr>
          <a:lstStyle/>
          <a:p>
            <a:pPr algn="l" indent="0" marL="0">
              <a:lnSpc>
                <a:spcPts val="2119"/>
              </a:lnSpc>
              <a:buNone/>
            </a:pPr>
            <a:r>
              <a:rPr lang="en-US" sz="1766" b="1" dirty="0">
                <a:solidFill>
                  <a:srgbClr val="F4F7FB"/>
                </a:solidFill>
                <a:latin typeface="Inter" pitchFamily="34" charset="0"/>
                <a:ea typeface="Inter" pitchFamily="34" charset="-122"/>
                <a:cs typeface="Inter" pitchFamily="34" charset="-120"/>
              </a:rPr>
              <a:t>AI-generated podcast</a:t>
            </a:r>
            <a:endParaRPr lang="en-US" sz="1766" dirty="0"/>
          </a:p>
        </p:txBody>
      </p:sp>
      <p:sp>
        <p:nvSpPr>
          <p:cNvPr id="21" name="Text 14"/>
          <p:cNvSpPr/>
          <p:nvPr/>
        </p:nvSpPr>
        <p:spPr>
          <a:xfrm>
            <a:off x="8208434" y="3119506"/>
            <a:ext cx="3026071" cy="472877"/>
          </a:xfrm>
          <a:prstGeom prst="rect">
            <a:avLst/>
          </a:prstGeom>
          <a:noFill/>
          <a:ln/>
        </p:spPr>
        <p:txBody>
          <a:bodyPr wrap="square" lIns="0" tIns="0" rIns="0" bIns="0" rtlCol="0" anchor="t">
            <a:normAutofit/>
          </a:bodyPr>
          <a:lstStyle/>
          <a:p>
            <a:pPr algn="l" indent="0" marL="0">
              <a:lnSpc>
                <a:spcPts val="1757"/>
              </a:lnSpc>
              <a:buNone/>
            </a:pPr>
            <a:r>
              <a:rPr lang="en-US" sz="1255" dirty="0">
                <a:solidFill>
                  <a:srgbClr val="BCD2E8"/>
                </a:solidFill>
                <a:latin typeface="Inter" pitchFamily="34" charset="0"/>
                <a:ea typeface="Inter" pitchFamily="34" charset="-122"/>
                <a:cs typeface="Inter" pitchFamily="34" charset="-120"/>
              </a:rPr>
              <a:t>Articles turned into conversational audio</a:t>
            </a:r>
            <a:endParaRPr lang="en-US" sz="1255" dirty="0"/>
          </a:p>
        </p:txBody>
      </p:sp>
      <p:sp>
        <p:nvSpPr>
          <p:cNvPr id="22" name="Shape 15"/>
          <p:cNvSpPr/>
          <p:nvPr/>
        </p:nvSpPr>
        <p:spPr>
          <a:xfrm>
            <a:off x="815975" y="3980793"/>
            <a:ext cx="3397250" cy="1858037"/>
          </a:xfrm>
          <a:prstGeom prst="roundRect">
            <a:avLst>
              <a:gd name="adj" fmla="val 6664"/>
            </a:avLst>
          </a:prstGeom>
          <a:solidFill>
            <a:srgbClr val="0A3D6E"/>
          </a:solidFill>
          <a:ln w="6350">
            <a:solidFill>
              <a:srgbClr val="1F5A8C"/>
            </a:solidFill>
            <a:prstDash val="solid"/>
          </a:ln>
        </p:spPr>
      </p:sp>
      <p:sp>
        <p:nvSpPr>
          <p:cNvPr id="23" name="Shape 16"/>
          <p:cNvSpPr/>
          <p:nvPr/>
        </p:nvSpPr>
        <p:spPr>
          <a:xfrm>
            <a:off x="1045633" y="4210447"/>
            <a:ext cx="457200" cy="457200"/>
          </a:xfrm>
          <a:prstGeom prst="roundRect">
            <a:avLst>
              <a:gd name="adj" fmla="val 22222"/>
            </a:avLst>
          </a:prstGeom>
          <a:solidFill>
            <a:srgbClr val="5DB8F0"/>
          </a:solidFill>
          <a:ln/>
        </p:spPr>
      </p:sp>
      <p:pic>
        <p:nvPicPr>
          <p:cNvPr id="24" name="Image 5" descr="Globe">    </p:cNvPr>
          <p:cNvPicPr>
            <a:picLocks noChangeAspect="1"/>
          </p:cNvPicPr>
          <p:nvPr/>
        </p:nvPicPr>
        <p:blipFill>
          <a:blip r:embed="rId6"/>
          <a:srcRect l="0" r="0" t="0" b="0"/>
          <a:stretch/>
        </p:blipFill>
        <p:spPr>
          <a:xfrm>
            <a:off x="1147233" y="4312047"/>
            <a:ext cx="254000" cy="254000"/>
          </a:xfrm>
          <a:prstGeom prst="rect">
            <a:avLst/>
          </a:prstGeom>
        </p:spPr>
      </p:pic>
      <p:sp>
        <p:nvSpPr>
          <p:cNvPr id="25" name="Text 17"/>
          <p:cNvSpPr/>
          <p:nvPr/>
        </p:nvSpPr>
        <p:spPr>
          <a:xfrm>
            <a:off x="1045633" y="4781947"/>
            <a:ext cx="3164417" cy="290843"/>
          </a:xfrm>
          <a:prstGeom prst="rect">
            <a:avLst/>
          </a:prstGeom>
          <a:noFill/>
          <a:ln/>
        </p:spPr>
        <p:txBody>
          <a:bodyPr wrap="square" lIns="0" tIns="0" rIns="0" bIns="0" rtlCol="0" anchor="t">
            <a:normAutofit/>
          </a:bodyPr>
          <a:lstStyle/>
          <a:p>
            <a:pPr algn="l" indent="0" marL="0">
              <a:lnSpc>
                <a:spcPts val="2119"/>
              </a:lnSpc>
              <a:buNone/>
            </a:pPr>
            <a:r>
              <a:rPr lang="en-US" sz="1766" b="1" dirty="0">
                <a:solidFill>
                  <a:srgbClr val="F4F7FB"/>
                </a:solidFill>
                <a:latin typeface="Inter" pitchFamily="34" charset="0"/>
                <a:ea typeface="Inter" pitchFamily="34" charset="-122"/>
                <a:cs typeface="Inter" pitchFamily="34" charset="-120"/>
              </a:rPr>
              <a:t>Transcription &amp; translation</a:t>
            </a:r>
            <a:endParaRPr lang="en-US" sz="1766" dirty="0"/>
          </a:p>
        </p:txBody>
      </p:sp>
      <p:sp>
        <p:nvSpPr>
          <p:cNvPr id="26" name="Text 18"/>
          <p:cNvSpPr/>
          <p:nvPr/>
        </p:nvSpPr>
        <p:spPr>
          <a:xfrm>
            <a:off x="1045633" y="5161694"/>
            <a:ext cx="3026071" cy="472877"/>
          </a:xfrm>
          <a:prstGeom prst="rect">
            <a:avLst/>
          </a:prstGeom>
          <a:noFill/>
          <a:ln/>
        </p:spPr>
        <p:txBody>
          <a:bodyPr wrap="square" lIns="0" tIns="0" rIns="0" bIns="0" rtlCol="0" anchor="t">
            <a:normAutofit/>
          </a:bodyPr>
          <a:lstStyle/>
          <a:p>
            <a:pPr algn="l" indent="0" marL="0">
              <a:lnSpc>
                <a:spcPts val="1757"/>
              </a:lnSpc>
              <a:buNone/>
            </a:pPr>
            <a:r>
              <a:rPr lang="en-US" sz="1255" dirty="0">
                <a:solidFill>
                  <a:srgbClr val="BCD2E8"/>
                </a:solidFill>
                <a:latin typeface="Inter" pitchFamily="34" charset="0"/>
                <a:ea typeface="Inter" pitchFamily="34" charset="-122"/>
                <a:cs typeface="Inter" pitchFamily="34" charset="-120"/>
              </a:rPr>
              <a:t>Speech to text, then into new languages</a:t>
            </a:r>
            <a:endParaRPr lang="en-US" sz="1255" dirty="0"/>
          </a:p>
        </p:txBody>
      </p:sp>
      <p:sp>
        <p:nvSpPr>
          <p:cNvPr id="27" name="Shape 19"/>
          <p:cNvSpPr/>
          <p:nvPr/>
        </p:nvSpPr>
        <p:spPr>
          <a:xfrm>
            <a:off x="4397375" y="3980793"/>
            <a:ext cx="3397250" cy="1858037"/>
          </a:xfrm>
          <a:prstGeom prst="roundRect">
            <a:avLst>
              <a:gd name="adj" fmla="val 6664"/>
            </a:avLst>
          </a:prstGeom>
          <a:solidFill>
            <a:srgbClr val="0A3D6E"/>
          </a:solidFill>
          <a:ln w="6350">
            <a:solidFill>
              <a:srgbClr val="1F5A8C"/>
            </a:solidFill>
            <a:prstDash val="solid"/>
          </a:ln>
        </p:spPr>
      </p:sp>
      <p:sp>
        <p:nvSpPr>
          <p:cNvPr id="28" name="Shape 20"/>
          <p:cNvSpPr/>
          <p:nvPr/>
        </p:nvSpPr>
        <p:spPr>
          <a:xfrm>
            <a:off x="4627033" y="4210447"/>
            <a:ext cx="457200" cy="457200"/>
          </a:xfrm>
          <a:prstGeom prst="roundRect">
            <a:avLst>
              <a:gd name="adj" fmla="val 22222"/>
            </a:avLst>
          </a:prstGeom>
          <a:solidFill>
            <a:srgbClr val="5DB8F0"/>
          </a:solidFill>
          <a:ln/>
        </p:spPr>
      </p:sp>
      <p:pic>
        <p:nvPicPr>
          <p:cNvPr id="29" name="Image 6" descr="Activity">    </p:cNvPr>
          <p:cNvPicPr>
            <a:picLocks noChangeAspect="1"/>
          </p:cNvPicPr>
          <p:nvPr/>
        </p:nvPicPr>
        <p:blipFill>
          <a:blip r:embed="rId7"/>
          <a:srcRect l="0" r="0" t="0" b="0"/>
          <a:stretch/>
        </p:blipFill>
        <p:spPr>
          <a:xfrm>
            <a:off x="4728633" y="4312047"/>
            <a:ext cx="254000" cy="254000"/>
          </a:xfrm>
          <a:prstGeom prst="rect">
            <a:avLst/>
          </a:prstGeom>
        </p:spPr>
      </p:pic>
      <p:sp>
        <p:nvSpPr>
          <p:cNvPr id="30" name="Text 21"/>
          <p:cNvSpPr/>
          <p:nvPr/>
        </p:nvSpPr>
        <p:spPr>
          <a:xfrm>
            <a:off x="4627033" y="4781947"/>
            <a:ext cx="3026071" cy="290843"/>
          </a:xfrm>
          <a:prstGeom prst="rect">
            <a:avLst/>
          </a:prstGeom>
          <a:noFill/>
          <a:ln/>
        </p:spPr>
        <p:txBody>
          <a:bodyPr wrap="square" lIns="0" tIns="0" rIns="0" bIns="0" rtlCol="0" anchor="t">
            <a:normAutofit/>
          </a:bodyPr>
          <a:lstStyle/>
          <a:p>
            <a:pPr algn="l" indent="0" marL="0">
              <a:lnSpc>
                <a:spcPts val="2119"/>
              </a:lnSpc>
              <a:buNone/>
            </a:pPr>
            <a:r>
              <a:rPr lang="en-US" sz="1766" b="1" dirty="0">
                <a:solidFill>
                  <a:srgbClr val="F4F7FB"/>
                </a:solidFill>
                <a:latin typeface="Inter" pitchFamily="34" charset="0"/>
                <a:ea typeface="Inter" pitchFamily="34" charset="-122"/>
                <a:cs typeface="Inter" pitchFamily="34" charset="-120"/>
              </a:rPr>
              <a:t>Live captions</a:t>
            </a:r>
            <a:endParaRPr lang="en-US" sz="1766" dirty="0"/>
          </a:p>
        </p:txBody>
      </p:sp>
      <p:sp>
        <p:nvSpPr>
          <p:cNvPr id="31" name="Text 22"/>
          <p:cNvSpPr/>
          <p:nvPr/>
        </p:nvSpPr>
        <p:spPr>
          <a:xfrm>
            <a:off x="4627033" y="5161694"/>
            <a:ext cx="3026071" cy="472877"/>
          </a:xfrm>
          <a:prstGeom prst="rect">
            <a:avLst/>
          </a:prstGeom>
          <a:noFill/>
          <a:ln/>
        </p:spPr>
        <p:txBody>
          <a:bodyPr wrap="square" lIns="0" tIns="0" rIns="0" bIns="0" rtlCol="0" anchor="t">
            <a:normAutofit/>
          </a:bodyPr>
          <a:lstStyle/>
          <a:p>
            <a:pPr algn="l" indent="0" marL="0">
              <a:lnSpc>
                <a:spcPts val="1757"/>
              </a:lnSpc>
              <a:buNone/>
            </a:pPr>
            <a:r>
              <a:rPr lang="en-US" sz="1255" dirty="0">
                <a:solidFill>
                  <a:srgbClr val="BCD2E8"/>
                </a:solidFill>
                <a:latin typeface="Inter" pitchFamily="34" charset="0"/>
                <a:ea typeface="Inter" pitchFamily="34" charset="-122"/>
                <a:cs typeface="Inter" pitchFamily="34" charset="-120"/>
              </a:rPr>
              <a:t>Real-time captions on Alaraby TV and Alaraby Plus</a:t>
            </a:r>
            <a:endParaRPr lang="en-US" sz="1255" dirty="0"/>
          </a:p>
        </p:txBody>
      </p:sp>
      <p:sp>
        <p:nvSpPr>
          <p:cNvPr id="32" name="Shape 23"/>
          <p:cNvSpPr/>
          <p:nvPr/>
        </p:nvSpPr>
        <p:spPr>
          <a:xfrm>
            <a:off x="7978775" y="3980793"/>
            <a:ext cx="3397250" cy="1858037"/>
          </a:xfrm>
          <a:prstGeom prst="roundRect">
            <a:avLst>
              <a:gd name="adj" fmla="val 6664"/>
            </a:avLst>
          </a:prstGeom>
          <a:solidFill>
            <a:srgbClr val="0A3D6E"/>
          </a:solidFill>
          <a:ln w="6350">
            <a:solidFill>
              <a:srgbClr val="1F5A8C"/>
            </a:solidFill>
            <a:prstDash val="solid"/>
          </a:ln>
        </p:spPr>
      </p:sp>
      <p:sp>
        <p:nvSpPr>
          <p:cNvPr id="33" name="Shape 24"/>
          <p:cNvSpPr/>
          <p:nvPr/>
        </p:nvSpPr>
        <p:spPr>
          <a:xfrm>
            <a:off x="8208434" y="4210447"/>
            <a:ext cx="457200" cy="457200"/>
          </a:xfrm>
          <a:prstGeom prst="roundRect">
            <a:avLst>
              <a:gd name="adj" fmla="val 22222"/>
            </a:avLst>
          </a:prstGeom>
          <a:solidFill>
            <a:srgbClr val="5DB8F0"/>
          </a:solidFill>
          <a:ln/>
        </p:spPr>
      </p:sp>
      <p:pic>
        <p:nvPicPr>
          <p:cNvPr id="34" name="Image 7" descr="Search">    </p:cNvPr>
          <p:cNvPicPr>
            <a:picLocks noChangeAspect="1"/>
          </p:cNvPicPr>
          <p:nvPr/>
        </p:nvPicPr>
        <p:blipFill>
          <a:blip r:embed="rId8"/>
          <a:srcRect l="0" r="0" t="0" b="0"/>
          <a:stretch/>
        </p:blipFill>
        <p:spPr>
          <a:xfrm>
            <a:off x="8310034" y="4312047"/>
            <a:ext cx="254000" cy="254000"/>
          </a:xfrm>
          <a:prstGeom prst="rect">
            <a:avLst/>
          </a:prstGeom>
        </p:spPr>
      </p:pic>
      <p:sp>
        <p:nvSpPr>
          <p:cNvPr id="35" name="Text 25"/>
          <p:cNvSpPr/>
          <p:nvPr/>
        </p:nvSpPr>
        <p:spPr>
          <a:xfrm>
            <a:off x="8208434" y="4781947"/>
            <a:ext cx="3026071" cy="290843"/>
          </a:xfrm>
          <a:prstGeom prst="rect">
            <a:avLst/>
          </a:prstGeom>
          <a:noFill/>
          <a:ln/>
        </p:spPr>
        <p:txBody>
          <a:bodyPr wrap="square" lIns="0" tIns="0" rIns="0" bIns="0" rtlCol="0" anchor="t">
            <a:normAutofit/>
          </a:bodyPr>
          <a:lstStyle/>
          <a:p>
            <a:pPr algn="l" indent="0" marL="0">
              <a:lnSpc>
                <a:spcPts val="2119"/>
              </a:lnSpc>
              <a:buNone/>
            </a:pPr>
            <a:r>
              <a:rPr lang="en-US" sz="1766" b="1" dirty="0">
                <a:solidFill>
                  <a:srgbClr val="F4F7FB"/>
                </a:solidFill>
                <a:latin typeface="Inter" pitchFamily="34" charset="0"/>
                <a:ea typeface="Inter" pitchFamily="34" charset="-122"/>
                <a:cs typeface="Inter" pitchFamily="34" charset="-120"/>
              </a:rPr>
              <a:t>AI chatbot</a:t>
            </a:r>
            <a:endParaRPr lang="en-US" sz="1766" dirty="0"/>
          </a:p>
        </p:txBody>
      </p:sp>
      <p:sp>
        <p:nvSpPr>
          <p:cNvPr id="36" name="Text 26"/>
          <p:cNvSpPr/>
          <p:nvPr/>
        </p:nvSpPr>
        <p:spPr>
          <a:xfrm>
            <a:off x="8208434" y="5161694"/>
            <a:ext cx="3026071" cy="472877"/>
          </a:xfrm>
          <a:prstGeom prst="rect">
            <a:avLst/>
          </a:prstGeom>
          <a:noFill/>
          <a:ln/>
        </p:spPr>
        <p:txBody>
          <a:bodyPr wrap="square" lIns="0" tIns="0" rIns="0" bIns="0" rtlCol="0" anchor="t">
            <a:normAutofit/>
          </a:bodyPr>
          <a:lstStyle/>
          <a:p>
            <a:pPr algn="l" indent="0" marL="0">
              <a:lnSpc>
                <a:spcPts val="1757"/>
              </a:lnSpc>
              <a:buNone/>
            </a:pPr>
            <a:r>
              <a:rPr lang="en-US" sz="1255" dirty="0">
                <a:solidFill>
                  <a:srgbClr val="BCD2E8"/>
                </a:solidFill>
                <a:latin typeface="Inter" pitchFamily="34" charset="0"/>
                <a:ea typeface="Inter" pitchFamily="34" charset="-122"/>
                <a:cs typeface="Inter" pitchFamily="34" charset="-120"/>
              </a:rPr>
              <a:t>Group-wide or per-brand answers from our content</a:t>
            </a:r>
            <a:endParaRPr lang="en-US" sz="1255" dirty="0"/>
          </a:p>
        </p:txBody>
      </p:sp>
      <p:sp>
        <p:nvSpPr>
          <p:cNvPr id="37" name="Text 27"/>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38" name="Text 28"/>
          <p:cNvSpPr/>
          <p:nvPr/>
        </p:nvSpPr>
        <p:spPr>
          <a:xfrm>
            <a:off x="11167931" y="6230609"/>
            <a:ext cx="21127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B0D2"/>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F59"/>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18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DB0D2"/>
                </a:solidFill>
                <a:latin typeface="Inter" pitchFamily="34" charset="0"/>
                <a:ea typeface="Inter" pitchFamily="34" charset="-122"/>
                <a:cs typeface="Inter" pitchFamily="34" charset="-120"/>
              </a:rPr>
              <a:t>01 DISCOVER · 02 DRAFT · 03 REVIEW · 04 PUBLISH · </a:t>
            </a:r>
            <a:r>
              <a:rPr lang="en-US" sz="1200" b="1" spc="100" kern="0" dirty="0">
                <a:solidFill>
                  <a:srgbClr val="5DB8F0"/>
                </a:solidFill>
                <a:latin typeface="Inter" pitchFamily="34" charset="0"/>
                <a:ea typeface="Inter" pitchFamily="34" charset="-122"/>
                <a:cs typeface="Inter" pitchFamily="34" charset="-120"/>
              </a:rPr>
              <a:t>05 ENRICH</a:t>
            </a:r>
            <a:r>
              <a:rPr lang="en-US" sz="1200" spc="100" kern="0" dirty="0">
                <a:solidFill>
                  <a:srgbClr val="8DB0D2"/>
                </a:solidFill>
                <a:latin typeface="Inter" pitchFamily="34" charset="0"/>
                <a:ea typeface="Inter" pitchFamily="34" charset="-122"/>
                <a:cs typeface="Inter" pitchFamily="34" charset="-120"/>
              </a:rPr>
              <a:t> · 06 MEASURE</a:t>
            </a:r>
            <a:endParaRPr lang="en-US" sz="1200" dirty="0"/>
          </a:p>
        </p:txBody>
      </p:sp>
      <p:sp>
        <p:nvSpPr>
          <p:cNvPr id="5" name="Text 1"/>
          <p:cNvSpPr/>
          <p:nvPr>
            <p:ph type="title"/>
          </p:nvPr>
        </p:nvSpPr>
        <p:spPr>
          <a:xfrm>
            <a:off x="812800" y="1127720"/>
            <a:ext cx="470892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7FB"/>
                </a:solidFill>
                <a:latin typeface="Inter" pitchFamily="34" charset="0"/>
                <a:ea typeface="Inter" pitchFamily="34" charset="-122"/>
                <a:cs typeface="Inter" pitchFamily="34" charset="-120"/>
              </a:rPr>
              <a:t>Enrichment services</a:t>
            </a:r>
            <a:endParaRPr lang="en-US" sz="3600" dirty="0"/>
          </a:p>
        </p:txBody>
      </p:sp>
      <p:sp>
        <p:nvSpPr>
          <p:cNvPr id="6" name="Text 2"/>
          <p:cNvSpPr/>
          <p:nvPr/>
        </p:nvSpPr>
        <p:spPr>
          <a:xfrm>
            <a:off x="5521722" y="1221718"/>
            <a:ext cx="2419548" cy="314920"/>
          </a:xfrm>
          <a:prstGeom prst="roundRect">
            <a:avLst>
              <a:gd name="adj" fmla="val 50000"/>
            </a:avLst>
          </a:prstGeom>
          <a:solidFill>
            <a:srgbClr val="5DB8F0"/>
          </a:solidFill>
          <a:ln/>
        </p:spPr>
        <p:txBody>
          <a:bodyPr wrap="none" lIns="0" tIns="0" rIns="0" bIns="0" rtlCol="0" anchor="ctr">
            <a:normAutofit/>
          </a:bodyPr>
          <a:lstStyle/>
          <a:p>
            <a:pPr algn="ctr" indent="0" marL="0">
              <a:lnSpc>
                <a:spcPts val="1680"/>
              </a:lnSpc>
              <a:buNone/>
            </a:pPr>
            <a:r>
              <a:rPr lang="en-US" sz="1200" b="1" spc="100" kern="0" dirty="0">
                <a:solidFill>
                  <a:srgbClr val="002F59"/>
                </a:solidFill>
                <a:latin typeface="Inter" pitchFamily="34" charset="0"/>
                <a:ea typeface="Inter" pitchFamily="34" charset="-122"/>
                <a:cs typeface="Inter" pitchFamily="34" charset="-120"/>
              </a:rPr>
              <a:t>LIVE DEMO · CONTINUED</a:t>
            </a:r>
            <a:endParaRPr lang="en-US" sz="1200" dirty="0"/>
          </a:p>
        </p:txBody>
      </p:sp>
      <p:sp>
        <p:nvSpPr>
          <p:cNvPr id="7" name="Shape 3"/>
          <p:cNvSpPr/>
          <p:nvPr/>
        </p:nvSpPr>
        <p:spPr>
          <a:xfrm>
            <a:off x="812800" y="2367359"/>
            <a:ext cx="457200" cy="457200"/>
          </a:xfrm>
          <a:prstGeom prst="roundRect">
            <a:avLst>
              <a:gd name="adj" fmla="val 22222"/>
            </a:avLst>
          </a:prstGeom>
          <a:solidFill>
            <a:srgbClr val="5DB8F0"/>
          </a:solidFill>
          <a:ln/>
        </p:spPr>
      </p:sp>
      <p:pic>
        <p:nvPicPr>
          <p:cNvPr id="8" name="Image 2" descr="Search">    </p:cNvPr>
          <p:cNvPicPr>
            <a:picLocks noChangeAspect="1"/>
          </p:cNvPicPr>
          <p:nvPr/>
        </p:nvPicPr>
        <p:blipFill>
          <a:blip r:embed="rId3"/>
          <a:srcRect l="0" r="0" t="0" b="0"/>
          <a:stretch/>
        </p:blipFill>
        <p:spPr>
          <a:xfrm>
            <a:off x="914400" y="2468959"/>
            <a:ext cx="254000" cy="254000"/>
          </a:xfrm>
          <a:prstGeom prst="rect">
            <a:avLst/>
          </a:prstGeom>
        </p:spPr>
      </p:pic>
      <p:sp>
        <p:nvSpPr>
          <p:cNvPr id="9" name="Text 4"/>
          <p:cNvSpPr/>
          <p:nvPr/>
        </p:nvSpPr>
        <p:spPr>
          <a:xfrm>
            <a:off x="1397000" y="2260736"/>
            <a:ext cx="4787646" cy="695854"/>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7FB"/>
                </a:solidFill>
                <a:latin typeface="Inter" pitchFamily="34" charset="0"/>
                <a:ea typeface="Inter" pitchFamily="34" charset="-122"/>
                <a:cs typeface="Inter" pitchFamily="34" charset="-120"/>
              </a:rPr>
              <a:t>AI chatbot: ask our journalism anything</a:t>
            </a:r>
            <a:endParaRPr lang="en-US" sz="2200" dirty="0"/>
          </a:p>
        </p:txBody>
      </p:sp>
      <p:sp>
        <p:nvSpPr>
          <p:cNvPr id="10" name="Text 5"/>
          <p:cNvSpPr/>
          <p:nvPr/>
        </p:nvSpPr>
        <p:spPr>
          <a:xfrm>
            <a:off x="812800" y="3083589"/>
            <a:ext cx="5389372"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CD2E8"/>
                </a:solidFill>
                <a:latin typeface="Inter" pitchFamily="34" charset="0"/>
                <a:ea typeface="Inter" pitchFamily="34" charset="-122"/>
                <a:cs typeface="Inter" pitchFamily="34" charset="-120"/>
              </a:rPr>
              <a:t>Our AI chatbot runs in two modes: one chatbot across all our brands’ content, or a dedicated chatbot per brand. Both build a full knowledge graph, so answers follow the links between people, places and events.</a:t>
            </a:r>
            <a:endParaRPr lang="en-US" sz="1400" dirty="0"/>
          </a:p>
        </p:txBody>
      </p:sp>
      <p:pic>
        <p:nvPicPr>
          <p:cNvPr id="11" name="Image 3" descr="CheckCircle">    </p:cNvPr>
          <p:cNvPicPr>
            <a:picLocks noChangeAspect="1"/>
          </p:cNvPicPr>
          <p:nvPr/>
        </p:nvPicPr>
        <p:blipFill>
          <a:blip r:embed="rId4"/>
          <a:srcRect l="0" r="0" t="0" b="0"/>
          <a:stretch/>
        </p:blipFill>
        <p:spPr>
          <a:xfrm>
            <a:off x="812800" y="4267070"/>
            <a:ext cx="203200" cy="203200"/>
          </a:xfrm>
          <a:prstGeom prst="rect">
            <a:avLst/>
          </a:prstGeom>
        </p:spPr>
      </p:pic>
      <p:sp>
        <p:nvSpPr>
          <p:cNvPr id="12" name="Text 6"/>
          <p:cNvSpPr/>
          <p:nvPr/>
        </p:nvSpPr>
        <p:spPr>
          <a:xfrm>
            <a:off x="1117600" y="4267070"/>
            <a:ext cx="507542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7FB"/>
                </a:solidFill>
                <a:latin typeface="Inter" pitchFamily="34" charset="0"/>
                <a:ea typeface="Inter" pitchFamily="34" charset="-122"/>
                <a:cs typeface="Inter" pitchFamily="34" charset="-120"/>
              </a:rPr>
              <a:t>Two modes: group-wide or per brand, on one engine</a:t>
            </a:r>
            <a:endParaRPr lang="en-US" sz="1400" dirty="0"/>
          </a:p>
        </p:txBody>
      </p:sp>
      <p:pic>
        <p:nvPicPr>
          <p:cNvPr id="13" name="Image 4" descr="CheckCircle">    </p:cNvPr>
          <p:cNvPicPr>
            <a:picLocks noChangeAspect="1"/>
          </p:cNvPicPr>
          <p:nvPr/>
        </p:nvPicPr>
        <p:blipFill>
          <a:blip r:embed="rId5"/>
          <a:srcRect l="0" r="0" t="0" b="0"/>
          <a:stretch/>
        </p:blipFill>
        <p:spPr>
          <a:xfrm>
            <a:off x="812800" y="4617579"/>
            <a:ext cx="203200" cy="203200"/>
          </a:xfrm>
          <a:prstGeom prst="rect">
            <a:avLst/>
          </a:prstGeom>
        </p:spPr>
      </p:pic>
      <p:sp>
        <p:nvSpPr>
          <p:cNvPr id="14" name="Text 7"/>
          <p:cNvSpPr/>
          <p:nvPr/>
        </p:nvSpPr>
        <p:spPr>
          <a:xfrm>
            <a:off x="1117600" y="4617579"/>
            <a:ext cx="5075428"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7FB"/>
                </a:solidFill>
                <a:latin typeface="Inter" pitchFamily="34" charset="0"/>
                <a:ea typeface="Inter" pitchFamily="34" charset="-122"/>
                <a:cs typeface="Inter" pitchFamily="34" charset="-120"/>
              </a:rPr>
              <a:t>Full GraphRAG: entities and relationships, not just keywords</a:t>
            </a:r>
            <a:endParaRPr lang="en-US" sz="1400" dirty="0"/>
          </a:p>
        </p:txBody>
      </p:sp>
      <p:pic>
        <p:nvPicPr>
          <p:cNvPr id="15" name="Image 5" descr="CheckCircle">    </p:cNvPr>
          <p:cNvPicPr>
            <a:picLocks noChangeAspect="1"/>
          </p:cNvPicPr>
          <p:nvPr/>
        </p:nvPicPr>
        <p:blipFill>
          <a:blip r:embed="rId6"/>
          <a:srcRect l="0" r="0" t="0" b="0"/>
          <a:stretch/>
        </p:blipFill>
        <p:spPr>
          <a:xfrm>
            <a:off x="812800" y="5216990"/>
            <a:ext cx="203200" cy="203200"/>
          </a:xfrm>
          <a:prstGeom prst="rect">
            <a:avLst/>
          </a:prstGeom>
        </p:spPr>
      </p:pic>
      <p:sp>
        <p:nvSpPr>
          <p:cNvPr id="16" name="Text 8"/>
          <p:cNvSpPr/>
          <p:nvPr/>
        </p:nvSpPr>
        <p:spPr>
          <a:xfrm>
            <a:off x="1117600" y="5216990"/>
            <a:ext cx="507542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7FB"/>
                </a:solidFill>
                <a:latin typeface="Inter" pitchFamily="34" charset="0"/>
                <a:ea typeface="Inter" pitchFamily="34" charset="-122"/>
                <a:cs typeface="Inter" pitchFamily="34" charset="-120"/>
              </a:rPr>
              <a:t>Answers grounded in our own published reporting</a:t>
            </a:r>
            <a:endParaRPr lang="en-US" sz="1400" dirty="0"/>
          </a:p>
        </p:txBody>
      </p:sp>
      <p:sp>
        <p:nvSpPr>
          <p:cNvPr id="17" name="Shape 9"/>
          <p:cNvSpPr/>
          <p:nvPr/>
        </p:nvSpPr>
        <p:spPr>
          <a:xfrm>
            <a:off x="6556375" y="1951899"/>
            <a:ext cx="4819650" cy="3822833"/>
          </a:xfrm>
          <a:prstGeom prst="roundRect">
            <a:avLst>
              <a:gd name="adj" fmla="val 3904"/>
            </a:avLst>
          </a:prstGeom>
          <a:solidFill>
            <a:srgbClr val="0A3D6E"/>
          </a:solidFill>
          <a:ln w="6350">
            <a:solidFill>
              <a:srgbClr val="1F5A8C"/>
            </a:solidFill>
            <a:prstDash val="solid"/>
          </a:ln>
        </p:spPr>
      </p:sp>
      <p:sp>
        <p:nvSpPr>
          <p:cNvPr id="18" name="Text 10"/>
          <p:cNvSpPr/>
          <p:nvPr/>
        </p:nvSpPr>
        <p:spPr>
          <a:xfrm>
            <a:off x="7691967" y="2206960"/>
            <a:ext cx="3429000" cy="716227"/>
          </a:xfrm>
          <a:custGeom>
            <a:avLst/>
            <a:gdLst/>
            <a:ahLst/>
            <a:cxnLst/>
            <a:rect l="l" t="t" r="r" b="b"/>
            <a:pathLst>
              <a:path w="3429000" h="716227">
                <a:moveTo>
                  <a:pt x="152400" y="0"/>
                </a:moveTo>
                <a:lnTo>
                  <a:pt x="3276600" y="0"/>
                </a:lnTo>
                <a:arcTo hR="152400" wR="152400" stAng="16200000" swAng="5400000"/>
                <a:lnTo>
                  <a:pt x="3429000" y="678127"/>
                </a:lnTo>
                <a:arcTo hR="38100" wR="38100" stAng="0" swAng="5400000"/>
                <a:lnTo>
                  <a:pt x="152400" y="716227"/>
                </a:lnTo>
                <a:arcTo hR="152400" wR="152400" stAng="5400000" swAng="5400000"/>
                <a:lnTo>
                  <a:pt x="0" y="152400"/>
                </a:lnTo>
                <a:arcTo hR="152400" wR="152400" stAng="10800000" swAng="5400000"/>
                <a:close/>
              </a:path>
            </a:pathLst>
          </a:custGeom>
          <a:solidFill>
            <a:srgbClr val="5DB8F0"/>
          </a:solidFill>
          <a:ln/>
        </p:spPr>
        <p:txBody>
          <a:bodyPr wrap="square" lIns="177800" tIns="127000" rIns="85598" bIns="101600" rtlCol="0" anchor="t">
            <a:normAutofit/>
          </a:bodyPr>
          <a:lstStyle/>
          <a:p>
            <a:pPr algn="l" indent="0" marL="0">
              <a:lnSpc>
                <a:spcPts val="1820"/>
              </a:lnSpc>
              <a:buNone/>
            </a:pPr>
            <a:r>
              <a:rPr lang="en-US" sz="1300" dirty="0">
                <a:solidFill>
                  <a:srgbClr val="002F59"/>
                </a:solidFill>
                <a:latin typeface="Inter" pitchFamily="34" charset="0"/>
                <a:ea typeface="Inter" pitchFamily="34" charset="-122"/>
                <a:cs typeface="Inter" pitchFamily="34" charset="-120"/>
              </a:rPr>
              <a:t>What has been verified about the viral fuel-price claim?</a:t>
            </a:r>
            <a:endParaRPr lang="en-US" sz="1300" dirty="0"/>
          </a:p>
        </p:txBody>
      </p:sp>
      <p:sp>
        <p:nvSpPr>
          <p:cNvPr id="19" name="Text 11"/>
          <p:cNvSpPr/>
          <p:nvPr/>
        </p:nvSpPr>
        <p:spPr>
          <a:xfrm>
            <a:off x="6814609" y="3053358"/>
            <a:ext cx="3930650" cy="949457"/>
          </a:xfrm>
          <a:custGeom>
            <a:avLst/>
            <a:gdLst/>
            <a:ahLst/>
            <a:cxnLst/>
            <a:rect l="l" t="t" r="r" b="b"/>
            <a:pathLst>
              <a:path w="3930650" h="949457">
                <a:moveTo>
                  <a:pt x="149225" y="0"/>
                </a:moveTo>
                <a:lnTo>
                  <a:pt x="3781425" y="0"/>
                </a:lnTo>
                <a:arcTo hR="149225" wR="149225" stAng="16200000" swAng="5400000"/>
                <a:lnTo>
                  <a:pt x="3930650" y="800232"/>
                </a:lnTo>
                <a:arcTo hR="149225" wR="149225" stAng="0" swAng="5400000"/>
                <a:lnTo>
                  <a:pt x="34925" y="949457"/>
                </a:lnTo>
                <a:arcTo hR="34925" wR="34925" stAng="5400000" swAng="5400000"/>
                <a:lnTo>
                  <a:pt x="0" y="149225"/>
                </a:lnTo>
                <a:arcTo hR="149225" wR="149225" stAng="10800000" swAng="5400000"/>
                <a:close/>
              </a:path>
            </a:pathLst>
          </a:custGeom>
          <a:solidFill>
            <a:srgbClr val="002F59"/>
          </a:solidFill>
          <a:ln w="6350">
            <a:solidFill>
              <a:srgbClr val="1F5A8C"/>
            </a:solidFill>
            <a:prstDash val="solid"/>
          </a:ln>
        </p:spPr>
        <p:txBody>
          <a:bodyPr wrap="square" lIns="178858" tIns="128058" rIns="71670" bIns="102658"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Misbar reviewed the claim and rated it misleading. Alaraby Aljadeed reported the official figures the same day.</a:t>
            </a:r>
            <a:endParaRPr lang="en-US" sz="1300" dirty="0"/>
          </a:p>
        </p:txBody>
      </p:sp>
      <p:sp>
        <p:nvSpPr>
          <p:cNvPr id="20" name="Text 12"/>
          <p:cNvSpPr/>
          <p:nvPr/>
        </p:nvSpPr>
        <p:spPr>
          <a:xfrm>
            <a:off x="6811434" y="4171094"/>
            <a:ext cx="6666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Sources</a:t>
            </a:r>
            <a:endParaRPr lang="en-US" sz="1200" dirty="0"/>
          </a:p>
        </p:txBody>
      </p:sp>
      <p:sp>
        <p:nvSpPr>
          <p:cNvPr id="21" name="Text 13"/>
          <p:cNvSpPr/>
          <p:nvPr/>
        </p:nvSpPr>
        <p:spPr>
          <a:xfrm>
            <a:off x="7484467" y="4139344"/>
            <a:ext cx="683286" cy="276820"/>
          </a:xfrm>
          <a:custGeom>
            <a:avLst/>
            <a:gdLst/>
            <a:ahLst/>
            <a:cxnLst/>
            <a:rect l="l" t="t" r="r" b="b"/>
            <a:pathLst>
              <a:path w="683286" h="276820">
                <a:moveTo>
                  <a:pt x="138410" y="0"/>
                </a:moveTo>
                <a:lnTo>
                  <a:pt x="544876" y="0"/>
                </a:lnTo>
                <a:arcTo hR="138410" wR="138410" stAng="16200000" swAng="5400000"/>
                <a:lnTo>
                  <a:pt x="683286"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5DB8F0"/>
            </a:solidFill>
            <a:prstDash val="solid"/>
          </a:ln>
        </p:spPr>
        <p:txBody>
          <a:bodyPr wrap="none" lIns="0" tIns="0" rIns="0" bIns="0" rtlCol="0" anchor="ctr">
            <a:normAutofit/>
          </a:bodyPr>
          <a:lstStyle/>
          <a:p>
            <a:pPr algn="ctr" indent="0" marL="0">
              <a:lnSpc>
                <a:spcPts val="1680"/>
              </a:lnSpc>
              <a:buNone/>
            </a:pPr>
            <a:r>
              <a:rPr lang="en-US" sz="1200" dirty="0">
                <a:solidFill>
                  <a:srgbClr val="5DB8F0"/>
                </a:solidFill>
                <a:latin typeface="Inter" pitchFamily="34" charset="0"/>
                <a:ea typeface="Inter" pitchFamily="34" charset="-122"/>
                <a:cs typeface="Inter" pitchFamily="34" charset="-120"/>
              </a:rPr>
              <a:t>Misbar</a:t>
            </a:r>
            <a:endParaRPr lang="en-US" sz="1200" dirty="0"/>
          </a:p>
        </p:txBody>
      </p:sp>
      <p:sp>
        <p:nvSpPr>
          <p:cNvPr id="22" name="Text 14"/>
          <p:cNvSpPr/>
          <p:nvPr/>
        </p:nvSpPr>
        <p:spPr>
          <a:xfrm>
            <a:off x="8256654" y="4139344"/>
            <a:ext cx="1408840" cy="276820"/>
          </a:xfrm>
          <a:custGeom>
            <a:avLst/>
            <a:gdLst/>
            <a:ahLst/>
            <a:cxnLst/>
            <a:rect l="l" t="t" r="r" b="b"/>
            <a:pathLst>
              <a:path w="1408840" h="276820">
                <a:moveTo>
                  <a:pt x="138410" y="0"/>
                </a:moveTo>
                <a:lnTo>
                  <a:pt x="1270430" y="0"/>
                </a:lnTo>
                <a:arcTo hR="138410" wR="138410" stAng="16200000" swAng="5400000"/>
                <a:lnTo>
                  <a:pt x="1408840"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5DB8F0"/>
            </a:solidFill>
            <a:prstDash val="solid"/>
          </a:ln>
        </p:spPr>
        <p:txBody>
          <a:bodyPr wrap="none" lIns="0" tIns="0" rIns="0" bIns="0" rtlCol="0" anchor="ctr">
            <a:normAutofit/>
          </a:bodyPr>
          <a:lstStyle/>
          <a:p>
            <a:pPr algn="ctr" indent="0" marL="0">
              <a:lnSpc>
                <a:spcPts val="1680"/>
              </a:lnSpc>
              <a:buNone/>
            </a:pPr>
            <a:r>
              <a:rPr lang="en-US" sz="1200" dirty="0">
                <a:solidFill>
                  <a:srgbClr val="5DB8F0"/>
                </a:solidFill>
                <a:latin typeface="Inter" pitchFamily="34" charset="0"/>
                <a:ea typeface="Inter" pitchFamily="34" charset="-122"/>
                <a:cs typeface="Inter" pitchFamily="34" charset="-120"/>
              </a:rPr>
              <a:t>Alaraby Aljadeed</a:t>
            </a:r>
            <a:endParaRPr lang="en-US" sz="1200" dirty="0"/>
          </a:p>
        </p:txBody>
      </p:sp>
      <p:sp>
        <p:nvSpPr>
          <p:cNvPr id="23" name="Shape 15"/>
          <p:cNvSpPr/>
          <p:nvPr/>
        </p:nvSpPr>
        <p:spPr>
          <a:xfrm>
            <a:off x="6811434" y="4549515"/>
            <a:ext cx="4309533" cy="416520"/>
          </a:xfrm>
          <a:prstGeom prst="roundRect">
            <a:avLst>
              <a:gd name="adj" fmla="val 18294"/>
            </a:avLst>
          </a:prstGeom>
          <a:solidFill>
            <a:srgbClr val="002F59"/>
          </a:solidFill>
          <a:ln/>
        </p:spPr>
      </p:sp>
      <p:pic>
        <p:nvPicPr>
          <p:cNvPr id="24" name="Image 6" descr="Link">    </p:cNvPr>
          <p:cNvPicPr>
            <a:picLocks noChangeAspect="1"/>
          </p:cNvPicPr>
          <p:nvPr/>
        </p:nvPicPr>
        <p:blipFill>
          <a:blip r:embed="rId7"/>
          <a:srcRect l="0" r="0" t="0" b="0"/>
          <a:stretch/>
        </p:blipFill>
        <p:spPr>
          <a:xfrm>
            <a:off x="6938434" y="4656138"/>
            <a:ext cx="203200" cy="203200"/>
          </a:xfrm>
          <a:prstGeom prst="rect">
            <a:avLst/>
          </a:prstGeom>
        </p:spPr>
      </p:pic>
      <p:sp>
        <p:nvSpPr>
          <p:cNvPr id="25" name="Text 16"/>
          <p:cNvSpPr/>
          <p:nvPr/>
        </p:nvSpPr>
        <p:spPr>
          <a:xfrm>
            <a:off x="7230534" y="4651115"/>
            <a:ext cx="38763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7FB"/>
                </a:solidFill>
                <a:latin typeface="Inter" pitchFamily="34" charset="0"/>
                <a:ea typeface="Inter" pitchFamily="34" charset="-122"/>
                <a:cs typeface="Inter" pitchFamily="34" charset="-120"/>
              </a:rPr>
              <a:t>Graph path: claim → fact-check → official figures</a:t>
            </a:r>
            <a:endParaRPr lang="en-US" sz="1200" dirty="0"/>
          </a:p>
        </p:txBody>
      </p:sp>
      <p:sp>
        <p:nvSpPr>
          <p:cNvPr id="26" name="Text 17"/>
          <p:cNvSpPr/>
          <p:nvPr/>
        </p:nvSpPr>
        <p:spPr>
          <a:xfrm>
            <a:off x="6811434" y="5093035"/>
            <a:ext cx="44388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Illustrative exchange · switch to the live chatbot to demo both modes</a:t>
            </a:r>
            <a:endParaRPr lang="en-US" sz="1200" dirty="0"/>
          </a:p>
        </p:txBody>
      </p:sp>
      <p:sp>
        <p:nvSpPr>
          <p:cNvPr id="27" name="Text 18"/>
          <p:cNvSpPr/>
          <p:nvPr/>
        </p:nvSpPr>
        <p:spPr>
          <a:xfrm>
            <a:off x="812800" y="6230609"/>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28" name="Text 19"/>
          <p:cNvSpPr/>
          <p:nvPr/>
        </p:nvSpPr>
        <p:spPr>
          <a:xfrm>
            <a:off x="11176000" y="6230609"/>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B0D2"/>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5667D"/>
                </a:solidFill>
                <a:latin typeface="Inter" pitchFamily="34" charset="0"/>
                <a:ea typeface="Inter" pitchFamily="34" charset="-122"/>
                <a:cs typeface="Inter" pitchFamily="34" charset="-120"/>
              </a:rPr>
              <a:t>01 DISCOVER · 02 DRAFT · 03 REVIEW · 04 PUBLISH · 05 ENRICH · </a:t>
            </a:r>
            <a:r>
              <a:rPr lang="en-US" sz="1200" b="1" spc="100" kern="0" dirty="0">
                <a:solidFill>
                  <a:srgbClr val="01579B"/>
                </a:solidFill>
                <a:latin typeface="Inter" pitchFamily="34" charset="0"/>
                <a:ea typeface="Inter" pitchFamily="34" charset="-122"/>
                <a:cs typeface="Inter" pitchFamily="34" charset="-120"/>
              </a:rPr>
              <a:t>06 MEASURE</a:t>
            </a:r>
            <a:endParaRPr lang="en-US" sz="1200" dirty="0"/>
          </a:p>
        </p:txBody>
      </p:sp>
      <p:sp>
        <p:nvSpPr>
          <p:cNvPr id="5" name="Text 1"/>
          <p:cNvSpPr/>
          <p:nvPr>
            <p:ph type="title"/>
          </p:nvPr>
        </p:nvSpPr>
        <p:spPr>
          <a:xfrm>
            <a:off x="812800" y="2026121"/>
            <a:ext cx="5284724" cy="935699"/>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02F59"/>
                </a:solidFill>
                <a:latin typeface="Inter" pitchFamily="34" charset="0"/>
                <a:ea typeface="Inter" pitchFamily="34" charset="-122"/>
                <a:cs typeface="Inter" pitchFamily="34" charset="-120"/>
              </a:rPr>
              <a:t>Learn what works, then feed it back</a:t>
            </a:r>
            <a:endParaRPr lang="en-US" sz="3200" dirty="0"/>
          </a:p>
        </p:txBody>
      </p:sp>
      <p:sp>
        <p:nvSpPr>
          <p:cNvPr id="6" name="Text 2"/>
          <p:cNvSpPr/>
          <p:nvPr/>
        </p:nvSpPr>
        <p:spPr>
          <a:xfrm>
            <a:off x="812800" y="3139616"/>
            <a:ext cx="5284724"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2536A"/>
                </a:solidFill>
                <a:latin typeface="Inter" pitchFamily="34" charset="0"/>
                <a:ea typeface="Inter" pitchFamily="34" charset="-122"/>
                <a:cs typeface="Inter" pitchFamily="34" charset="-120"/>
              </a:rPr>
              <a:t>After publishing, Labeeb classifies and monitors performance across all six brands, so every desk knows what resonated with its audience.</a:t>
            </a:r>
            <a:endParaRPr lang="en-US" sz="1500" dirty="0"/>
          </a:p>
        </p:txBody>
      </p:sp>
      <p:pic>
        <p:nvPicPr>
          <p:cNvPr id="7" name="Image 2" descr="CheckCircle">    </p:cNvPr>
          <p:cNvPicPr>
            <a:picLocks noChangeAspect="1"/>
          </p:cNvPicPr>
          <p:nvPr/>
        </p:nvPicPr>
        <p:blipFill>
          <a:blip r:embed="rId3"/>
          <a:srcRect l="0" r="0" t="0" b="0"/>
          <a:stretch/>
        </p:blipFill>
        <p:spPr>
          <a:xfrm>
            <a:off x="812800" y="4171491"/>
            <a:ext cx="203200" cy="203200"/>
          </a:xfrm>
          <a:prstGeom prst="rect">
            <a:avLst/>
          </a:prstGeom>
        </p:spPr>
      </p:pic>
      <p:sp>
        <p:nvSpPr>
          <p:cNvPr id="8" name="Text 3"/>
          <p:cNvSpPr/>
          <p:nvPr/>
        </p:nvSpPr>
        <p:spPr>
          <a:xfrm>
            <a:off x="1117600" y="4171491"/>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Top-traffic articles, tracked across brands</a:t>
            </a:r>
            <a:endParaRPr lang="en-US" sz="1400" dirty="0"/>
          </a:p>
        </p:txBody>
      </p:sp>
      <p:pic>
        <p:nvPicPr>
          <p:cNvPr id="9" name="Image 3" descr="CheckCircle">    </p:cNvPr>
          <p:cNvPicPr>
            <a:picLocks noChangeAspect="1"/>
          </p:cNvPicPr>
          <p:nvPr/>
        </p:nvPicPr>
        <p:blipFill>
          <a:blip r:embed="rId4"/>
          <a:srcRect l="0" r="0" t="0" b="0"/>
          <a:stretch/>
        </p:blipFill>
        <p:spPr>
          <a:xfrm>
            <a:off x="812800" y="4534694"/>
            <a:ext cx="203200" cy="203200"/>
          </a:xfrm>
          <a:prstGeom prst="rect">
            <a:avLst/>
          </a:prstGeom>
        </p:spPr>
      </p:pic>
      <p:sp>
        <p:nvSpPr>
          <p:cNvPr id="10" name="Text 4"/>
          <p:cNvSpPr/>
          <p:nvPr/>
        </p:nvSpPr>
        <p:spPr>
          <a:xfrm>
            <a:off x="1117600" y="4534694"/>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Top authors and best-performing topics</a:t>
            </a:r>
            <a:endParaRPr lang="en-US" sz="1400" dirty="0"/>
          </a:p>
        </p:txBody>
      </p:sp>
      <p:pic>
        <p:nvPicPr>
          <p:cNvPr id="11" name="Image 4" descr="CheckCircle">    </p:cNvPr>
          <p:cNvPicPr>
            <a:picLocks noChangeAspect="1"/>
          </p:cNvPicPr>
          <p:nvPr/>
        </p:nvPicPr>
        <p:blipFill>
          <a:blip r:embed="rId5"/>
          <a:srcRect l="0" r="0" t="0" b="0"/>
          <a:stretch/>
        </p:blipFill>
        <p:spPr>
          <a:xfrm>
            <a:off x="812800" y="4897909"/>
            <a:ext cx="203200" cy="203200"/>
          </a:xfrm>
          <a:prstGeom prst="rect">
            <a:avLst/>
          </a:prstGeom>
        </p:spPr>
      </p:pic>
      <p:sp>
        <p:nvSpPr>
          <p:cNvPr id="12" name="Text 5"/>
          <p:cNvSpPr/>
          <p:nvPr/>
        </p:nvSpPr>
        <p:spPr>
          <a:xfrm>
            <a:off x="1117600" y="4897909"/>
            <a:ext cx="49707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2F59"/>
                </a:solidFill>
                <a:latin typeface="Inter" pitchFamily="34" charset="0"/>
                <a:ea typeface="Inter" pitchFamily="34" charset="-122"/>
                <a:cs typeface="Inter" pitchFamily="34" charset="-120"/>
              </a:rPr>
              <a:t>Insights flow straight back into gap analysis</a:t>
            </a:r>
            <a:endParaRPr lang="en-US" sz="1400" dirty="0"/>
          </a:p>
        </p:txBody>
      </p:sp>
      <p:sp>
        <p:nvSpPr>
          <p:cNvPr id="13" name="Shape 6"/>
          <p:cNvSpPr/>
          <p:nvPr/>
        </p:nvSpPr>
        <p:spPr>
          <a:xfrm>
            <a:off x="6553200" y="1687909"/>
            <a:ext cx="4826000" cy="3797036"/>
          </a:xfrm>
          <a:prstGeom prst="roundRect">
            <a:avLst>
              <a:gd name="adj" fmla="val 4014"/>
            </a:avLst>
          </a:prstGeom>
          <a:solidFill>
            <a:srgbClr val="002F59"/>
          </a:solidFill>
          <a:ln/>
        </p:spPr>
      </p:sp>
      <p:sp>
        <p:nvSpPr>
          <p:cNvPr id="14" name="Text 7"/>
          <p:cNvSpPr/>
          <p:nvPr/>
        </p:nvSpPr>
        <p:spPr>
          <a:xfrm>
            <a:off x="6813550" y="1948259"/>
            <a:ext cx="1080691" cy="302220"/>
          </a:xfrm>
          <a:prstGeom prst="roundRect">
            <a:avLst>
              <a:gd name="adj" fmla="val 50000"/>
            </a:avLst>
          </a:prstGeom>
          <a:noFill/>
          <a:ln w="12700">
            <a:solidFill>
              <a:srgbClr val="1F5A8C"/>
            </a:solidFill>
            <a:prstDash val="solid"/>
          </a:ln>
        </p:spPr>
        <p:txBody>
          <a:bodyPr wrap="none" lIns="0" tIns="0" rIns="0" bIns="0" rtlCol="0" anchor="ctr">
            <a:normAutofit/>
          </a:bodyPr>
          <a:lstStyle/>
          <a:p>
            <a:pPr algn="ctr" indent="0" marL="0">
              <a:lnSpc>
                <a:spcPts val="1680"/>
              </a:lnSpc>
              <a:buNone/>
            </a:pPr>
            <a:r>
              <a:rPr lang="en-US" sz="1200" dirty="0">
                <a:solidFill>
                  <a:srgbClr val="BCD2E8"/>
                </a:solidFill>
                <a:latin typeface="Inter" pitchFamily="34" charset="0"/>
                <a:ea typeface="Inter" pitchFamily="34" charset="-122"/>
                <a:cs typeface="Inter" pitchFamily="34" charset="-120"/>
              </a:rPr>
              <a:t>Top articles</a:t>
            </a:r>
            <a:endParaRPr lang="en-US" sz="1200" dirty="0"/>
          </a:p>
        </p:txBody>
      </p:sp>
      <p:sp>
        <p:nvSpPr>
          <p:cNvPr id="15" name="Text 8"/>
          <p:cNvSpPr/>
          <p:nvPr/>
        </p:nvSpPr>
        <p:spPr>
          <a:xfrm>
            <a:off x="7983141" y="1948259"/>
            <a:ext cx="1100204" cy="302220"/>
          </a:xfrm>
          <a:prstGeom prst="roundRect">
            <a:avLst>
              <a:gd name="adj" fmla="val 50000"/>
            </a:avLst>
          </a:prstGeom>
          <a:noFill/>
          <a:ln w="12700">
            <a:solidFill>
              <a:srgbClr val="1F5A8C"/>
            </a:solidFill>
            <a:prstDash val="solid"/>
          </a:ln>
        </p:spPr>
        <p:txBody>
          <a:bodyPr wrap="none" lIns="0" tIns="0" rIns="0" bIns="0" rtlCol="0" anchor="ctr">
            <a:normAutofit/>
          </a:bodyPr>
          <a:lstStyle/>
          <a:p>
            <a:pPr algn="ctr" indent="0" marL="0">
              <a:lnSpc>
                <a:spcPts val="1680"/>
              </a:lnSpc>
              <a:buNone/>
            </a:pPr>
            <a:r>
              <a:rPr lang="en-US" sz="1200" dirty="0">
                <a:solidFill>
                  <a:srgbClr val="BCD2E8"/>
                </a:solidFill>
                <a:latin typeface="Inter" pitchFamily="34" charset="0"/>
                <a:ea typeface="Inter" pitchFamily="34" charset="-122"/>
                <a:cs typeface="Inter" pitchFamily="34" charset="-120"/>
              </a:rPr>
              <a:t>Top authors</a:t>
            </a:r>
            <a:endParaRPr lang="en-US" sz="1200" dirty="0"/>
          </a:p>
        </p:txBody>
      </p:sp>
      <p:sp>
        <p:nvSpPr>
          <p:cNvPr id="16" name="Text 9"/>
          <p:cNvSpPr/>
          <p:nvPr/>
        </p:nvSpPr>
        <p:spPr>
          <a:xfrm>
            <a:off x="9172245" y="1948259"/>
            <a:ext cx="1008922" cy="302220"/>
          </a:xfrm>
          <a:prstGeom prst="roundRect">
            <a:avLst>
              <a:gd name="adj" fmla="val 50000"/>
            </a:avLst>
          </a:prstGeom>
          <a:solidFill>
            <a:srgbClr val="5DB8F0"/>
          </a:solidFill>
          <a:ln w="12700">
            <a:solidFill>
              <a:srgbClr val="5DB8F0"/>
            </a:solidFill>
            <a:prstDash val="solid"/>
          </a:ln>
        </p:spPr>
        <p:txBody>
          <a:bodyPr wrap="none" lIns="0" tIns="0" rIns="0" bIns="0" rtlCol="0" anchor="ctr">
            <a:normAutofit/>
          </a:bodyPr>
          <a:lstStyle/>
          <a:p>
            <a:pPr algn="ctr" indent="0" marL="0">
              <a:lnSpc>
                <a:spcPts val="1680"/>
              </a:lnSpc>
              <a:buNone/>
            </a:pPr>
            <a:r>
              <a:rPr lang="en-US" sz="1200" b="1" dirty="0">
                <a:solidFill>
                  <a:srgbClr val="002F59"/>
                </a:solidFill>
                <a:latin typeface="Inter" pitchFamily="34" charset="0"/>
                <a:ea typeface="Inter" pitchFamily="34" charset="-122"/>
                <a:cs typeface="Inter" pitchFamily="34" charset="-120"/>
              </a:rPr>
              <a:t>Top topics</a:t>
            </a:r>
            <a:endParaRPr lang="en-US" sz="1200" dirty="0"/>
          </a:p>
        </p:txBody>
      </p:sp>
      <p:sp>
        <p:nvSpPr>
          <p:cNvPr id="17" name="Text 10"/>
          <p:cNvSpPr/>
          <p:nvPr/>
        </p:nvSpPr>
        <p:spPr>
          <a:xfrm>
            <a:off x="6807200" y="2409230"/>
            <a:ext cx="176593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Football</a:t>
            </a:r>
            <a:endParaRPr lang="en-US" sz="1300" dirty="0"/>
          </a:p>
        </p:txBody>
      </p:sp>
      <p:sp>
        <p:nvSpPr>
          <p:cNvPr id="18" name="Shape 11"/>
          <p:cNvSpPr/>
          <p:nvPr/>
        </p:nvSpPr>
        <p:spPr>
          <a:xfrm>
            <a:off x="8648700" y="2435895"/>
            <a:ext cx="2413000" cy="177800"/>
          </a:xfrm>
          <a:prstGeom prst="roundRect">
            <a:avLst>
              <a:gd name="adj" fmla="val 50000"/>
            </a:avLst>
          </a:prstGeom>
          <a:solidFill>
            <a:srgbClr val="6AA6DE"/>
          </a:solidFill>
          <a:ln/>
        </p:spPr>
      </p:sp>
      <p:sp>
        <p:nvSpPr>
          <p:cNvPr id="19" name="Text 12"/>
          <p:cNvSpPr/>
          <p:nvPr/>
        </p:nvSpPr>
        <p:spPr>
          <a:xfrm>
            <a:off x="6807200" y="2741947"/>
            <a:ext cx="176593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Fact-checks</a:t>
            </a:r>
            <a:endParaRPr lang="en-US" sz="1300" dirty="0"/>
          </a:p>
        </p:txBody>
      </p:sp>
      <p:sp>
        <p:nvSpPr>
          <p:cNvPr id="20" name="Shape 13"/>
          <p:cNvSpPr/>
          <p:nvPr/>
        </p:nvSpPr>
        <p:spPr>
          <a:xfrm>
            <a:off x="8648700" y="2768600"/>
            <a:ext cx="2032000" cy="177800"/>
          </a:xfrm>
          <a:prstGeom prst="roundRect">
            <a:avLst>
              <a:gd name="adj" fmla="val 50000"/>
            </a:avLst>
          </a:prstGeom>
          <a:solidFill>
            <a:srgbClr val="6AA6DE"/>
          </a:solidFill>
          <a:ln/>
        </p:spPr>
      </p:sp>
      <p:sp>
        <p:nvSpPr>
          <p:cNvPr id="21" name="Text 14"/>
          <p:cNvSpPr/>
          <p:nvPr/>
        </p:nvSpPr>
        <p:spPr>
          <a:xfrm>
            <a:off x="6807200" y="3074665"/>
            <a:ext cx="176593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Regional politics</a:t>
            </a:r>
            <a:endParaRPr lang="en-US" sz="1300" dirty="0"/>
          </a:p>
        </p:txBody>
      </p:sp>
      <p:sp>
        <p:nvSpPr>
          <p:cNvPr id="22" name="Shape 15"/>
          <p:cNvSpPr/>
          <p:nvPr/>
        </p:nvSpPr>
        <p:spPr>
          <a:xfrm>
            <a:off x="8648700" y="3101318"/>
            <a:ext cx="1651000" cy="177800"/>
          </a:xfrm>
          <a:prstGeom prst="roundRect">
            <a:avLst>
              <a:gd name="adj" fmla="val 50000"/>
            </a:avLst>
          </a:prstGeom>
          <a:solidFill>
            <a:srgbClr val="6AA6DE"/>
          </a:solidFill>
          <a:ln/>
        </p:spPr>
      </p:sp>
      <p:sp>
        <p:nvSpPr>
          <p:cNvPr id="23" name="Text 16"/>
          <p:cNvSpPr/>
          <p:nvPr/>
        </p:nvSpPr>
        <p:spPr>
          <a:xfrm>
            <a:off x="6807200" y="3407370"/>
            <a:ext cx="176593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Economy</a:t>
            </a:r>
            <a:endParaRPr lang="en-US" sz="1300" dirty="0"/>
          </a:p>
        </p:txBody>
      </p:sp>
      <p:sp>
        <p:nvSpPr>
          <p:cNvPr id="24" name="Shape 17"/>
          <p:cNvSpPr/>
          <p:nvPr/>
        </p:nvSpPr>
        <p:spPr>
          <a:xfrm>
            <a:off x="8648700" y="3434035"/>
            <a:ext cx="1270000" cy="177800"/>
          </a:xfrm>
          <a:prstGeom prst="roundRect">
            <a:avLst>
              <a:gd name="adj" fmla="val 50000"/>
            </a:avLst>
          </a:prstGeom>
          <a:solidFill>
            <a:srgbClr val="6AA6DE"/>
          </a:solidFill>
          <a:ln/>
        </p:spPr>
      </p:sp>
      <p:sp>
        <p:nvSpPr>
          <p:cNvPr id="25" name="Text 18"/>
          <p:cNvSpPr/>
          <p:nvPr/>
        </p:nvSpPr>
        <p:spPr>
          <a:xfrm>
            <a:off x="6807200" y="3740088"/>
            <a:ext cx="176593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Culture</a:t>
            </a:r>
            <a:endParaRPr lang="en-US" sz="1300" dirty="0"/>
          </a:p>
        </p:txBody>
      </p:sp>
      <p:sp>
        <p:nvSpPr>
          <p:cNvPr id="26" name="Shape 19"/>
          <p:cNvSpPr/>
          <p:nvPr/>
        </p:nvSpPr>
        <p:spPr>
          <a:xfrm>
            <a:off x="8648700" y="3766741"/>
            <a:ext cx="952500" cy="177800"/>
          </a:xfrm>
          <a:prstGeom prst="roundRect">
            <a:avLst>
              <a:gd name="adj" fmla="val 50000"/>
            </a:avLst>
          </a:prstGeom>
          <a:solidFill>
            <a:srgbClr val="6AA6DE"/>
          </a:solidFill>
          <a:ln/>
        </p:spPr>
      </p:sp>
      <p:sp>
        <p:nvSpPr>
          <p:cNvPr id="27" name="Shape 20"/>
          <p:cNvSpPr/>
          <p:nvPr/>
        </p:nvSpPr>
        <p:spPr>
          <a:xfrm>
            <a:off x="6813550" y="4129956"/>
            <a:ext cx="4305300" cy="728927"/>
          </a:xfrm>
          <a:prstGeom prst="roundRect">
            <a:avLst>
              <a:gd name="adj" fmla="val 13067"/>
            </a:avLst>
          </a:prstGeom>
          <a:noFill/>
          <a:ln w="12700">
            <a:solidFill>
              <a:srgbClr val="5DB8F0"/>
            </a:solidFill>
            <a:prstDash val="solid"/>
          </a:ln>
        </p:spPr>
      </p:sp>
      <p:pic>
        <p:nvPicPr>
          <p:cNvPr id="28" name="Image 5" descr="Search">    </p:cNvPr>
          <p:cNvPicPr>
            <a:picLocks noChangeAspect="1"/>
          </p:cNvPicPr>
          <p:nvPr/>
        </p:nvPicPr>
        <p:blipFill>
          <a:blip r:embed="rId6"/>
          <a:srcRect l="0" r="0" t="0" b="0"/>
          <a:stretch/>
        </p:blipFill>
        <p:spPr>
          <a:xfrm>
            <a:off x="6972300" y="4380111"/>
            <a:ext cx="228600" cy="228600"/>
          </a:xfrm>
          <a:prstGeom prst="rect">
            <a:avLst/>
          </a:prstGeom>
        </p:spPr>
      </p:pic>
      <p:sp>
        <p:nvSpPr>
          <p:cNvPr id="29" name="Text 21"/>
          <p:cNvSpPr/>
          <p:nvPr/>
        </p:nvSpPr>
        <p:spPr>
          <a:xfrm>
            <a:off x="7327900" y="4263306"/>
            <a:ext cx="3741166" cy="4876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7FB"/>
                </a:solidFill>
                <a:latin typeface="Inter" pitchFamily="34" charset="0"/>
                <a:ea typeface="Inter" pitchFamily="34" charset="-122"/>
                <a:cs typeface="Inter" pitchFamily="34" charset="-120"/>
              </a:rPr>
              <a:t>Feeds stage 01 · Discover</a:t>
            </a:r>
            <a:endParaRPr lang="en-US" sz="1300" dirty="0"/>
          </a:p>
          <a:p>
            <a:pPr algn="l" indent="0" marL="0">
              <a:lnSpc>
                <a:spcPts val="1820"/>
              </a:lnSpc>
              <a:buNone/>
            </a:pPr>
            <a:r>
              <a:rPr lang="en-US" sz="1300" dirty="0">
                <a:solidFill>
                  <a:srgbClr val="F4F7FB"/>
                </a:solidFill>
                <a:latin typeface="Inter" pitchFamily="34" charset="0"/>
                <a:ea typeface="Inter" pitchFamily="34" charset="-122"/>
                <a:cs typeface="Inter" pitchFamily="34" charset="-120"/>
              </a:rPr>
              <a:t>Winning topics shape tomorrow’s gap analysis</a:t>
            </a:r>
            <a:endParaRPr lang="en-US" sz="1300" dirty="0"/>
          </a:p>
        </p:txBody>
      </p:sp>
      <p:sp>
        <p:nvSpPr>
          <p:cNvPr id="30" name="Text 22"/>
          <p:cNvSpPr/>
          <p:nvPr/>
        </p:nvSpPr>
        <p:spPr>
          <a:xfrm>
            <a:off x="6807200" y="5017629"/>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Illustrative view · bar length = traffic this week</a:t>
            </a:r>
            <a:endParaRPr lang="en-US" sz="1200" dirty="0"/>
          </a:p>
        </p:txBody>
      </p:sp>
      <p:sp>
        <p:nvSpPr>
          <p:cNvPr id="31" name="Text 23"/>
          <p:cNvSpPr/>
          <p:nvPr/>
        </p:nvSpPr>
        <p:spPr>
          <a:xfrm>
            <a:off x="812800" y="6230615"/>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32" name="Text 24"/>
          <p:cNvSpPr/>
          <p:nvPr/>
        </p:nvSpPr>
        <p:spPr>
          <a:xfrm>
            <a:off x="11171899" y="6230615"/>
            <a:ext cx="20730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2F59"/>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18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DB8F0"/>
                </a:solidFill>
                <a:latin typeface="Inter" pitchFamily="34" charset="0"/>
                <a:ea typeface="Inter" pitchFamily="34" charset="-122"/>
                <a:cs typeface="Inter" pitchFamily="34" charset="-120"/>
              </a:rPr>
              <a:t>ONE STORY’S JOURNEY</a:t>
            </a:r>
            <a:endParaRPr lang="en-US" sz="1200" dirty="0"/>
          </a:p>
        </p:txBody>
      </p:sp>
      <p:sp>
        <p:nvSpPr>
          <p:cNvPr id="5"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7FB"/>
                </a:solidFill>
                <a:latin typeface="Inter" pitchFamily="34" charset="0"/>
                <a:ea typeface="Inter" pitchFamily="34" charset="-122"/>
                <a:cs typeface="Inter" pitchFamily="34" charset="-120"/>
              </a:rPr>
              <a:t>From signal to insight in one cycle</a:t>
            </a:r>
            <a:endParaRPr lang="en-US" sz="3600" dirty="0"/>
          </a:p>
        </p:txBody>
      </p:sp>
      <p:sp>
        <p:nvSpPr>
          <p:cNvPr id="6" name="Shape 2"/>
          <p:cNvSpPr/>
          <p:nvPr/>
        </p:nvSpPr>
        <p:spPr>
          <a:xfrm>
            <a:off x="812800" y="2049735"/>
            <a:ext cx="1634067" cy="0"/>
          </a:xfrm>
          <a:prstGeom prst="line">
            <a:avLst/>
          </a:prstGeom>
          <a:noFill/>
          <a:ln w="25400">
            <a:solidFill>
              <a:srgbClr val="5DB8F0"/>
            </a:solidFill>
            <a:prstDash val="solid"/>
          </a:ln>
        </p:spPr>
      </p:sp>
      <p:sp>
        <p:nvSpPr>
          <p:cNvPr id="7" name="Text 3"/>
          <p:cNvSpPr/>
          <p:nvPr/>
        </p:nvSpPr>
        <p:spPr>
          <a:xfrm>
            <a:off x="812800" y="2240235"/>
            <a:ext cx="1684867"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B8F0"/>
                </a:solidFill>
                <a:latin typeface="Inter" pitchFamily="34" charset="0"/>
                <a:ea typeface="Inter" pitchFamily="34" charset="-122"/>
                <a:cs typeface="Inter" pitchFamily="34" charset="-120"/>
              </a:rPr>
              <a:t>1–2 min</a:t>
            </a:r>
            <a:endParaRPr lang="en-US" sz="1400" dirty="0"/>
          </a:p>
        </p:txBody>
      </p:sp>
      <p:sp>
        <p:nvSpPr>
          <p:cNvPr id="8" name="Text 4"/>
          <p:cNvSpPr/>
          <p:nvPr/>
        </p:nvSpPr>
        <p:spPr>
          <a:xfrm>
            <a:off x="812800" y="2552638"/>
            <a:ext cx="1684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Discover</a:t>
            </a:r>
            <a:endParaRPr lang="en-US" sz="1600" dirty="0"/>
          </a:p>
        </p:txBody>
      </p:sp>
      <p:sp>
        <p:nvSpPr>
          <p:cNvPr id="9" name="Text 5"/>
          <p:cNvSpPr/>
          <p:nvPr/>
        </p:nvSpPr>
        <p:spPr>
          <a:xfrm>
            <a:off x="812800" y="2859956"/>
            <a:ext cx="168486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Labeeb flags a rising sports topic WinWin hasn’t covered yet.</a:t>
            </a:r>
            <a:endParaRPr lang="en-US" sz="1300" dirty="0"/>
          </a:p>
        </p:txBody>
      </p:sp>
      <p:sp>
        <p:nvSpPr>
          <p:cNvPr id="10" name="Shape 6"/>
          <p:cNvSpPr/>
          <p:nvPr/>
        </p:nvSpPr>
        <p:spPr>
          <a:xfrm>
            <a:off x="2599267" y="2049735"/>
            <a:ext cx="1634067" cy="0"/>
          </a:xfrm>
          <a:prstGeom prst="line">
            <a:avLst/>
          </a:prstGeom>
          <a:noFill/>
          <a:ln w="25400">
            <a:solidFill>
              <a:srgbClr val="5DB8F0"/>
            </a:solidFill>
            <a:prstDash val="solid"/>
          </a:ln>
        </p:spPr>
      </p:sp>
      <p:sp>
        <p:nvSpPr>
          <p:cNvPr id="11" name="Text 7"/>
          <p:cNvSpPr/>
          <p:nvPr/>
        </p:nvSpPr>
        <p:spPr>
          <a:xfrm>
            <a:off x="2599267" y="2240235"/>
            <a:ext cx="1684867"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B8F0"/>
                </a:solidFill>
                <a:latin typeface="Inter" pitchFamily="34" charset="0"/>
                <a:ea typeface="Inter" pitchFamily="34" charset="-122"/>
                <a:cs typeface="Inter" pitchFamily="34" charset="-120"/>
              </a:rPr>
              <a:t>5–10 min</a:t>
            </a:r>
            <a:endParaRPr lang="en-US" sz="1400" dirty="0"/>
          </a:p>
        </p:txBody>
      </p:sp>
      <p:sp>
        <p:nvSpPr>
          <p:cNvPr id="12" name="Text 8"/>
          <p:cNvSpPr/>
          <p:nvPr/>
        </p:nvSpPr>
        <p:spPr>
          <a:xfrm>
            <a:off x="2599267" y="2552638"/>
            <a:ext cx="1684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Draft</a:t>
            </a:r>
            <a:endParaRPr lang="en-US" sz="1600" dirty="0"/>
          </a:p>
        </p:txBody>
      </p:sp>
      <p:sp>
        <p:nvSpPr>
          <p:cNvPr id="13" name="Text 9"/>
          <p:cNvSpPr/>
          <p:nvPr/>
        </p:nvSpPr>
        <p:spPr>
          <a:xfrm>
            <a:off x="2599267" y="2859956"/>
            <a:ext cx="1684867"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An AI draft is suggested; a WinWin editor picks it up and reworks it.</a:t>
            </a:r>
            <a:endParaRPr lang="en-US" sz="1300" dirty="0"/>
          </a:p>
        </p:txBody>
      </p:sp>
      <p:sp>
        <p:nvSpPr>
          <p:cNvPr id="14" name="Shape 10"/>
          <p:cNvSpPr/>
          <p:nvPr/>
        </p:nvSpPr>
        <p:spPr>
          <a:xfrm>
            <a:off x="4385733" y="2049735"/>
            <a:ext cx="1634067" cy="0"/>
          </a:xfrm>
          <a:prstGeom prst="line">
            <a:avLst/>
          </a:prstGeom>
          <a:noFill/>
          <a:ln w="25400">
            <a:solidFill>
              <a:srgbClr val="5DB8F0"/>
            </a:solidFill>
            <a:prstDash val="solid"/>
          </a:ln>
        </p:spPr>
      </p:sp>
      <p:sp>
        <p:nvSpPr>
          <p:cNvPr id="15" name="Text 11"/>
          <p:cNvSpPr/>
          <p:nvPr/>
        </p:nvSpPr>
        <p:spPr>
          <a:xfrm>
            <a:off x="4385733" y="2240235"/>
            <a:ext cx="1684867"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B8F0"/>
                </a:solidFill>
                <a:latin typeface="Inter" pitchFamily="34" charset="0"/>
                <a:ea typeface="Inter" pitchFamily="34" charset="-122"/>
                <a:cs typeface="Inter" pitchFamily="34" charset="-120"/>
              </a:rPr>
              <a:t>2–5 min</a:t>
            </a:r>
            <a:endParaRPr lang="en-US" sz="1400" dirty="0"/>
          </a:p>
        </p:txBody>
      </p:sp>
      <p:sp>
        <p:nvSpPr>
          <p:cNvPr id="16" name="Text 12"/>
          <p:cNvSpPr/>
          <p:nvPr/>
        </p:nvSpPr>
        <p:spPr>
          <a:xfrm>
            <a:off x="4385733" y="2552638"/>
            <a:ext cx="1684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Review</a:t>
            </a:r>
            <a:endParaRPr lang="en-US" sz="1600" dirty="0"/>
          </a:p>
        </p:txBody>
      </p:sp>
      <p:sp>
        <p:nvSpPr>
          <p:cNvPr id="17" name="Text 13"/>
          <p:cNvSpPr/>
          <p:nvPr/>
        </p:nvSpPr>
        <p:spPr>
          <a:xfrm>
            <a:off x="4385733" y="2859956"/>
            <a:ext cx="1684867"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The AI Editorial Assistant applies WinWin’s style guide and fixes grammar and spelling.</a:t>
            </a:r>
            <a:endParaRPr lang="en-US" sz="1300" dirty="0"/>
          </a:p>
        </p:txBody>
      </p:sp>
      <p:sp>
        <p:nvSpPr>
          <p:cNvPr id="18" name="Shape 14"/>
          <p:cNvSpPr/>
          <p:nvPr/>
        </p:nvSpPr>
        <p:spPr>
          <a:xfrm>
            <a:off x="6172200" y="2049735"/>
            <a:ext cx="1634067" cy="0"/>
          </a:xfrm>
          <a:prstGeom prst="line">
            <a:avLst/>
          </a:prstGeom>
          <a:noFill/>
          <a:ln w="25400">
            <a:solidFill>
              <a:srgbClr val="5DB8F0"/>
            </a:solidFill>
            <a:prstDash val="solid"/>
          </a:ln>
        </p:spPr>
      </p:sp>
      <p:sp>
        <p:nvSpPr>
          <p:cNvPr id="19" name="Text 15"/>
          <p:cNvSpPr/>
          <p:nvPr/>
        </p:nvSpPr>
        <p:spPr>
          <a:xfrm>
            <a:off x="6172200" y="2240235"/>
            <a:ext cx="1684867"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B8F0"/>
                </a:solidFill>
                <a:latin typeface="Inter" pitchFamily="34" charset="0"/>
                <a:ea typeface="Inter" pitchFamily="34" charset="-122"/>
                <a:cs typeface="Inter" pitchFamily="34" charset="-120"/>
              </a:rPr>
              <a:t>5–10 min</a:t>
            </a:r>
            <a:endParaRPr lang="en-US" sz="1400" dirty="0"/>
          </a:p>
        </p:txBody>
      </p:sp>
      <p:sp>
        <p:nvSpPr>
          <p:cNvPr id="20" name="Text 16"/>
          <p:cNvSpPr/>
          <p:nvPr/>
        </p:nvSpPr>
        <p:spPr>
          <a:xfrm>
            <a:off x="6172200" y="2552638"/>
            <a:ext cx="1684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Publish</a:t>
            </a:r>
            <a:endParaRPr lang="en-US" sz="1600" dirty="0"/>
          </a:p>
        </p:txBody>
      </p:sp>
      <p:sp>
        <p:nvSpPr>
          <p:cNvPr id="21" name="Text 17"/>
          <p:cNvSpPr/>
          <p:nvPr/>
        </p:nvSpPr>
        <p:spPr>
          <a:xfrm>
            <a:off x="6172200" y="2859956"/>
            <a:ext cx="1684867"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The workflow view shows it clearing review without waiting.</a:t>
            </a:r>
            <a:endParaRPr lang="en-US" sz="1300" dirty="0"/>
          </a:p>
        </p:txBody>
      </p:sp>
      <p:sp>
        <p:nvSpPr>
          <p:cNvPr id="22" name="Shape 18"/>
          <p:cNvSpPr/>
          <p:nvPr/>
        </p:nvSpPr>
        <p:spPr>
          <a:xfrm>
            <a:off x="7958667" y="2049735"/>
            <a:ext cx="1634067" cy="0"/>
          </a:xfrm>
          <a:prstGeom prst="line">
            <a:avLst/>
          </a:prstGeom>
          <a:noFill/>
          <a:ln w="25400">
            <a:solidFill>
              <a:srgbClr val="5DB8F0"/>
            </a:solidFill>
            <a:prstDash val="solid"/>
          </a:ln>
        </p:spPr>
      </p:sp>
      <p:sp>
        <p:nvSpPr>
          <p:cNvPr id="23" name="Text 19"/>
          <p:cNvSpPr/>
          <p:nvPr/>
        </p:nvSpPr>
        <p:spPr>
          <a:xfrm>
            <a:off x="7958667" y="2240235"/>
            <a:ext cx="1684867"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B8F0"/>
                </a:solidFill>
                <a:latin typeface="Inter" pitchFamily="34" charset="0"/>
                <a:ea typeface="Inter" pitchFamily="34" charset="-122"/>
                <a:cs typeface="Inter" pitchFamily="34" charset="-120"/>
              </a:rPr>
              <a:t>1–3 min</a:t>
            </a:r>
            <a:endParaRPr lang="en-US" sz="1400" dirty="0"/>
          </a:p>
        </p:txBody>
      </p:sp>
      <p:sp>
        <p:nvSpPr>
          <p:cNvPr id="24" name="Text 20"/>
          <p:cNvSpPr/>
          <p:nvPr/>
        </p:nvSpPr>
        <p:spPr>
          <a:xfrm>
            <a:off x="7958667" y="2552638"/>
            <a:ext cx="1684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Enrich</a:t>
            </a:r>
            <a:endParaRPr lang="en-US" sz="1600" dirty="0"/>
          </a:p>
        </p:txBody>
      </p:sp>
      <p:sp>
        <p:nvSpPr>
          <p:cNvPr id="25" name="Text 21"/>
          <p:cNvSpPr/>
          <p:nvPr/>
        </p:nvSpPr>
        <p:spPr>
          <a:xfrm>
            <a:off x="7958667" y="2859956"/>
            <a:ext cx="1684867"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Audio, summary and a podcast segment follow; the chatbot can now answer on it.</a:t>
            </a:r>
            <a:endParaRPr lang="en-US" sz="1300" dirty="0"/>
          </a:p>
        </p:txBody>
      </p:sp>
      <p:sp>
        <p:nvSpPr>
          <p:cNvPr id="26" name="Shape 22"/>
          <p:cNvSpPr/>
          <p:nvPr/>
        </p:nvSpPr>
        <p:spPr>
          <a:xfrm>
            <a:off x="9745134" y="2049735"/>
            <a:ext cx="1634067" cy="0"/>
          </a:xfrm>
          <a:prstGeom prst="line">
            <a:avLst/>
          </a:prstGeom>
          <a:noFill/>
          <a:ln w="25400">
            <a:solidFill>
              <a:srgbClr val="6AA6DE"/>
            </a:solidFill>
            <a:prstDash val="solid"/>
          </a:ln>
        </p:spPr>
      </p:sp>
      <p:sp>
        <p:nvSpPr>
          <p:cNvPr id="27" name="Text 23"/>
          <p:cNvSpPr/>
          <p:nvPr/>
        </p:nvSpPr>
        <p:spPr>
          <a:xfrm>
            <a:off x="9745134" y="2240235"/>
            <a:ext cx="1684867"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AA6DE"/>
                </a:solidFill>
                <a:latin typeface="Inter" pitchFamily="34" charset="0"/>
                <a:ea typeface="Inter" pitchFamily="34" charset="-122"/>
                <a:cs typeface="Inter" pitchFamily="34" charset="-120"/>
              </a:rPr>
              <a:t>24 hours</a:t>
            </a:r>
            <a:endParaRPr lang="en-US" sz="1400" dirty="0"/>
          </a:p>
        </p:txBody>
      </p:sp>
      <p:sp>
        <p:nvSpPr>
          <p:cNvPr id="28" name="Text 24"/>
          <p:cNvSpPr/>
          <p:nvPr/>
        </p:nvSpPr>
        <p:spPr>
          <a:xfrm>
            <a:off x="9745134" y="2552638"/>
            <a:ext cx="1684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7FB"/>
                </a:solidFill>
                <a:latin typeface="Inter" pitchFamily="34" charset="0"/>
                <a:ea typeface="Inter" pitchFamily="34" charset="-122"/>
                <a:cs typeface="Inter" pitchFamily="34" charset="-120"/>
              </a:rPr>
              <a:t>Measure</a:t>
            </a:r>
            <a:endParaRPr lang="en-US" sz="1600" dirty="0"/>
          </a:p>
        </p:txBody>
      </p:sp>
      <p:sp>
        <p:nvSpPr>
          <p:cNvPr id="29" name="Text 25"/>
          <p:cNvSpPr/>
          <p:nvPr/>
        </p:nvSpPr>
        <p:spPr>
          <a:xfrm>
            <a:off x="9745134" y="2859956"/>
            <a:ext cx="1684867"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D2E8"/>
                </a:solidFill>
                <a:latin typeface="Inter" pitchFamily="34" charset="0"/>
                <a:ea typeface="Inter" pitchFamily="34" charset="-122"/>
                <a:cs typeface="Inter" pitchFamily="34" charset="-120"/>
              </a:rPr>
              <a:t>It ranks among top articles, and the topic weighs into tomorrow’s gaps.</a:t>
            </a:r>
            <a:endParaRPr lang="en-US" sz="1300" dirty="0"/>
          </a:p>
        </p:txBody>
      </p:sp>
      <p:sp>
        <p:nvSpPr>
          <p:cNvPr id="30" name="Text 26"/>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Indicative time window per phase · illustrative scenario; actual timings vary by story.</a:t>
            </a:r>
            <a:endParaRPr lang="en-US" sz="1200" dirty="0"/>
          </a:p>
        </p:txBody>
      </p:sp>
      <p:sp>
        <p:nvSpPr>
          <p:cNvPr id="31" name="Text 27"/>
          <p:cNvSpPr/>
          <p:nvPr/>
        </p:nvSpPr>
        <p:spPr>
          <a:xfrm>
            <a:off x="812800" y="6230615"/>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32" name="Text 28"/>
          <p:cNvSpPr/>
          <p:nvPr/>
        </p:nvSpPr>
        <p:spPr>
          <a:xfrm>
            <a:off x="11180167" y="6230615"/>
            <a:ext cx="19903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B0D2"/>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1579B"/>
                </a:solidFill>
                <a:latin typeface="Inter" pitchFamily="34" charset="0"/>
                <a:ea typeface="Inter" pitchFamily="34" charset="-122"/>
                <a:cs typeface="Inter" pitchFamily="34" charset="-120"/>
              </a:rPr>
              <a:t>PRINCIPLES</a:t>
            </a:r>
            <a:endParaRPr lang="en-US" sz="1200" dirty="0"/>
          </a:p>
        </p:txBody>
      </p:sp>
      <p:sp>
        <p:nvSpPr>
          <p:cNvPr id="5"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2F59"/>
                </a:solidFill>
                <a:latin typeface="Inter" pitchFamily="34" charset="0"/>
                <a:ea typeface="Inter" pitchFamily="34" charset="-122"/>
                <a:cs typeface="Inter" pitchFamily="34" charset="-120"/>
              </a:rPr>
              <a:t>What turns services into a framework</a:t>
            </a:r>
            <a:endParaRPr lang="en-US" sz="3600" dirty="0"/>
          </a:p>
        </p:txBody>
      </p:sp>
      <p:sp>
        <p:nvSpPr>
          <p:cNvPr id="6" name="Shape 2"/>
          <p:cNvSpPr/>
          <p:nvPr/>
        </p:nvSpPr>
        <p:spPr>
          <a:xfrm>
            <a:off x="815975" y="1938610"/>
            <a:ext cx="3380317" cy="1718998"/>
          </a:xfrm>
          <a:prstGeom prst="roundRect">
            <a:avLst>
              <a:gd name="adj" fmla="val 5726"/>
            </a:avLst>
          </a:prstGeom>
          <a:solidFill>
            <a:srgbClr val="FCFDFE"/>
          </a:solidFill>
          <a:ln w="6350">
            <a:solidFill>
              <a:srgbClr val="D3DEEA"/>
            </a:solidFill>
            <a:prstDash val="solid"/>
          </a:ln>
        </p:spPr>
      </p:sp>
      <p:sp>
        <p:nvSpPr>
          <p:cNvPr id="7" name="Text 3"/>
          <p:cNvSpPr/>
          <p:nvPr/>
        </p:nvSpPr>
        <p:spPr>
          <a:xfrm>
            <a:off x="1020233" y="2142865"/>
            <a:ext cx="30609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1579B"/>
                </a:solidFill>
                <a:latin typeface="Inter" pitchFamily="34" charset="0"/>
                <a:ea typeface="Inter" pitchFamily="34" charset="-122"/>
                <a:cs typeface="Inter" pitchFamily="34" charset="-120"/>
              </a:rPr>
              <a:t>01</a:t>
            </a:r>
            <a:endParaRPr lang="en-US" sz="1300" dirty="0"/>
          </a:p>
        </p:txBody>
      </p:sp>
      <p:sp>
        <p:nvSpPr>
          <p:cNvPr id="8" name="Text 4"/>
          <p:cNvSpPr/>
          <p:nvPr/>
        </p:nvSpPr>
        <p:spPr>
          <a:xfrm>
            <a:off x="1020233" y="2437482"/>
            <a:ext cx="306095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One data layer</a:t>
            </a:r>
            <a:endParaRPr lang="en-US" sz="1700" dirty="0"/>
          </a:p>
        </p:txBody>
      </p:sp>
      <p:sp>
        <p:nvSpPr>
          <p:cNvPr id="9" name="Text 5"/>
          <p:cNvSpPr/>
          <p:nvPr/>
        </p:nvSpPr>
        <p:spPr>
          <a:xfrm>
            <a:off x="1020233" y="2760005"/>
            <a:ext cx="3060954"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Labeeb aggregates every CMS, so every service works from the same truth.</a:t>
            </a:r>
            <a:endParaRPr lang="en-US" sz="1300" dirty="0"/>
          </a:p>
        </p:txBody>
      </p:sp>
      <p:sp>
        <p:nvSpPr>
          <p:cNvPr id="10" name="Shape 6"/>
          <p:cNvSpPr/>
          <p:nvPr/>
        </p:nvSpPr>
        <p:spPr>
          <a:xfrm>
            <a:off x="4405842" y="1938610"/>
            <a:ext cx="3380317" cy="1718998"/>
          </a:xfrm>
          <a:prstGeom prst="roundRect">
            <a:avLst>
              <a:gd name="adj" fmla="val 5726"/>
            </a:avLst>
          </a:prstGeom>
          <a:solidFill>
            <a:srgbClr val="FCFDFE"/>
          </a:solidFill>
          <a:ln w="6350">
            <a:solidFill>
              <a:srgbClr val="D3DEEA"/>
            </a:solidFill>
            <a:prstDash val="solid"/>
          </a:ln>
        </p:spPr>
      </p:sp>
      <p:sp>
        <p:nvSpPr>
          <p:cNvPr id="11" name="Text 7"/>
          <p:cNvSpPr/>
          <p:nvPr/>
        </p:nvSpPr>
        <p:spPr>
          <a:xfrm>
            <a:off x="4610100" y="2142865"/>
            <a:ext cx="30609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1579B"/>
                </a:solidFill>
                <a:latin typeface="Inter" pitchFamily="34" charset="0"/>
                <a:ea typeface="Inter" pitchFamily="34" charset="-122"/>
                <a:cs typeface="Inter" pitchFamily="34" charset="-120"/>
              </a:rPr>
              <a:t>02</a:t>
            </a:r>
            <a:endParaRPr lang="en-US" sz="1300" dirty="0"/>
          </a:p>
        </p:txBody>
      </p:sp>
      <p:sp>
        <p:nvSpPr>
          <p:cNvPr id="12" name="Text 8"/>
          <p:cNvSpPr/>
          <p:nvPr/>
        </p:nvSpPr>
        <p:spPr>
          <a:xfrm>
            <a:off x="4610100" y="2437482"/>
            <a:ext cx="306095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Build once, serve six</a:t>
            </a:r>
            <a:endParaRPr lang="en-US" sz="1700" dirty="0"/>
          </a:p>
        </p:txBody>
      </p:sp>
      <p:sp>
        <p:nvSpPr>
          <p:cNvPr id="13" name="Text 9"/>
          <p:cNvSpPr/>
          <p:nvPr/>
        </p:nvSpPr>
        <p:spPr>
          <a:xfrm>
            <a:off x="4610100" y="2760005"/>
            <a:ext cx="306095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Each service is shared across the group and configured per brand.</a:t>
            </a:r>
            <a:endParaRPr lang="en-US" sz="1300" dirty="0"/>
          </a:p>
        </p:txBody>
      </p:sp>
      <p:sp>
        <p:nvSpPr>
          <p:cNvPr id="14" name="Shape 10"/>
          <p:cNvSpPr/>
          <p:nvPr/>
        </p:nvSpPr>
        <p:spPr>
          <a:xfrm>
            <a:off x="7995709" y="1938610"/>
            <a:ext cx="3380317" cy="1718998"/>
          </a:xfrm>
          <a:prstGeom prst="roundRect">
            <a:avLst>
              <a:gd name="adj" fmla="val 5726"/>
            </a:avLst>
          </a:prstGeom>
          <a:solidFill>
            <a:srgbClr val="FCFDFE"/>
          </a:solidFill>
          <a:ln w="6350">
            <a:solidFill>
              <a:srgbClr val="D3DEEA"/>
            </a:solidFill>
            <a:prstDash val="solid"/>
          </a:ln>
        </p:spPr>
      </p:sp>
      <p:sp>
        <p:nvSpPr>
          <p:cNvPr id="15" name="Text 11"/>
          <p:cNvSpPr/>
          <p:nvPr/>
        </p:nvSpPr>
        <p:spPr>
          <a:xfrm>
            <a:off x="8199967" y="2142865"/>
            <a:ext cx="30609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1579B"/>
                </a:solidFill>
                <a:latin typeface="Inter" pitchFamily="34" charset="0"/>
                <a:ea typeface="Inter" pitchFamily="34" charset="-122"/>
                <a:cs typeface="Inter" pitchFamily="34" charset="-120"/>
              </a:rPr>
              <a:t>03</a:t>
            </a:r>
            <a:endParaRPr lang="en-US" sz="1300" dirty="0"/>
          </a:p>
        </p:txBody>
      </p:sp>
      <p:sp>
        <p:nvSpPr>
          <p:cNvPr id="16" name="Text 12"/>
          <p:cNvSpPr/>
          <p:nvPr/>
        </p:nvSpPr>
        <p:spPr>
          <a:xfrm>
            <a:off x="8199967" y="2437482"/>
            <a:ext cx="306095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Human in the loop</a:t>
            </a:r>
            <a:endParaRPr lang="en-US" sz="1700" dirty="0"/>
          </a:p>
        </p:txBody>
      </p:sp>
      <p:sp>
        <p:nvSpPr>
          <p:cNvPr id="17" name="Text 13"/>
          <p:cNvSpPr/>
          <p:nvPr/>
        </p:nvSpPr>
        <p:spPr>
          <a:xfrm>
            <a:off x="8199967" y="2760005"/>
            <a:ext cx="306095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AI suggests, drafts and flags. Editors decide what gets published.</a:t>
            </a:r>
            <a:endParaRPr lang="en-US" sz="1300" dirty="0"/>
          </a:p>
        </p:txBody>
      </p:sp>
      <p:sp>
        <p:nvSpPr>
          <p:cNvPr id="18" name="Shape 14"/>
          <p:cNvSpPr/>
          <p:nvPr/>
        </p:nvSpPr>
        <p:spPr>
          <a:xfrm>
            <a:off x="815975" y="3867150"/>
            <a:ext cx="3380317" cy="1718998"/>
          </a:xfrm>
          <a:prstGeom prst="roundRect">
            <a:avLst>
              <a:gd name="adj" fmla="val 5726"/>
            </a:avLst>
          </a:prstGeom>
          <a:solidFill>
            <a:srgbClr val="FCFDFE"/>
          </a:solidFill>
          <a:ln w="6350">
            <a:solidFill>
              <a:srgbClr val="D3DEEA"/>
            </a:solidFill>
            <a:prstDash val="solid"/>
          </a:ln>
        </p:spPr>
      </p:sp>
      <p:sp>
        <p:nvSpPr>
          <p:cNvPr id="19" name="Text 15"/>
          <p:cNvSpPr/>
          <p:nvPr/>
        </p:nvSpPr>
        <p:spPr>
          <a:xfrm>
            <a:off x="1020233" y="4071417"/>
            <a:ext cx="30609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1579B"/>
                </a:solidFill>
                <a:latin typeface="Inter" pitchFamily="34" charset="0"/>
                <a:ea typeface="Inter" pitchFamily="34" charset="-122"/>
                <a:cs typeface="Inter" pitchFamily="34" charset="-120"/>
              </a:rPr>
              <a:t>04</a:t>
            </a:r>
            <a:endParaRPr lang="en-US" sz="1300" dirty="0"/>
          </a:p>
        </p:txBody>
      </p:sp>
      <p:sp>
        <p:nvSpPr>
          <p:cNvPr id="20" name="Text 16"/>
          <p:cNvSpPr/>
          <p:nvPr/>
        </p:nvSpPr>
        <p:spPr>
          <a:xfrm>
            <a:off x="1020233" y="4366022"/>
            <a:ext cx="306095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Arabic-first</a:t>
            </a:r>
            <a:endParaRPr lang="en-US" sz="1700" dirty="0"/>
          </a:p>
        </p:txBody>
      </p:sp>
      <p:sp>
        <p:nvSpPr>
          <p:cNvPr id="21" name="Text 17"/>
          <p:cNvSpPr/>
          <p:nvPr/>
        </p:nvSpPr>
        <p:spPr>
          <a:xfrm>
            <a:off x="1020233" y="4688557"/>
            <a:ext cx="3060954"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Language quality, style rules and audio designed for Arabic from day one.</a:t>
            </a:r>
            <a:endParaRPr lang="en-US" sz="1300" dirty="0"/>
          </a:p>
        </p:txBody>
      </p:sp>
      <p:sp>
        <p:nvSpPr>
          <p:cNvPr id="22" name="Shape 18"/>
          <p:cNvSpPr/>
          <p:nvPr/>
        </p:nvSpPr>
        <p:spPr>
          <a:xfrm>
            <a:off x="4405842" y="3867150"/>
            <a:ext cx="3380317" cy="1718998"/>
          </a:xfrm>
          <a:prstGeom prst="roundRect">
            <a:avLst>
              <a:gd name="adj" fmla="val 5726"/>
            </a:avLst>
          </a:prstGeom>
          <a:solidFill>
            <a:srgbClr val="FCFDFE"/>
          </a:solidFill>
          <a:ln w="6350">
            <a:solidFill>
              <a:srgbClr val="D3DEEA"/>
            </a:solidFill>
            <a:prstDash val="solid"/>
          </a:ln>
        </p:spPr>
      </p:sp>
      <p:sp>
        <p:nvSpPr>
          <p:cNvPr id="23" name="Text 19"/>
          <p:cNvSpPr/>
          <p:nvPr/>
        </p:nvSpPr>
        <p:spPr>
          <a:xfrm>
            <a:off x="4610100" y="4071417"/>
            <a:ext cx="30609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1579B"/>
                </a:solidFill>
                <a:latin typeface="Inter" pitchFamily="34" charset="0"/>
                <a:ea typeface="Inter" pitchFamily="34" charset="-122"/>
                <a:cs typeface="Inter" pitchFamily="34" charset="-120"/>
              </a:rPr>
              <a:t>05</a:t>
            </a:r>
            <a:endParaRPr lang="en-US" sz="1300" dirty="0"/>
          </a:p>
        </p:txBody>
      </p:sp>
      <p:sp>
        <p:nvSpPr>
          <p:cNvPr id="24" name="Text 20"/>
          <p:cNvSpPr/>
          <p:nvPr/>
        </p:nvSpPr>
        <p:spPr>
          <a:xfrm>
            <a:off x="4610100" y="4366022"/>
            <a:ext cx="306095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2F59"/>
                </a:solidFill>
                <a:latin typeface="Inter" pitchFamily="34" charset="0"/>
                <a:ea typeface="Inter" pitchFamily="34" charset="-122"/>
                <a:cs typeface="Inter" pitchFamily="34" charset="-120"/>
              </a:rPr>
              <a:t>Closed feedback loop</a:t>
            </a:r>
            <a:endParaRPr lang="en-US" sz="1700" dirty="0"/>
          </a:p>
        </p:txBody>
      </p:sp>
      <p:sp>
        <p:nvSpPr>
          <p:cNvPr id="25" name="Text 21"/>
          <p:cNvSpPr/>
          <p:nvPr/>
        </p:nvSpPr>
        <p:spPr>
          <a:xfrm>
            <a:off x="4610100" y="4688557"/>
            <a:ext cx="306095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2536A"/>
                </a:solidFill>
                <a:latin typeface="Inter" pitchFamily="34" charset="0"/>
                <a:ea typeface="Inter" pitchFamily="34" charset="-122"/>
                <a:cs typeface="Inter" pitchFamily="34" charset="-120"/>
              </a:rPr>
              <a:t>Performance after publishing shapes what we cover next.</a:t>
            </a:r>
            <a:endParaRPr lang="en-US" sz="1300" dirty="0"/>
          </a:p>
        </p:txBody>
      </p:sp>
      <p:sp>
        <p:nvSpPr>
          <p:cNvPr id="26" name="Text 22"/>
          <p:cNvSpPr/>
          <p:nvPr/>
        </p:nvSpPr>
        <p:spPr>
          <a:xfrm>
            <a:off x="7992534" y="3863975"/>
            <a:ext cx="3386667" cy="1725348"/>
          </a:xfrm>
          <a:prstGeom prst="roundRect">
            <a:avLst>
              <a:gd name="adj" fmla="val 5889"/>
            </a:avLst>
          </a:prstGeom>
          <a:solidFill>
            <a:srgbClr val="002F59"/>
          </a:solidFill>
          <a:ln/>
        </p:spPr>
        <p:txBody>
          <a:bodyPr wrap="square" lIns="173442" tIns="173442" rIns="84035" bIns="173442" rtlCol="0" anchor="ctr">
            <a:normAutofit/>
          </a:bodyPr>
          <a:lstStyle/>
          <a:p>
            <a:pPr algn="l" indent="0" marL="0">
              <a:lnSpc>
                <a:spcPts val="2240"/>
              </a:lnSpc>
              <a:buNone/>
            </a:pPr>
            <a:r>
              <a:rPr lang="en-US" sz="1600" b="1" dirty="0">
                <a:solidFill>
                  <a:srgbClr val="F4F7FB"/>
                </a:solidFill>
                <a:latin typeface="Inter" pitchFamily="34" charset="0"/>
                <a:ea typeface="Inter" pitchFamily="34" charset="-122"/>
                <a:cs typeface="Inter" pitchFamily="34" charset="-120"/>
              </a:rPr>
              <a:t>The result: an editorial system that gets smarter with every story it publishes.</a:t>
            </a:r>
            <a:endParaRPr lang="en-US" sz="1600" dirty="0"/>
          </a:p>
        </p:txBody>
      </p:sp>
      <p:sp>
        <p:nvSpPr>
          <p:cNvPr id="27" name="Text 23"/>
          <p:cNvSpPr/>
          <p:nvPr/>
        </p:nvSpPr>
        <p:spPr>
          <a:xfrm>
            <a:off x="812800" y="6230615"/>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28" name="Text 24"/>
          <p:cNvSpPr/>
          <p:nvPr/>
        </p:nvSpPr>
        <p:spPr>
          <a:xfrm>
            <a:off x="11172098" y="6230615"/>
            <a:ext cx="20710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2F59"/>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18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DB8F0"/>
                </a:solidFill>
                <a:latin typeface="Inter" pitchFamily="34" charset="0"/>
                <a:ea typeface="Inter" pitchFamily="34" charset="-122"/>
                <a:cs typeface="Inter" pitchFamily="34" charset="-120"/>
              </a:rPr>
              <a:t>IMPACT</a:t>
            </a:r>
            <a:endParaRPr lang="en-US" sz="1200" dirty="0"/>
          </a:p>
        </p:txBody>
      </p:sp>
      <p:sp>
        <p:nvSpPr>
          <p:cNvPr id="5"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7FB"/>
                </a:solidFill>
                <a:latin typeface="Inter" pitchFamily="34" charset="0"/>
                <a:ea typeface="Inter" pitchFamily="34" charset="-122"/>
                <a:cs typeface="Inter" pitchFamily="34" charset="-120"/>
              </a:rPr>
              <a:t>What changed for our newsrooms</a:t>
            </a:r>
            <a:endParaRPr lang="en-US" sz="3600" dirty="0"/>
          </a:p>
        </p:txBody>
      </p:sp>
      <p:sp>
        <p:nvSpPr>
          <p:cNvPr id="6" name="Shape 2"/>
          <p:cNvSpPr/>
          <p:nvPr/>
        </p:nvSpPr>
        <p:spPr>
          <a:xfrm>
            <a:off x="815975" y="1938610"/>
            <a:ext cx="3380317" cy="1249230"/>
          </a:xfrm>
          <a:prstGeom prst="roundRect">
            <a:avLst>
              <a:gd name="adj" fmla="val 9912"/>
            </a:avLst>
          </a:prstGeom>
          <a:solidFill>
            <a:srgbClr val="0A3D6E"/>
          </a:solidFill>
          <a:ln w="6350">
            <a:solidFill>
              <a:srgbClr val="1F5A8C"/>
            </a:solidFill>
            <a:prstDash val="solid"/>
          </a:ln>
        </p:spPr>
      </p:sp>
      <p:sp>
        <p:nvSpPr>
          <p:cNvPr id="7" name="Shape 3"/>
          <p:cNvSpPr/>
          <p:nvPr/>
        </p:nvSpPr>
        <p:spPr>
          <a:xfrm>
            <a:off x="1020233" y="2142865"/>
            <a:ext cx="457200" cy="457200"/>
          </a:xfrm>
          <a:prstGeom prst="roundRect">
            <a:avLst>
              <a:gd name="adj" fmla="val 22222"/>
            </a:avLst>
          </a:prstGeom>
          <a:solidFill>
            <a:srgbClr val="5DB8F0"/>
          </a:solidFill>
          <a:ln/>
        </p:spPr>
      </p:sp>
      <p:pic>
        <p:nvPicPr>
          <p:cNvPr id="8" name="Image 2" descr="Lightning">    </p:cNvPr>
          <p:cNvPicPr>
            <a:picLocks noChangeAspect="1"/>
          </p:cNvPicPr>
          <p:nvPr/>
        </p:nvPicPr>
        <p:blipFill>
          <a:blip r:embed="rId3"/>
          <a:srcRect l="0" r="0" t="0" b="0"/>
          <a:stretch/>
        </p:blipFill>
        <p:spPr>
          <a:xfrm>
            <a:off x="1121833" y="2244465"/>
            <a:ext cx="254000" cy="254000"/>
          </a:xfrm>
          <a:prstGeom prst="rect">
            <a:avLst/>
          </a:prstGeom>
        </p:spPr>
      </p:pic>
      <p:sp>
        <p:nvSpPr>
          <p:cNvPr id="9" name="Text 4"/>
          <p:cNvSpPr/>
          <p:nvPr/>
        </p:nvSpPr>
        <p:spPr>
          <a:xfrm>
            <a:off x="1629833" y="2142865"/>
            <a:ext cx="2433066"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5DB8F0"/>
                </a:solidFill>
                <a:latin typeface="Inter" pitchFamily="34" charset="0"/>
                <a:ea typeface="Inter" pitchFamily="34" charset="-122"/>
                <a:cs typeface="Inter" pitchFamily="34" charset="-120"/>
              </a:rPr>
              <a:t>Faster</a:t>
            </a:r>
            <a:endParaRPr lang="en-US" sz="2000" dirty="0"/>
          </a:p>
        </p:txBody>
      </p:sp>
      <p:sp>
        <p:nvSpPr>
          <p:cNvPr id="10" name="Text 5"/>
          <p:cNvSpPr/>
          <p:nvPr/>
        </p:nvSpPr>
        <p:spPr>
          <a:xfrm>
            <a:off x="1629833" y="2485765"/>
            <a:ext cx="243306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D2E8"/>
                </a:solidFill>
                <a:latin typeface="Inter" pitchFamily="34" charset="0"/>
                <a:ea typeface="Inter" pitchFamily="34" charset="-122"/>
                <a:cs typeface="Inter" pitchFamily="34" charset="-120"/>
              </a:rPr>
              <a:t>Shorter path from first draft to published story</a:t>
            </a:r>
            <a:endParaRPr lang="en-US" sz="1400" dirty="0"/>
          </a:p>
        </p:txBody>
      </p:sp>
      <p:sp>
        <p:nvSpPr>
          <p:cNvPr id="11" name="Shape 6"/>
          <p:cNvSpPr/>
          <p:nvPr/>
        </p:nvSpPr>
        <p:spPr>
          <a:xfrm>
            <a:off x="4405842" y="1938610"/>
            <a:ext cx="3380317" cy="1249230"/>
          </a:xfrm>
          <a:prstGeom prst="roundRect">
            <a:avLst>
              <a:gd name="adj" fmla="val 9912"/>
            </a:avLst>
          </a:prstGeom>
          <a:solidFill>
            <a:srgbClr val="0A3D6E"/>
          </a:solidFill>
          <a:ln w="6350">
            <a:solidFill>
              <a:srgbClr val="1F5A8C"/>
            </a:solidFill>
            <a:prstDash val="solid"/>
          </a:ln>
        </p:spPr>
      </p:sp>
      <p:sp>
        <p:nvSpPr>
          <p:cNvPr id="12" name="Shape 7"/>
          <p:cNvSpPr/>
          <p:nvPr/>
        </p:nvSpPr>
        <p:spPr>
          <a:xfrm>
            <a:off x="4610100" y="2142865"/>
            <a:ext cx="457200" cy="457200"/>
          </a:xfrm>
          <a:prstGeom prst="roundRect">
            <a:avLst>
              <a:gd name="adj" fmla="val 22222"/>
            </a:avLst>
          </a:prstGeom>
          <a:solidFill>
            <a:srgbClr val="5DB8F0"/>
          </a:solidFill>
          <a:ln/>
        </p:spPr>
      </p:sp>
      <p:pic>
        <p:nvPicPr>
          <p:cNvPr id="13" name="Image 3" descr="Play">    </p:cNvPr>
          <p:cNvPicPr>
            <a:picLocks noChangeAspect="1"/>
          </p:cNvPicPr>
          <p:nvPr/>
        </p:nvPicPr>
        <p:blipFill>
          <a:blip r:embed="rId4"/>
          <a:srcRect l="0" r="0" t="0" b="0"/>
          <a:stretch/>
        </p:blipFill>
        <p:spPr>
          <a:xfrm>
            <a:off x="4711700" y="2244465"/>
            <a:ext cx="254000" cy="254000"/>
          </a:xfrm>
          <a:prstGeom prst="rect">
            <a:avLst/>
          </a:prstGeom>
        </p:spPr>
      </p:pic>
      <p:sp>
        <p:nvSpPr>
          <p:cNvPr id="14" name="Text 8"/>
          <p:cNvSpPr/>
          <p:nvPr/>
        </p:nvSpPr>
        <p:spPr>
          <a:xfrm>
            <a:off x="5219700" y="2142865"/>
            <a:ext cx="2433066"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5DB8F0"/>
                </a:solidFill>
                <a:latin typeface="Inter" pitchFamily="34" charset="0"/>
                <a:ea typeface="Inter" pitchFamily="34" charset="-122"/>
                <a:cs typeface="Inter" pitchFamily="34" charset="-120"/>
              </a:rPr>
              <a:t>Richer</a:t>
            </a:r>
            <a:endParaRPr lang="en-US" sz="2000" dirty="0"/>
          </a:p>
        </p:txBody>
      </p:sp>
      <p:sp>
        <p:nvSpPr>
          <p:cNvPr id="15" name="Text 9"/>
          <p:cNvSpPr/>
          <p:nvPr/>
        </p:nvSpPr>
        <p:spPr>
          <a:xfrm>
            <a:off x="5219700" y="2485765"/>
            <a:ext cx="243306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D2E8"/>
                </a:solidFill>
                <a:latin typeface="Inter" pitchFamily="34" charset="0"/>
                <a:ea typeface="Inter" pitchFamily="34" charset="-122"/>
                <a:cs typeface="Inter" pitchFamily="34" charset="-120"/>
              </a:rPr>
              <a:t>Every story available as audio, summary and more</a:t>
            </a:r>
            <a:endParaRPr lang="en-US" sz="1400" dirty="0"/>
          </a:p>
        </p:txBody>
      </p:sp>
      <p:sp>
        <p:nvSpPr>
          <p:cNvPr id="16" name="Shape 10"/>
          <p:cNvSpPr/>
          <p:nvPr/>
        </p:nvSpPr>
        <p:spPr>
          <a:xfrm>
            <a:off x="7995709" y="1938610"/>
            <a:ext cx="3380317" cy="1249230"/>
          </a:xfrm>
          <a:prstGeom prst="roundRect">
            <a:avLst>
              <a:gd name="adj" fmla="val 9912"/>
            </a:avLst>
          </a:prstGeom>
          <a:solidFill>
            <a:srgbClr val="0A3D6E"/>
          </a:solidFill>
          <a:ln w="6350">
            <a:solidFill>
              <a:srgbClr val="1F5A8C"/>
            </a:solidFill>
            <a:prstDash val="solid"/>
          </a:ln>
        </p:spPr>
      </p:sp>
      <p:sp>
        <p:nvSpPr>
          <p:cNvPr id="17" name="Shape 11"/>
          <p:cNvSpPr/>
          <p:nvPr/>
        </p:nvSpPr>
        <p:spPr>
          <a:xfrm>
            <a:off x="8199967" y="2142865"/>
            <a:ext cx="457200" cy="457200"/>
          </a:xfrm>
          <a:prstGeom prst="roundRect">
            <a:avLst>
              <a:gd name="adj" fmla="val 22222"/>
            </a:avLst>
          </a:prstGeom>
          <a:solidFill>
            <a:srgbClr val="5DB8F0"/>
          </a:solidFill>
          <a:ln/>
        </p:spPr>
      </p:sp>
      <p:pic>
        <p:nvPicPr>
          <p:cNvPr id="18" name="Image 4" descr="CheckCircle">    </p:cNvPr>
          <p:cNvPicPr>
            <a:picLocks noChangeAspect="1"/>
          </p:cNvPicPr>
          <p:nvPr/>
        </p:nvPicPr>
        <p:blipFill>
          <a:blip r:embed="rId5"/>
          <a:srcRect l="0" r="0" t="0" b="0"/>
          <a:stretch/>
        </p:blipFill>
        <p:spPr>
          <a:xfrm>
            <a:off x="8301567" y="2244465"/>
            <a:ext cx="254000" cy="254000"/>
          </a:xfrm>
          <a:prstGeom prst="rect">
            <a:avLst/>
          </a:prstGeom>
        </p:spPr>
      </p:pic>
      <p:sp>
        <p:nvSpPr>
          <p:cNvPr id="19" name="Text 12"/>
          <p:cNvSpPr/>
          <p:nvPr/>
        </p:nvSpPr>
        <p:spPr>
          <a:xfrm>
            <a:off x="8809567" y="2142865"/>
            <a:ext cx="2433066"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5DB8F0"/>
                </a:solidFill>
                <a:latin typeface="Inter" pitchFamily="34" charset="0"/>
                <a:ea typeface="Inter" pitchFamily="34" charset="-122"/>
                <a:cs typeface="Inter" pitchFamily="34" charset="-120"/>
              </a:rPr>
              <a:t>Consistent</a:t>
            </a:r>
            <a:endParaRPr lang="en-US" sz="2000" dirty="0"/>
          </a:p>
        </p:txBody>
      </p:sp>
      <p:sp>
        <p:nvSpPr>
          <p:cNvPr id="20" name="Text 13"/>
          <p:cNvSpPr/>
          <p:nvPr/>
        </p:nvSpPr>
        <p:spPr>
          <a:xfrm>
            <a:off x="8809567" y="2485765"/>
            <a:ext cx="243306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D2E8"/>
                </a:solidFill>
                <a:latin typeface="Inter" pitchFamily="34" charset="0"/>
                <a:ea typeface="Inter" pitchFamily="34" charset="-122"/>
                <a:cs typeface="Inter" pitchFamily="34" charset="-120"/>
              </a:rPr>
              <a:t>Editorial quality and house style held at scale</a:t>
            </a:r>
            <a:endParaRPr lang="en-US" sz="1400" dirty="0"/>
          </a:p>
        </p:txBody>
      </p:sp>
      <p:sp>
        <p:nvSpPr>
          <p:cNvPr id="21" name="Shape 14"/>
          <p:cNvSpPr/>
          <p:nvPr/>
        </p:nvSpPr>
        <p:spPr>
          <a:xfrm>
            <a:off x="815975" y="3397386"/>
            <a:ext cx="3380317" cy="1498137"/>
          </a:xfrm>
          <a:prstGeom prst="roundRect">
            <a:avLst>
              <a:gd name="adj" fmla="val 8265"/>
            </a:avLst>
          </a:prstGeom>
          <a:solidFill>
            <a:srgbClr val="0A3D6E"/>
          </a:solidFill>
          <a:ln w="6350">
            <a:solidFill>
              <a:srgbClr val="1F5A8C"/>
            </a:solidFill>
            <a:prstDash val="solid"/>
          </a:ln>
        </p:spPr>
      </p:sp>
      <p:sp>
        <p:nvSpPr>
          <p:cNvPr id="22" name="Shape 15"/>
          <p:cNvSpPr/>
          <p:nvPr/>
        </p:nvSpPr>
        <p:spPr>
          <a:xfrm>
            <a:off x="1020233" y="3601641"/>
            <a:ext cx="457200" cy="457200"/>
          </a:xfrm>
          <a:prstGeom prst="roundRect">
            <a:avLst>
              <a:gd name="adj" fmla="val 22222"/>
            </a:avLst>
          </a:prstGeom>
          <a:solidFill>
            <a:srgbClr val="5DB8F0"/>
          </a:solidFill>
          <a:ln/>
        </p:spPr>
      </p:sp>
      <p:pic>
        <p:nvPicPr>
          <p:cNvPr id="23" name="Image 5" descr="Search">    </p:cNvPr>
          <p:cNvPicPr>
            <a:picLocks noChangeAspect="1"/>
          </p:cNvPicPr>
          <p:nvPr/>
        </p:nvPicPr>
        <p:blipFill>
          <a:blip r:embed="rId6"/>
          <a:srcRect l="0" r="0" t="0" b="0"/>
          <a:stretch/>
        </p:blipFill>
        <p:spPr>
          <a:xfrm>
            <a:off x="1121833" y="3703241"/>
            <a:ext cx="254000" cy="254000"/>
          </a:xfrm>
          <a:prstGeom prst="rect">
            <a:avLst/>
          </a:prstGeom>
        </p:spPr>
      </p:pic>
      <p:sp>
        <p:nvSpPr>
          <p:cNvPr id="24" name="Text 16"/>
          <p:cNvSpPr/>
          <p:nvPr/>
        </p:nvSpPr>
        <p:spPr>
          <a:xfrm>
            <a:off x="1629833" y="3601641"/>
            <a:ext cx="2433066"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5DB8F0"/>
                </a:solidFill>
                <a:latin typeface="Inter" pitchFamily="34" charset="0"/>
                <a:ea typeface="Inter" pitchFamily="34" charset="-122"/>
                <a:cs typeface="Inter" pitchFamily="34" charset="-120"/>
              </a:rPr>
              <a:t>Fewer gaps</a:t>
            </a:r>
            <a:endParaRPr lang="en-US" sz="2000" dirty="0"/>
          </a:p>
        </p:txBody>
      </p:sp>
      <p:sp>
        <p:nvSpPr>
          <p:cNvPr id="25" name="Text 17"/>
          <p:cNvSpPr/>
          <p:nvPr/>
        </p:nvSpPr>
        <p:spPr>
          <a:xfrm>
            <a:off x="1629833" y="3944541"/>
            <a:ext cx="243306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D2E8"/>
                </a:solidFill>
                <a:latin typeface="Inter" pitchFamily="34" charset="0"/>
                <a:ea typeface="Inter" pitchFamily="34" charset="-122"/>
                <a:cs typeface="Inter" pitchFamily="34" charset="-120"/>
              </a:rPr>
              <a:t>Missed topics surfaced and turned into stories</a:t>
            </a:r>
            <a:endParaRPr lang="en-US" sz="1400" dirty="0"/>
          </a:p>
        </p:txBody>
      </p:sp>
      <p:sp>
        <p:nvSpPr>
          <p:cNvPr id="26" name="Shape 18"/>
          <p:cNvSpPr/>
          <p:nvPr/>
        </p:nvSpPr>
        <p:spPr>
          <a:xfrm>
            <a:off x="4405842" y="3397386"/>
            <a:ext cx="3380317" cy="1498137"/>
          </a:xfrm>
          <a:prstGeom prst="roundRect">
            <a:avLst>
              <a:gd name="adj" fmla="val 8265"/>
            </a:avLst>
          </a:prstGeom>
          <a:solidFill>
            <a:srgbClr val="0A3D6E"/>
          </a:solidFill>
          <a:ln w="6350">
            <a:solidFill>
              <a:srgbClr val="1F5A8C"/>
            </a:solidFill>
            <a:prstDash val="solid"/>
          </a:ln>
        </p:spPr>
      </p:sp>
      <p:sp>
        <p:nvSpPr>
          <p:cNvPr id="27" name="Shape 19"/>
          <p:cNvSpPr/>
          <p:nvPr/>
        </p:nvSpPr>
        <p:spPr>
          <a:xfrm>
            <a:off x="4610100" y="3601641"/>
            <a:ext cx="457200" cy="457200"/>
          </a:xfrm>
          <a:prstGeom prst="roundRect">
            <a:avLst>
              <a:gd name="adj" fmla="val 22222"/>
            </a:avLst>
          </a:prstGeom>
          <a:solidFill>
            <a:srgbClr val="5DB8F0"/>
          </a:solidFill>
          <a:ln/>
        </p:spPr>
      </p:sp>
      <p:pic>
        <p:nvPicPr>
          <p:cNvPr id="28" name="Image 6" descr="Users">    </p:cNvPr>
          <p:cNvPicPr>
            <a:picLocks noChangeAspect="1"/>
          </p:cNvPicPr>
          <p:nvPr/>
        </p:nvPicPr>
        <p:blipFill>
          <a:blip r:embed="rId7"/>
          <a:srcRect l="0" r="0" t="0" b="0"/>
          <a:stretch/>
        </p:blipFill>
        <p:spPr>
          <a:xfrm>
            <a:off x="4711700" y="3703241"/>
            <a:ext cx="254000" cy="254000"/>
          </a:xfrm>
          <a:prstGeom prst="rect">
            <a:avLst/>
          </a:prstGeom>
        </p:spPr>
      </p:pic>
      <p:sp>
        <p:nvSpPr>
          <p:cNvPr id="29" name="Text 20"/>
          <p:cNvSpPr/>
          <p:nvPr/>
        </p:nvSpPr>
        <p:spPr>
          <a:xfrm>
            <a:off x="5219700" y="3601641"/>
            <a:ext cx="2433066"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5DB8F0"/>
                </a:solidFill>
                <a:latin typeface="Inter" pitchFamily="34" charset="0"/>
                <a:ea typeface="Inter" pitchFamily="34" charset="-122"/>
                <a:cs typeface="Inter" pitchFamily="34" charset="-120"/>
              </a:rPr>
              <a:t>More productive</a:t>
            </a:r>
            <a:endParaRPr lang="en-US" sz="2000" dirty="0"/>
          </a:p>
        </p:txBody>
      </p:sp>
      <p:sp>
        <p:nvSpPr>
          <p:cNvPr id="30" name="Text 21"/>
          <p:cNvSpPr/>
          <p:nvPr/>
        </p:nvSpPr>
        <p:spPr>
          <a:xfrm>
            <a:off x="5219700" y="3944541"/>
            <a:ext cx="243306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D2E8"/>
                </a:solidFill>
                <a:latin typeface="Inter" pitchFamily="34" charset="0"/>
                <a:ea typeface="Inter" pitchFamily="34" charset="-122"/>
                <a:cs typeface="Inter" pitchFamily="34" charset="-120"/>
              </a:rPr>
              <a:t>Editorial teams spend time on judgement, not routine</a:t>
            </a:r>
            <a:endParaRPr lang="en-US" sz="1400" dirty="0"/>
          </a:p>
        </p:txBody>
      </p:sp>
      <p:sp>
        <p:nvSpPr>
          <p:cNvPr id="31" name="Shape 22"/>
          <p:cNvSpPr/>
          <p:nvPr/>
        </p:nvSpPr>
        <p:spPr>
          <a:xfrm>
            <a:off x="7995709" y="3397386"/>
            <a:ext cx="3380317" cy="1498137"/>
          </a:xfrm>
          <a:prstGeom prst="roundRect">
            <a:avLst>
              <a:gd name="adj" fmla="val 8265"/>
            </a:avLst>
          </a:prstGeom>
          <a:solidFill>
            <a:srgbClr val="0A3D6E"/>
          </a:solidFill>
          <a:ln w="6350">
            <a:solidFill>
              <a:srgbClr val="1F5A8C"/>
            </a:solidFill>
            <a:prstDash val="solid"/>
          </a:ln>
        </p:spPr>
      </p:sp>
      <p:sp>
        <p:nvSpPr>
          <p:cNvPr id="32" name="Shape 23"/>
          <p:cNvSpPr/>
          <p:nvPr/>
        </p:nvSpPr>
        <p:spPr>
          <a:xfrm>
            <a:off x="8199967" y="3601641"/>
            <a:ext cx="457200" cy="457200"/>
          </a:xfrm>
          <a:prstGeom prst="roundRect">
            <a:avLst>
              <a:gd name="adj" fmla="val 22222"/>
            </a:avLst>
          </a:prstGeom>
          <a:solidFill>
            <a:srgbClr val="5DB8F0"/>
          </a:solidFill>
          <a:ln/>
        </p:spPr>
      </p:sp>
      <p:pic>
        <p:nvPicPr>
          <p:cNvPr id="33" name="Image 7" descr="Globe">    </p:cNvPr>
          <p:cNvPicPr>
            <a:picLocks noChangeAspect="1"/>
          </p:cNvPicPr>
          <p:nvPr/>
        </p:nvPicPr>
        <p:blipFill>
          <a:blip r:embed="rId8"/>
          <a:srcRect l="0" r="0" t="0" b="0"/>
          <a:stretch/>
        </p:blipFill>
        <p:spPr>
          <a:xfrm>
            <a:off x="8301567" y="3703241"/>
            <a:ext cx="254000" cy="254000"/>
          </a:xfrm>
          <a:prstGeom prst="rect">
            <a:avLst/>
          </a:prstGeom>
        </p:spPr>
      </p:pic>
      <p:sp>
        <p:nvSpPr>
          <p:cNvPr id="34" name="Text 24"/>
          <p:cNvSpPr/>
          <p:nvPr/>
        </p:nvSpPr>
        <p:spPr>
          <a:xfrm>
            <a:off x="8809567" y="3601641"/>
            <a:ext cx="2433066"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5DB8F0"/>
                </a:solidFill>
                <a:latin typeface="Inter" pitchFamily="34" charset="0"/>
                <a:ea typeface="Inter" pitchFamily="34" charset="-122"/>
                <a:cs typeface="Inter" pitchFamily="34" charset="-120"/>
              </a:rPr>
              <a:t>Wider reach</a:t>
            </a:r>
            <a:endParaRPr lang="en-US" sz="2000" dirty="0"/>
          </a:p>
        </p:txBody>
      </p:sp>
      <p:sp>
        <p:nvSpPr>
          <p:cNvPr id="35" name="Text 25"/>
          <p:cNvSpPr/>
          <p:nvPr/>
        </p:nvSpPr>
        <p:spPr>
          <a:xfrm>
            <a:off x="8809567" y="3944541"/>
            <a:ext cx="243306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D2E8"/>
                </a:solidFill>
                <a:latin typeface="Inter" pitchFamily="34" charset="0"/>
                <a:ea typeface="Inter" pitchFamily="34" charset="-122"/>
                <a:cs typeface="Inter" pitchFamily="34" charset="-120"/>
              </a:rPr>
              <a:t>Content reaches more audiences, formats and languages</a:t>
            </a:r>
            <a:endParaRPr lang="en-US" sz="1400" dirty="0"/>
          </a:p>
        </p:txBody>
      </p:sp>
      <p:sp>
        <p:nvSpPr>
          <p:cNvPr id="36" name="Text 26"/>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Qualitative outcomes across Fadaat Media brands</a:t>
            </a:r>
            <a:endParaRPr lang="en-US" sz="1200" dirty="0"/>
          </a:p>
        </p:txBody>
      </p:sp>
      <p:sp>
        <p:nvSpPr>
          <p:cNvPr id="37" name="Text 27"/>
          <p:cNvSpPr/>
          <p:nvPr/>
        </p:nvSpPr>
        <p:spPr>
          <a:xfrm>
            <a:off x="812800" y="6230615"/>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38" name="Text 28"/>
          <p:cNvSpPr/>
          <p:nvPr/>
        </p:nvSpPr>
        <p:spPr>
          <a:xfrm>
            <a:off x="11171899" y="6230615"/>
            <a:ext cx="20730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B0D2"/>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18000"/>
          </a:blip>
          <a:srcRect l="0" r="0" t="0" b="0"/>
          <a:stretch/>
        </p:blipFill>
        <p:spPr>
          <a:xfrm>
            <a:off x="7874000" y="1270000"/>
            <a:ext cx="4318000" cy="4318000"/>
          </a:xfrm>
          <a:prstGeom prst="rect">
            <a:avLst/>
          </a:prstGeom>
        </p:spPr>
      </p:pic>
      <p:pic>
        <p:nvPicPr>
          <p:cNvPr id="3" name="Image 1" descr="Fadaat Media">    </p:cNvPr>
          <p:cNvPicPr>
            <a:picLocks noChangeAspect="1"/>
          </p:cNvPicPr>
          <p:nvPr/>
        </p:nvPicPr>
        <p:blipFill>
          <a:blip r:embed="rId2"/>
          <a:srcRect l="0" r="0" t="0" b="0"/>
          <a:stretch/>
        </p:blipFill>
        <p:spPr>
          <a:xfrm>
            <a:off x="812800" y="1144327"/>
            <a:ext cx="1714500" cy="508000"/>
          </a:xfrm>
          <a:prstGeom prst="rect">
            <a:avLst/>
          </a:prstGeom>
        </p:spPr>
      </p:pic>
      <p:sp>
        <p:nvSpPr>
          <p:cNvPr id="4" name="Text 0"/>
          <p:cNvSpPr/>
          <p:nvPr/>
        </p:nvSpPr>
        <p:spPr>
          <a:xfrm>
            <a:off x="812800" y="185552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DB8F0"/>
                </a:solidFill>
                <a:latin typeface="Inter" pitchFamily="34" charset="0"/>
                <a:ea typeface="Inter" pitchFamily="34" charset="-122"/>
                <a:cs typeface="Inter" pitchFamily="34" charset="-120"/>
              </a:rPr>
              <a:t>THANK YOU</a:t>
            </a:r>
            <a:endParaRPr lang="en-US" sz="1200" dirty="0"/>
          </a:p>
        </p:txBody>
      </p:sp>
      <p:sp>
        <p:nvSpPr>
          <p:cNvPr id="5" name="Text 1"/>
          <p:cNvSpPr/>
          <p:nvPr>
            <p:ph type="title"/>
          </p:nvPr>
        </p:nvSpPr>
        <p:spPr>
          <a:xfrm>
            <a:off x="812800" y="2272047"/>
            <a:ext cx="10883392" cy="1953220"/>
          </a:xfrm>
          <a:prstGeom prst="rect">
            <a:avLst/>
          </a:prstGeom>
          <a:noFill/>
          <a:ln/>
        </p:spPr>
        <p:txBody>
          <a:bodyPr wrap="square" lIns="0" tIns="0" rIns="0" bIns="0" rtlCol="0" anchor="t">
            <a:normAutofit/>
          </a:bodyPr>
          <a:lstStyle/>
          <a:p>
            <a:pPr algn="l" indent="0" marL="0">
              <a:lnSpc>
                <a:spcPts val="5060"/>
              </a:lnSpc>
              <a:buNone/>
            </a:pPr>
            <a:r>
              <a:rPr lang="en-US" sz="4600" b="1" i="0" spc="-50" kern="0" dirty="0">
                <a:solidFill>
                  <a:srgbClr val="F4F7FB"/>
                </a:solidFill>
                <a:latin typeface="Inter" pitchFamily="34" charset="0"/>
                <a:ea typeface="Inter" pitchFamily="34" charset="-122"/>
                <a:cs typeface="Inter" pitchFamily="34" charset="-120"/>
              </a:rPr>
              <a:t>Build once.</a:t>
            </a:r>
            <a:endParaRPr lang="en-US" sz="4600" dirty="0"/>
          </a:p>
          <a:p>
            <a:pPr algn="l" indent="0" marL="0">
              <a:lnSpc>
                <a:spcPts val="5060"/>
              </a:lnSpc>
              <a:buNone/>
            </a:pPr>
            <a:r>
              <a:rPr lang="en-US" sz="4600" b="1" i="0" spc="-50" kern="0" dirty="0">
                <a:solidFill>
                  <a:srgbClr val="F4F7FB"/>
                </a:solidFill>
                <a:latin typeface="Inter" pitchFamily="34" charset="0"/>
                <a:ea typeface="Inter" pitchFamily="34" charset="-122"/>
                <a:cs typeface="Inter" pitchFamily="34" charset="-120"/>
              </a:rPr>
              <a:t>Serve every brand.</a:t>
            </a:r>
            <a:endParaRPr lang="en-US" sz="4600" dirty="0"/>
          </a:p>
          <a:p>
            <a:pPr algn="l" indent="0" marL="0">
              <a:lnSpc>
                <a:spcPts val="5060"/>
              </a:lnSpc>
              <a:buNone/>
            </a:pPr>
            <a:r>
              <a:rPr lang="en-US" sz="4600" b="1" i="0" spc="-50" kern="0" dirty="0">
                <a:solidFill>
                  <a:srgbClr val="F4F7FB"/>
                </a:solidFill>
                <a:latin typeface="Inter" pitchFamily="34" charset="0"/>
                <a:ea typeface="Inter" pitchFamily="34" charset="-122"/>
                <a:cs typeface="Inter" pitchFamily="34" charset="-120"/>
              </a:rPr>
              <a:t>Learn from every read.</a:t>
            </a:r>
            <a:endParaRPr lang="en-US" sz="4600" dirty="0"/>
          </a:p>
        </p:txBody>
      </p:sp>
      <p:sp>
        <p:nvSpPr>
          <p:cNvPr id="6" name="Shape 2"/>
          <p:cNvSpPr/>
          <p:nvPr/>
        </p:nvSpPr>
        <p:spPr>
          <a:xfrm>
            <a:off x="812800" y="4403068"/>
            <a:ext cx="609600" cy="38100"/>
          </a:xfrm>
          <a:prstGeom prst="roundRect">
            <a:avLst>
              <a:gd name="adj" fmla="val 50000"/>
            </a:avLst>
          </a:prstGeom>
          <a:solidFill>
            <a:srgbClr val="5DB8F0"/>
          </a:solidFill>
          <a:ln/>
        </p:spPr>
      </p:sp>
      <p:sp>
        <p:nvSpPr>
          <p:cNvPr id="7" name="Text 3"/>
          <p:cNvSpPr/>
          <p:nvPr/>
        </p:nvSpPr>
        <p:spPr>
          <a:xfrm>
            <a:off x="812800" y="4644368"/>
            <a:ext cx="85026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CD2E8"/>
                </a:solidFill>
                <a:latin typeface="Inter" pitchFamily="34" charset="0"/>
                <a:ea typeface="Inter" pitchFamily="34" charset="-122"/>
                <a:cs typeface="Inter" pitchFamily="34" charset="-120"/>
              </a:rPr>
              <a:t>See the framework running live at the Fadaat Media booth — MWC Doha, 8–10 November 2026.</a:t>
            </a:r>
            <a:endParaRPr lang="en-US" sz="1800" dirty="0"/>
          </a:p>
        </p:txBody>
      </p:sp>
      <p:sp>
        <p:nvSpPr>
          <p:cNvPr id="8" name="Text 4"/>
          <p:cNvSpPr/>
          <p:nvPr/>
        </p:nvSpPr>
        <p:spPr>
          <a:xfrm>
            <a:off x="812800" y="5464708"/>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7FB"/>
                </a:solidFill>
                <a:latin typeface="Inter" pitchFamily="34" charset="0"/>
                <a:ea typeface="Inter" pitchFamily="34" charset="-122"/>
                <a:cs typeface="Inter" pitchFamily="34" charset="-120"/>
              </a:rPr>
              <a:t>Fadaat Media Technology Division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7000"/>
          </a:blip>
          <a:srcRect l="0" r="0" t="0" b="0"/>
          <a:stretch/>
        </p:blipFill>
        <p:spPr>
          <a:xfrm>
            <a:off x="8509000" y="2921000"/>
            <a:ext cx="3683000" cy="3683000"/>
          </a:xfrm>
          <a:prstGeom prst="rect">
            <a:avLst/>
          </a:prstGeom>
        </p:spPr>
      </p:pic>
      <p:pic>
        <p:nvPicPr>
          <p:cNvPr id="3" name="Image 1" descr="Fadaat Media">    </p:cNvPr>
          <p:cNvPicPr>
            <a:picLocks noChangeAspect="1"/>
          </p:cNvPicPr>
          <p:nvPr/>
        </p:nvPicPr>
        <p:blipFill>
          <a:blip r:embed="rId2"/>
          <a:srcRect l="0" r="0" t="0" b="0"/>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1579B"/>
                </a:solidFill>
                <a:latin typeface="Inter" pitchFamily="34" charset="0"/>
                <a:ea typeface="Inter" pitchFamily="34" charset="-122"/>
                <a:cs typeface="Inter" pitchFamily="34" charset="-120"/>
              </a:rPr>
              <a:t>APPENDIX · HACKATHON SCOPE</a:t>
            </a:r>
            <a:endParaRPr lang="en-US" sz="1200" dirty="0"/>
          </a:p>
        </p:txBody>
      </p:sp>
      <p:sp>
        <p:nvSpPr>
          <p:cNvPr id="5"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2F59"/>
                </a:solidFill>
                <a:latin typeface="Inter" pitchFamily="34" charset="0"/>
                <a:ea typeface="Inter" pitchFamily="34" charset="-122"/>
                <a:cs typeface="Inter" pitchFamily="34" charset="-120"/>
              </a:rPr>
              <a:t>Six challenge tracks for the next module</a:t>
            </a:r>
            <a:endParaRPr lang="en-US" sz="3600" dirty="0"/>
          </a:p>
        </p:txBody>
      </p:sp>
      <p:sp>
        <p:nvSpPr>
          <p:cNvPr id="6" name="Shape 2"/>
          <p:cNvSpPr/>
          <p:nvPr/>
        </p:nvSpPr>
        <p:spPr>
          <a:xfrm>
            <a:off x="812800" y="1884635"/>
            <a:ext cx="3420533" cy="1287661"/>
          </a:xfrm>
          <a:prstGeom prst="roundRect">
            <a:avLst>
              <a:gd name="adj" fmla="val 5918"/>
            </a:avLst>
          </a:prstGeom>
          <a:solidFill>
            <a:srgbClr val="FCFDFE"/>
          </a:solidFill>
          <a:ln/>
        </p:spPr>
      </p:sp>
      <p:sp>
        <p:nvSpPr>
          <p:cNvPr id="7" name="Shape 3"/>
          <p:cNvSpPr/>
          <p:nvPr/>
        </p:nvSpPr>
        <p:spPr>
          <a:xfrm>
            <a:off x="812800" y="1884635"/>
            <a:ext cx="3420533" cy="1287661"/>
          </a:xfrm>
          <a:custGeom>
            <a:avLst/>
            <a:gdLst/>
            <a:ahLst/>
            <a:cxnLst/>
            <a:rect l="l" t="t" r="r" b="b"/>
            <a:pathLst>
              <a:path w="3420533" h="1287661">
                <a:moveTo>
                  <a:pt x="76200" y="1287661"/>
                </a:moveTo>
                <a:lnTo>
                  <a:pt x="76200" y="1287661"/>
                </a:lnTo>
                <a:arcTo hR="76200" wR="76200" stAng="5400000" swAng="5400000"/>
                <a:lnTo>
                  <a:pt x="0" y="76200"/>
                </a:lnTo>
                <a:arcTo hR="76200" wR="76200" stAng="10800000" swAng="5400000"/>
                <a:lnTo>
                  <a:pt x="76200" y="0"/>
                </a:lnTo>
                <a:arcTo hR="76200" wR="38100" stAng="16200000" swAng="-5400000"/>
                <a:lnTo>
                  <a:pt x="38100" y="1211461"/>
                </a:lnTo>
                <a:arcTo hR="76200" wR="38100" stAng="10800000" swAng="-5400000"/>
                <a:close/>
              </a:path>
            </a:pathLst>
          </a:custGeom>
          <a:solidFill>
            <a:srgbClr val="01579B"/>
          </a:solidFill>
          <a:ln/>
        </p:spPr>
      </p:sp>
      <p:pic>
        <p:nvPicPr>
          <p:cNvPr id="8" name="Image 2" descr="Play">    </p:cNvPr>
          <p:cNvPicPr>
            <a:picLocks noChangeAspect="1"/>
          </p:cNvPicPr>
          <p:nvPr/>
        </p:nvPicPr>
        <p:blipFill>
          <a:blip r:embed="rId3"/>
          <a:srcRect l="0" r="0" t="0" b="0"/>
          <a:stretch/>
        </p:blipFill>
        <p:spPr>
          <a:xfrm>
            <a:off x="1028700" y="2062435"/>
            <a:ext cx="228600" cy="228600"/>
          </a:xfrm>
          <a:prstGeom prst="rect">
            <a:avLst/>
          </a:prstGeom>
        </p:spPr>
      </p:pic>
      <p:sp>
        <p:nvSpPr>
          <p:cNvPr id="9" name="Text 4"/>
          <p:cNvSpPr/>
          <p:nvPr/>
        </p:nvSpPr>
        <p:spPr>
          <a:xfrm>
            <a:off x="1346200" y="2062435"/>
            <a:ext cx="27906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Ask the Video</a:t>
            </a:r>
            <a:endParaRPr lang="en-US" sz="1500" dirty="0"/>
          </a:p>
        </p:txBody>
      </p:sp>
      <p:sp>
        <p:nvSpPr>
          <p:cNvPr id="10" name="Text 5"/>
          <p:cNvSpPr/>
          <p:nvPr/>
        </p:nvSpPr>
        <p:spPr>
          <a:xfrm>
            <a:off x="1028700" y="2354535"/>
            <a:ext cx="311763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An interactive AI assistant that lets viewers ask questions about video content.</a:t>
            </a:r>
            <a:endParaRPr lang="en-US" sz="1200" dirty="0"/>
          </a:p>
        </p:txBody>
      </p:sp>
      <p:sp>
        <p:nvSpPr>
          <p:cNvPr id="11" name="Shape 6"/>
          <p:cNvSpPr/>
          <p:nvPr/>
        </p:nvSpPr>
        <p:spPr>
          <a:xfrm>
            <a:off x="4385733" y="1884635"/>
            <a:ext cx="3420533" cy="1287661"/>
          </a:xfrm>
          <a:prstGeom prst="roundRect">
            <a:avLst>
              <a:gd name="adj" fmla="val 5918"/>
            </a:avLst>
          </a:prstGeom>
          <a:solidFill>
            <a:srgbClr val="FCFDFE"/>
          </a:solidFill>
          <a:ln/>
        </p:spPr>
      </p:sp>
      <p:sp>
        <p:nvSpPr>
          <p:cNvPr id="12" name="Shape 7"/>
          <p:cNvSpPr/>
          <p:nvPr/>
        </p:nvSpPr>
        <p:spPr>
          <a:xfrm>
            <a:off x="4385733" y="1884635"/>
            <a:ext cx="3420533" cy="1287661"/>
          </a:xfrm>
          <a:custGeom>
            <a:avLst/>
            <a:gdLst/>
            <a:ahLst/>
            <a:cxnLst/>
            <a:rect l="l" t="t" r="r" b="b"/>
            <a:pathLst>
              <a:path w="3420533" h="1287661">
                <a:moveTo>
                  <a:pt x="76200" y="1287661"/>
                </a:moveTo>
                <a:lnTo>
                  <a:pt x="76200" y="1287661"/>
                </a:lnTo>
                <a:arcTo hR="76200" wR="76200" stAng="5400000" swAng="5400000"/>
                <a:lnTo>
                  <a:pt x="0" y="76200"/>
                </a:lnTo>
                <a:arcTo hR="76200" wR="76200" stAng="10800000" swAng="5400000"/>
                <a:lnTo>
                  <a:pt x="76200" y="0"/>
                </a:lnTo>
                <a:arcTo hR="76200" wR="38100" stAng="16200000" swAng="-5400000"/>
                <a:lnTo>
                  <a:pt x="38100" y="1211461"/>
                </a:lnTo>
                <a:arcTo hR="76200" wR="38100" stAng="10800000" swAng="-5400000"/>
                <a:close/>
              </a:path>
            </a:pathLst>
          </a:custGeom>
          <a:solidFill>
            <a:srgbClr val="01579B"/>
          </a:solidFill>
          <a:ln/>
        </p:spPr>
      </p:sp>
      <p:pic>
        <p:nvPicPr>
          <p:cNvPr id="13" name="Image 3" descr="Globe">    </p:cNvPr>
          <p:cNvPicPr>
            <a:picLocks noChangeAspect="1"/>
          </p:cNvPicPr>
          <p:nvPr/>
        </p:nvPicPr>
        <p:blipFill>
          <a:blip r:embed="rId4"/>
          <a:srcRect l="0" r="0" t="0" b="0"/>
          <a:stretch/>
        </p:blipFill>
        <p:spPr>
          <a:xfrm>
            <a:off x="4601633" y="2062435"/>
            <a:ext cx="228600" cy="228600"/>
          </a:xfrm>
          <a:prstGeom prst="rect">
            <a:avLst/>
          </a:prstGeom>
        </p:spPr>
      </p:pic>
      <p:sp>
        <p:nvSpPr>
          <p:cNvPr id="14" name="Text 8"/>
          <p:cNvSpPr/>
          <p:nvPr/>
        </p:nvSpPr>
        <p:spPr>
          <a:xfrm>
            <a:off x="4919133" y="2062435"/>
            <a:ext cx="27906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AI Translation &amp; Subtitles</a:t>
            </a:r>
            <a:endParaRPr lang="en-US" sz="1500" dirty="0"/>
          </a:p>
        </p:txBody>
      </p:sp>
      <p:sp>
        <p:nvSpPr>
          <p:cNvPr id="15" name="Text 9"/>
          <p:cNvSpPr/>
          <p:nvPr/>
        </p:nvSpPr>
        <p:spPr>
          <a:xfrm>
            <a:off x="4601633" y="2354535"/>
            <a:ext cx="311763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Automated multilingual subtitles and translation, with optional dubbing.</a:t>
            </a:r>
            <a:endParaRPr lang="en-US" sz="1200" dirty="0"/>
          </a:p>
        </p:txBody>
      </p:sp>
      <p:sp>
        <p:nvSpPr>
          <p:cNvPr id="16" name="Shape 10"/>
          <p:cNvSpPr/>
          <p:nvPr/>
        </p:nvSpPr>
        <p:spPr>
          <a:xfrm>
            <a:off x="7958667" y="1884635"/>
            <a:ext cx="3420533" cy="1287661"/>
          </a:xfrm>
          <a:prstGeom prst="roundRect">
            <a:avLst>
              <a:gd name="adj" fmla="val 5918"/>
            </a:avLst>
          </a:prstGeom>
          <a:solidFill>
            <a:srgbClr val="FCFDFE"/>
          </a:solidFill>
          <a:ln/>
        </p:spPr>
      </p:sp>
      <p:sp>
        <p:nvSpPr>
          <p:cNvPr id="17" name="Shape 11"/>
          <p:cNvSpPr/>
          <p:nvPr/>
        </p:nvSpPr>
        <p:spPr>
          <a:xfrm>
            <a:off x="7958667" y="1884635"/>
            <a:ext cx="3420533" cy="1287661"/>
          </a:xfrm>
          <a:custGeom>
            <a:avLst/>
            <a:gdLst/>
            <a:ahLst/>
            <a:cxnLst/>
            <a:rect l="l" t="t" r="r" b="b"/>
            <a:pathLst>
              <a:path w="3420533" h="1287661">
                <a:moveTo>
                  <a:pt x="76200" y="1287661"/>
                </a:moveTo>
                <a:lnTo>
                  <a:pt x="76200" y="1287661"/>
                </a:lnTo>
                <a:arcTo hR="76200" wR="76200" stAng="5400000" swAng="5400000"/>
                <a:lnTo>
                  <a:pt x="0" y="76200"/>
                </a:lnTo>
                <a:arcTo hR="76200" wR="76200" stAng="10800000" swAng="5400000"/>
                <a:lnTo>
                  <a:pt x="76200" y="0"/>
                </a:lnTo>
                <a:arcTo hR="76200" wR="38100" stAng="16200000" swAng="-5400000"/>
                <a:lnTo>
                  <a:pt x="38100" y="1211461"/>
                </a:lnTo>
                <a:arcTo hR="76200" wR="38100" stAng="10800000" swAng="-5400000"/>
                <a:close/>
              </a:path>
            </a:pathLst>
          </a:custGeom>
          <a:solidFill>
            <a:srgbClr val="01579B"/>
          </a:solidFill>
          <a:ln/>
        </p:spPr>
      </p:sp>
      <p:pic>
        <p:nvPicPr>
          <p:cNvPr id="18" name="Image 4" descr="Chart">    </p:cNvPr>
          <p:cNvPicPr>
            <a:picLocks noChangeAspect="1"/>
          </p:cNvPicPr>
          <p:nvPr/>
        </p:nvPicPr>
        <p:blipFill>
          <a:blip r:embed="rId5"/>
          <a:srcRect l="0" r="0" t="0" b="0"/>
          <a:stretch/>
        </p:blipFill>
        <p:spPr>
          <a:xfrm>
            <a:off x="8174567" y="2062435"/>
            <a:ext cx="228600" cy="228600"/>
          </a:xfrm>
          <a:prstGeom prst="rect">
            <a:avLst/>
          </a:prstGeom>
        </p:spPr>
      </p:pic>
      <p:sp>
        <p:nvSpPr>
          <p:cNvPr id="19" name="Text 12"/>
          <p:cNvSpPr/>
          <p:nvPr/>
        </p:nvSpPr>
        <p:spPr>
          <a:xfrm>
            <a:off x="8492067" y="2062435"/>
            <a:ext cx="27906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AI Sports Analyst</a:t>
            </a:r>
            <a:endParaRPr lang="en-US" sz="1500" dirty="0"/>
          </a:p>
        </p:txBody>
      </p:sp>
      <p:sp>
        <p:nvSpPr>
          <p:cNvPr id="20" name="Text 13"/>
          <p:cNvSpPr/>
          <p:nvPr/>
        </p:nvSpPr>
        <p:spPr>
          <a:xfrm>
            <a:off x="8174567" y="2354535"/>
            <a:ext cx="311763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Conversational AI that delivers match insights, player comparisons and statistics.</a:t>
            </a:r>
            <a:endParaRPr lang="en-US" sz="1200" dirty="0"/>
          </a:p>
        </p:txBody>
      </p:sp>
      <p:sp>
        <p:nvSpPr>
          <p:cNvPr id="21" name="Shape 14"/>
          <p:cNvSpPr/>
          <p:nvPr/>
        </p:nvSpPr>
        <p:spPr>
          <a:xfrm>
            <a:off x="812800" y="3324696"/>
            <a:ext cx="3420533" cy="1500981"/>
          </a:xfrm>
          <a:prstGeom prst="roundRect">
            <a:avLst>
              <a:gd name="adj" fmla="val 5077"/>
            </a:avLst>
          </a:prstGeom>
          <a:solidFill>
            <a:srgbClr val="FCFDFE"/>
          </a:solidFill>
          <a:ln/>
        </p:spPr>
      </p:sp>
      <p:sp>
        <p:nvSpPr>
          <p:cNvPr id="22" name="Shape 15"/>
          <p:cNvSpPr/>
          <p:nvPr/>
        </p:nvSpPr>
        <p:spPr>
          <a:xfrm>
            <a:off x="812800" y="3324696"/>
            <a:ext cx="3420533" cy="1500981"/>
          </a:xfrm>
          <a:custGeom>
            <a:avLst/>
            <a:gdLst/>
            <a:ahLst/>
            <a:cxnLst/>
            <a:rect l="l" t="t" r="r" b="b"/>
            <a:pathLst>
              <a:path w="3420533" h="1500981">
                <a:moveTo>
                  <a:pt x="76200" y="1500981"/>
                </a:moveTo>
                <a:lnTo>
                  <a:pt x="76200" y="1500981"/>
                </a:lnTo>
                <a:arcTo hR="76200" wR="76200" stAng="5400000" swAng="5400000"/>
                <a:lnTo>
                  <a:pt x="0" y="76200"/>
                </a:lnTo>
                <a:arcTo hR="76200" wR="76200" stAng="10800000" swAng="5400000"/>
                <a:lnTo>
                  <a:pt x="76200" y="0"/>
                </a:lnTo>
                <a:arcTo hR="76200" wR="38100" stAng="16200000" swAng="-5400000"/>
                <a:lnTo>
                  <a:pt x="38100" y="1424781"/>
                </a:lnTo>
                <a:arcTo hR="76200" wR="38100" stAng="10800000" swAng="-5400000"/>
                <a:close/>
              </a:path>
            </a:pathLst>
          </a:custGeom>
          <a:solidFill>
            <a:srgbClr val="01579B"/>
          </a:solidFill>
          <a:ln/>
        </p:spPr>
      </p:sp>
      <p:pic>
        <p:nvPicPr>
          <p:cNvPr id="23" name="Image 5" descr="Lightning">    </p:cNvPr>
          <p:cNvPicPr>
            <a:picLocks noChangeAspect="1"/>
          </p:cNvPicPr>
          <p:nvPr/>
        </p:nvPicPr>
        <p:blipFill>
          <a:blip r:embed="rId6"/>
          <a:srcRect l="0" r="0" t="0" b="0"/>
          <a:stretch/>
        </p:blipFill>
        <p:spPr>
          <a:xfrm>
            <a:off x="1028700" y="3502496"/>
            <a:ext cx="228600" cy="228600"/>
          </a:xfrm>
          <a:prstGeom prst="rect">
            <a:avLst/>
          </a:prstGeom>
        </p:spPr>
      </p:pic>
      <p:sp>
        <p:nvSpPr>
          <p:cNvPr id="24" name="Text 16"/>
          <p:cNvSpPr/>
          <p:nvPr/>
        </p:nvSpPr>
        <p:spPr>
          <a:xfrm>
            <a:off x="1346200" y="3502496"/>
            <a:ext cx="27906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AI Article-to-Shorts</a:t>
            </a:r>
            <a:endParaRPr lang="en-US" sz="1500" dirty="0"/>
          </a:p>
        </p:txBody>
      </p:sp>
      <p:sp>
        <p:nvSpPr>
          <p:cNvPr id="25" name="Text 17"/>
          <p:cNvSpPr/>
          <p:nvPr/>
        </p:nvSpPr>
        <p:spPr>
          <a:xfrm>
            <a:off x="1028700" y="3794596"/>
            <a:ext cx="311763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Automatically transforms news articles into short-form videos.</a:t>
            </a:r>
            <a:endParaRPr lang="en-US" sz="1200" dirty="0"/>
          </a:p>
        </p:txBody>
      </p:sp>
      <p:sp>
        <p:nvSpPr>
          <p:cNvPr id="26" name="Shape 18"/>
          <p:cNvSpPr/>
          <p:nvPr/>
        </p:nvSpPr>
        <p:spPr>
          <a:xfrm>
            <a:off x="4385733" y="3324696"/>
            <a:ext cx="3420533" cy="1500981"/>
          </a:xfrm>
          <a:prstGeom prst="roundRect">
            <a:avLst>
              <a:gd name="adj" fmla="val 5077"/>
            </a:avLst>
          </a:prstGeom>
          <a:solidFill>
            <a:srgbClr val="FCFDFE"/>
          </a:solidFill>
          <a:ln/>
        </p:spPr>
      </p:sp>
      <p:sp>
        <p:nvSpPr>
          <p:cNvPr id="27" name="Shape 19"/>
          <p:cNvSpPr/>
          <p:nvPr/>
        </p:nvSpPr>
        <p:spPr>
          <a:xfrm>
            <a:off x="4385733" y="3324696"/>
            <a:ext cx="3420533" cy="1500981"/>
          </a:xfrm>
          <a:custGeom>
            <a:avLst/>
            <a:gdLst/>
            <a:ahLst/>
            <a:cxnLst/>
            <a:rect l="l" t="t" r="r" b="b"/>
            <a:pathLst>
              <a:path w="3420533" h="1500981">
                <a:moveTo>
                  <a:pt x="76200" y="1500981"/>
                </a:moveTo>
                <a:lnTo>
                  <a:pt x="76200" y="1500981"/>
                </a:lnTo>
                <a:arcTo hR="76200" wR="76200" stAng="5400000" swAng="5400000"/>
                <a:lnTo>
                  <a:pt x="0" y="76200"/>
                </a:lnTo>
                <a:arcTo hR="76200" wR="76200" stAng="10800000" swAng="5400000"/>
                <a:lnTo>
                  <a:pt x="76200" y="0"/>
                </a:lnTo>
                <a:arcTo hR="76200" wR="38100" stAng="16200000" swAng="-5400000"/>
                <a:lnTo>
                  <a:pt x="38100" y="1424781"/>
                </a:lnTo>
                <a:arcTo hR="76200" wR="38100" stAng="10800000" swAng="-5400000"/>
                <a:close/>
              </a:path>
            </a:pathLst>
          </a:custGeom>
          <a:solidFill>
            <a:srgbClr val="01579B"/>
          </a:solidFill>
          <a:ln/>
        </p:spPr>
      </p:sp>
      <p:pic>
        <p:nvPicPr>
          <p:cNvPr id="28" name="Image 6" descr="Verified">    </p:cNvPr>
          <p:cNvPicPr>
            <a:picLocks noChangeAspect="1"/>
          </p:cNvPicPr>
          <p:nvPr/>
        </p:nvPicPr>
        <p:blipFill>
          <a:blip r:embed="rId7"/>
          <a:srcRect l="0" r="0" t="0" b="0"/>
          <a:stretch/>
        </p:blipFill>
        <p:spPr>
          <a:xfrm>
            <a:off x="4601633" y="3616796"/>
            <a:ext cx="228600" cy="228600"/>
          </a:xfrm>
          <a:prstGeom prst="rect">
            <a:avLst/>
          </a:prstGeom>
        </p:spPr>
      </p:pic>
      <p:sp>
        <p:nvSpPr>
          <p:cNvPr id="29" name="Text 20"/>
          <p:cNvSpPr/>
          <p:nvPr/>
        </p:nvSpPr>
        <p:spPr>
          <a:xfrm>
            <a:off x="4919133" y="3502496"/>
            <a:ext cx="2790613"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AI Comment Moderation Engine</a:t>
            </a:r>
            <a:endParaRPr lang="en-US" sz="1500" dirty="0"/>
          </a:p>
        </p:txBody>
      </p:sp>
      <p:sp>
        <p:nvSpPr>
          <p:cNvPr id="30" name="Text 21"/>
          <p:cNvSpPr/>
          <p:nvPr/>
        </p:nvSpPr>
        <p:spPr>
          <a:xfrm>
            <a:off x="4601633" y="4023196"/>
            <a:ext cx="311763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AI-powered moderation of user comments across supported platforms.</a:t>
            </a:r>
            <a:endParaRPr lang="en-US" sz="1200" dirty="0"/>
          </a:p>
        </p:txBody>
      </p:sp>
      <p:sp>
        <p:nvSpPr>
          <p:cNvPr id="31" name="Shape 22"/>
          <p:cNvSpPr/>
          <p:nvPr/>
        </p:nvSpPr>
        <p:spPr>
          <a:xfrm>
            <a:off x="7958667" y="3324696"/>
            <a:ext cx="3420533" cy="1500981"/>
          </a:xfrm>
          <a:prstGeom prst="roundRect">
            <a:avLst>
              <a:gd name="adj" fmla="val 5077"/>
            </a:avLst>
          </a:prstGeom>
          <a:solidFill>
            <a:srgbClr val="FCFDFE"/>
          </a:solidFill>
          <a:ln/>
        </p:spPr>
      </p:sp>
      <p:sp>
        <p:nvSpPr>
          <p:cNvPr id="32" name="Shape 23"/>
          <p:cNvSpPr/>
          <p:nvPr/>
        </p:nvSpPr>
        <p:spPr>
          <a:xfrm>
            <a:off x="7958667" y="3324696"/>
            <a:ext cx="3420533" cy="1500981"/>
          </a:xfrm>
          <a:custGeom>
            <a:avLst/>
            <a:gdLst/>
            <a:ahLst/>
            <a:cxnLst/>
            <a:rect l="l" t="t" r="r" b="b"/>
            <a:pathLst>
              <a:path w="3420533" h="1500981">
                <a:moveTo>
                  <a:pt x="76200" y="1500981"/>
                </a:moveTo>
                <a:lnTo>
                  <a:pt x="76200" y="1500981"/>
                </a:lnTo>
                <a:arcTo hR="76200" wR="76200" stAng="5400000" swAng="5400000"/>
                <a:lnTo>
                  <a:pt x="0" y="76200"/>
                </a:lnTo>
                <a:arcTo hR="76200" wR="76200" stAng="10800000" swAng="5400000"/>
                <a:lnTo>
                  <a:pt x="76200" y="0"/>
                </a:lnTo>
                <a:arcTo hR="76200" wR="38100" stAng="16200000" swAng="-5400000"/>
                <a:lnTo>
                  <a:pt x="38100" y="1424781"/>
                </a:lnTo>
                <a:arcTo hR="76200" wR="38100" stAng="10800000" swAng="-5400000"/>
                <a:close/>
              </a:path>
            </a:pathLst>
          </a:custGeom>
          <a:solidFill>
            <a:srgbClr val="01579B"/>
          </a:solidFill>
          <a:ln/>
        </p:spPr>
      </p:sp>
      <p:pic>
        <p:nvPicPr>
          <p:cNvPr id="33" name="Image 7" descr="Chat">    </p:cNvPr>
          <p:cNvPicPr>
            <a:picLocks noChangeAspect="1"/>
          </p:cNvPicPr>
          <p:nvPr/>
        </p:nvPicPr>
        <p:blipFill>
          <a:blip r:embed="rId8"/>
          <a:srcRect l="0" r="0" t="0" b="0"/>
          <a:stretch/>
        </p:blipFill>
        <p:spPr>
          <a:xfrm>
            <a:off x="8174567" y="3502496"/>
            <a:ext cx="228600" cy="228600"/>
          </a:xfrm>
          <a:prstGeom prst="rect">
            <a:avLst/>
          </a:prstGeom>
        </p:spPr>
      </p:pic>
      <p:sp>
        <p:nvSpPr>
          <p:cNvPr id="34" name="Text 24"/>
          <p:cNvSpPr/>
          <p:nvPr/>
        </p:nvSpPr>
        <p:spPr>
          <a:xfrm>
            <a:off x="8492067" y="3502496"/>
            <a:ext cx="27906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2F59"/>
                </a:solidFill>
                <a:latin typeface="Inter" pitchFamily="34" charset="0"/>
                <a:ea typeface="Inter" pitchFamily="34" charset="-122"/>
                <a:cs typeface="Inter" pitchFamily="34" charset="-120"/>
              </a:rPr>
              <a:t>AI StoryCast</a:t>
            </a:r>
            <a:endParaRPr lang="en-US" sz="1500" dirty="0"/>
          </a:p>
        </p:txBody>
      </p:sp>
      <p:sp>
        <p:nvSpPr>
          <p:cNvPr id="35" name="Text 25"/>
          <p:cNvSpPr/>
          <p:nvPr/>
        </p:nvSpPr>
        <p:spPr>
          <a:xfrm>
            <a:off x="8174567" y="3794596"/>
            <a:ext cx="311763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2536A"/>
                </a:solidFill>
                <a:latin typeface="Inter" pitchFamily="34" charset="0"/>
                <a:ea typeface="Inter" pitchFamily="34" charset="-122"/>
                <a:cs typeface="Inter" pitchFamily="34" charset="-120"/>
              </a:rPr>
              <a:t>Combines the AI Editorial Assistant, summarization and text-to-speech into personalized audio news briefings — with potential for personalized content feeds.</a:t>
            </a:r>
            <a:endParaRPr lang="en-US" sz="1200" dirty="0"/>
          </a:p>
        </p:txBody>
      </p:sp>
      <p:sp>
        <p:nvSpPr>
          <p:cNvPr id="36" name="Text 26"/>
          <p:cNvSpPr/>
          <p:nvPr/>
        </p:nvSpPr>
        <p:spPr>
          <a:xfrm>
            <a:off x="812800" y="6230615"/>
            <a:ext cx="3499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37" name="Text 27"/>
          <p:cNvSpPr/>
          <p:nvPr/>
        </p:nvSpPr>
        <p:spPr>
          <a:xfrm>
            <a:off x="11173420" y="6230615"/>
            <a:ext cx="2057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67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theme/theme1.xml><?xml version="1.0" encoding="utf-8"?>
<a:theme xmlns:a="http://schemas.openxmlformats.org/drawingml/2006/main" name="The AI-Native Newsroom">
  <a:themeElements>
    <a:clrScheme name="The AI-Native Newsroom">
      <a:dk1>
        <a:srgbClr val="002F59"/>
      </a:dk1>
      <a:lt1>
        <a:srgbClr val="F4F7FB"/>
      </a:lt1>
      <a:dk2>
        <a:srgbClr val="3D6182"/>
      </a:dk2>
      <a:lt2>
        <a:srgbClr val="DCE3EB"/>
      </a:lt2>
      <a:accent1>
        <a:srgbClr val="5DB8F0"/>
      </a:accent1>
      <a:accent2>
        <a:srgbClr val="42536A"/>
      </a:accent2>
      <a:accent3>
        <a:srgbClr val="BCD2E8"/>
      </a:accent3>
      <a:accent4>
        <a:srgbClr val="55667D"/>
      </a:accent4>
      <a:accent5>
        <a:srgbClr val="8DB0D2"/>
      </a:accent5>
      <a:accent6>
        <a:srgbClr val="01579B"/>
      </a:accent6>
      <a:hlink>
        <a:srgbClr val="0563C1"/>
      </a:hlink>
      <a:folHlink>
        <a:srgbClr val="954F72"/>
      </a:folHlink>
    </a:clrScheme>
    <a:fontScheme name="The AI-Native Newsroom">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AI-Native Newsroom</dc:title>
  <dc:subject/>
  <dc:creator/>
  <cp:lastModifiedBy/>
  <cp:revision>1</cp:revision>
  <dcterms:created xsi:type="dcterms:W3CDTF">2026-10-20T08:20:29Z</dcterms:created>
  <dcterms:modified xsi:type="dcterms:W3CDTF">2026-10-20T08:20:29Z</dcterms:modified>
</cp:coreProperties>
</file>