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Tawazi AI: from isolated AI productivity to an intelligent delivery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question. Most teams already save time with AI, yet half still lose 10+ hours a week to organizational inefficiencies.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time is not lost inside tasks. It is lost between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Tawazi was started to turn isolated AI time savings into measurable business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principles behind Tawazi.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Tawazi and its two delivery approaches: Accelerated and Turbo.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fragmented delivery to connected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show AI's potential in individual activities, not a guaranteed end-to-end reduction. Tawazi's business case is turning isolated time savings into measurable improvements in time-to-market, quality, and delivery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Accelerated is the role-based AI-assisted workflow. Turbo puts one owner on a linked pipeline from PRD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roles hand off in sequence across 18 stages, supported by 12 AI agents. The workflow ends at Staging QA. Full detail is in the linked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50% means half of developers lose 10+ hours a week to organizational friction, such as finding information, waiting on others and switching tools. Time to market: weighted estimate from slide 8 stage savings (PRD 15% share x 40%, stories 10% x 73%, design 15% x 20%, dev 30% x 55%, QA 20% x 80%, release 10% x 0%) = ~49% best case, ~25% realistic. Cross-check: Bain Tech and Engineering Survey, April 2026 (n=293), median current gain in release-cycle speed 27%, expected 67%. Defects: modelled estimate 30–45%, assuming about half of defects originate in requirements and design and each Tawazi check (PRD Checker, Code &amp; Security Review, Playwright QA) removes 30–50% in its stage. Measured cross-check: 28% fewer post-merge defects with AI-assisted review, as cited by Qodo from GitHub Octoverse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building blocks, left to right: Confluence, Jira, AI Development, Bitbucket and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owner, Devager, is responsible for every step and stage, from PRD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Jira key in the branch and PR creates the link. PR and deployment events move the story status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Accelerated runs across six roles and 12 agents up to Staging QA. Turbo puts one owner on a linked pipeline from PRD to PROD.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10.png"/><Relationship Id="rId11" Type="http://schemas.openxmlformats.org/officeDocument/2006/relationships/image" Target="../media/image-8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svg"/><Relationship Id="rId6" Type="http://schemas.openxmlformats.org/officeDocument/2006/relationships/image" Target="../media/image-12-6.png"/><Relationship Id="rId7" Type="http://schemas.openxmlformats.org/officeDocument/2006/relationships/image" Target="../media/image-12-7.sv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sv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sv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sv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sv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svg"/><Relationship Id="rId4" Type="http://schemas.openxmlformats.org/officeDocument/2006/relationships/image" Target="../media/image-13-4.png"/><Relationship Id="rId5" Type="http://schemas.openxmlformats.org/officeDocument/2006/relationships/image" Target="../media/image-13-5.svg"/><Relationship Id="rId6" Type="http://schemas.openxmlformats.org/officeDocument/2006/relationships/image" Target="../media/image-13-6.png"/><Relationship Id="rId7" Type="http://schemas.openxmlformats.org/officeDocument/2006/relationships/image" Target="../media/image-13-7.svg"/><Relationship Id="rId8" Type="http://schemas.openxmlformats.org/officeDocument/2006/relationships/image" Target="../media/image-13-8.png"/><Relationship Id="rId9" Type="http://schemas.openxmlformats.org/officeDocument/2006/relationships/image" Target="../media/image-13-9.sv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sv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image" Target="../media/image-14-4.png"/><Relationship Id="rId5" Type="http://schemas.openxmlformats.org/officeDocument/2006/relationships/image" Target="../media/image-14-5.svg"/><Relationship Id="rId6" Type="http://schemas.openxmlformats.org/officeDocument/2006/relationships/image" Target="../media/image-14-6.png"/><Relationship Id="rId7" Type="http://schemas.openxmlformats.org/officeDocument/2006/relationships/image" Target="../media/image-14-7.svg"/><Relationship Id="rId8" Type="http://schemas.openxmlformats.org/officeDocument/2006/relationships/image" Target="../media/image-14-8.png"/><Relationship Id="rId9" Type="http://schemas.openxmlformats.org/officeDocument/2006/relationships/image" Target="../media/image-14-9.sv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sv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sv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sv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2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A5FF">
                  <a:alpha val="65000"/>
                </a:srgbClr>
              </a:gs>
              <a:gs pos="60000">
                <a:srgbClr val="6EA5FF">
                  <a:alpha val="0"/>
                </a:srgbClr>
              </a:gs>
            </a:gsLst>
            <a:path path="circle">
              <a:fillToRect l="85000" t="15000" r="15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2500"/>
            <a:ext cx="2312715" cy="685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500" y="3401392"/>
            <a:ext cx="2914129" cy="519113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6142E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190625" y="3506167"/>
            <a:ext cx="252530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Delivery Program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52500" y="4263405"/>
            <a:ext cx="1571625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0" b="1" spc="-300" kern="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Tawazi AI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952500" y="6130305"/>
            <a:ext cx="12753975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dirty="0">
                <a:solidFill>
                  <a:srgbClr val="E3EC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From isolated AI productivity to an intelligent delivery system.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952500" y="9024938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October 2026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2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A5FF">
                  <a:alpha val="65000"/>
                </a:srgbClr>
              </a:gs>
              <a:gs pos="60000">
                <a:srgbClr val="6EA5FF">
                  <a:alpha val="0"/>
                </a:srgbClr>
              </a:gs>
            </a:gsLst>
            <a:path path="circle">
              <a:fillToRect l="85000" t="15000" r="15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57250"/>
            <a:ext cx="1413272" cy="4191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" y="4048125"/>
            <a:ext cx="13735050" cy="2457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700" b="1" spc="-112" kern="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“AI can accelerate every stage of software development. So why are we still losing time between them?”</a:t>
            </a:r>
            <a:endParaRPr lang="en-US" sz="5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45000" y="92392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923219" y="762000"/>
            <a:ext cx="2221781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123244" y="847725"/>
            <a:ext cx="189793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 · The 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638300"/>
            <a:ext cx="1760220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8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Teams are faster with AI. </a:t>
            </a:r>
            <a:pPr algn="l" indent="0" marL="0">
              <a:lnSpc>
                <a:spcPct val="88000"/>
              </a:lnSpc>
              <a:buNone/>
            </a:pPr>
            <a:r>
              <a:rPr lang="en-US" sz="4800" b="1" spc="-112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Delivery is not.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1143000" y="3641452"/>
            <a:ext cx="16002000" cy="1191518"/>
          </a:xfrm>
          <a:prstGeom prst="roundRect">
            <a:avLst>
              <a:gd name="adj" fmla="val 191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57325" y="4065761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01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371725" y="3860527"/>
            <a:ext cx="159048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Work moves through handoffs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371725" y="4293915"/>
            <a:ext cx="15904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Product, design, development and QA pass work from one team to the next. Every handoff adds waiting time.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143000" y="4985370"/>
            <a:ext cx="16002000" cy="1191518"/>
          </a:xfrm>
          <a:prstGeom prst="roundRect">
            <a:avLst>
              <a:gd name="adj" fmla="val 191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457325" y="5409679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02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2371725" y="5204445"/>
            <a:ext cx="159048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Information is spread across tools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2371725" y="5637833"/>
            <a:ext cx="15904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Requirements, designs, code and test results live in different places, so teams spend time searching and re-checking.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143000" y="6329288"/>
            <a:ext cx="16002000" cy="1191518"/>
          </a:xfrm>
          <a:prstGeom prst="roundRect">
            <a:avLst>
              <a:gd name="adj" fmla="val 191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457325" y="6753597"/>
            <a:ext cx="762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7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2371725" y="6548363"/>
            <a:ext cx="1590484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Problems are found late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371725" y="6981751"/>
            <a:ext cx="1590484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Quality checks happen near the end, when fixing issues costs the most.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143000" y="8853488"/>
            <a:ext cx="16002000" cy="671513"/>
          </a:xfrm>
          <a:prstGeom prst="roundRect">
            <a:avLst>
              <a:gd name="adj" fmla="val 28369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9225" y="9036844"/>
            <a:ext cx="304800" cy="3048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95475" y="9034463"/>
            <a:ext cx="984131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result: longer time to market, more defects and higher delivery cost.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210160" y="762000"/>
            <a:ext cx="212534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410185" y="847725"/>
            <a:ext cx="18014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04 · Why Tawazi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676400"/>
            <a:ext cx="1571625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Why we started Tawazi</a:t>
            </a:r>
            <a:endParaRPr lang="en-US" sz="5700" dirty="0"/>
          </a:p>
        </p:txBody>
      </p:sp>
      <p:sp>
        <p:nvSpPr>
          <p:cNvPr id="7" name="Text 4"/>
          <p:cNvSpPr/>
          <p:nvPr/>
        </p:nvSpPr>
        <p:spPr>
          <a:xfrm>
            <a:off x="952500" y="2701230"/>
            <a:ext cx="14716125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To turn isolated AI time savings into measurable improvements in time-to-market, quality, and delivery cost.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952500" y="4118521"/>
            <a:ext cx="5232350" cy="5406479"/>
          </a:xfrm>
          <a:prstGeom prst="roundRect">
            <a:avLst>
              <a:gd name="adj" fmla="val 5825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419225" y="4585246"/>
            <a:ext cx="857250" cy="857250"/>
          </a:xfrm>
          <a:prstGeom prst="roundRect">
            <a:avLst>
              <a:gd name="adj" fmla="val 26667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8300" y="4804321"/>
            <a:ext cx="419100" cy="4191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9225" y="5671096"/>
            <a:ext cx="4427867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Faster time to market</a:t>
            </a:r>
            <a:endParaRPr lang="en-US" sz="3300" dirty="0"/>
          </a:p>
        </p:txBody>
      </p:sp>
      <p:sp>
        <p:nvSpPr>
          <p:cNvPr id="12" name="Text 8"/>
          <p:cNvSpPr/>
          <p:nvPr/>
        </p:nvSpPr>
        <p:spPr>
          <a:xfrm>
            <a:off x="1419225" y="6863507"/>
            <a:ext cx="4427867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E3EC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Connect every stage so work flows from idea to release without waiting.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6527750" y="4118521"/>
            <a:ext cx="5232425" cy="5406479"/>
          </a:xfrm>
          <a:prstGeom prst="roundRect">
            <a:avLst>
              <a:gd name="adj" fmla="val 5825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94475" y="4585246"/>
            <a:ext cx="857250" cy="857250"/>
          </a:xfrm>
          <a:prstGeom prst="roundRect">
            <a:avLst>
              <a:gd name="adj" fmla="val 26667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13550" y="4804321"/>
            <a:ext cx="419100" cy="4191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4475" y="5671096"/>
            <a:ext cx="4728872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3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Fewer defects</a:t>
            </a:r>
            <a:endParaRPr lang="en-US" sz="3300" dirty="0"/>
          </a:p>
        </p:txBody>
      </p:sp>
      <p:sp>
        <p:nvSpPr>
          <p:cNvPr id="17" name="Text 12"/>
          <p:cNvSpPr/>
          <p:nvPr/>
        </p:nvSpPr>
        <p:spPr>
          <a:xfrm>
            <a:off x="6994475" y="6381601"/>
            <a:ext cx="4427944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Build quality checks into every step instead of at the end.</a:t>
            </a:r>
            <a:endParaRPr lang="en-US" sz="2100" dirty="0"/>
          </a:p>
        </p:txBody>
      </p:sp>
      <p:sp>
        <p:nvSpPr>
          <p:cNvPr id="18" name="Shape 13"/>
          <p:cNvSpPr/>
          <p:nvPr/>
        </p:nvSpPr>
        <p:spPr>
          <a:xfrm>
            <a:off x="12103075" y="4118521"/>
            <a:ext cx="5232350" cy="5406479"/>
          </a:xfrm>
          <a:prstGeom prst="roundRect">
            <a:avLst>
              <a:gd name="adj" fmla="val 5825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2569800" y="4585246"/>
            <a:ext cx="857250" cy="857250"/>
          </a:xfrm>
          <a:prstGeom prst="roundRect">
            <a:avLst>
              <a:gd name="adj" fmla="val 26667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88875" y="4804321"/>
            <a:ext cx="419100" cy="4191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569800" y="5671096"/>
            <a:ext cx="4427867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3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Leaner delivery teams</a:t>
            </a:r>
            <a:endParaRPr lang="en-US" sz="3300" dirty="0"/>
          </a:p>
        </p:txBody>
      </p:sp>
      <p:sp>
        <p:nvSpPr>
          <p:cNvPr id="22" name="Text 16"/>
          <p:cNvSpPr/>
          <p:nvPr/>
        </p:nvSpPr>
        <p:spPr>
          <a:xfrm>
            <a:off x="12569800" y="6863507"/>
            <a:ext cx="4427867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Let AI agents carry routine work, so fewer people deliver more.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95152" y="762000"/>
            <a:ext cx="314034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395177" y="847725"/>
            <a:ext cx="283450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05 · The Tawazi Approach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7526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How Tawazi works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952500" y="4324350"/>
            <a:ext cx="3093690" cy="3958456"/>
          </a:xfrm>
          <a:prstGeom prst="roundRect">
            <a:avLst>
              <a:gd name="adj" fmla="val 8621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66825" y="4752975"/>
            <a:ext cx="781050" cy="781050"/>
          </a:xfrm>
          <a:prstGeom prst="roundRect">
            <a:avLst>
              <a:gd name="adj" fmla="val 26829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850" y="4953000"/>
            <a:ext cx="381000" cy="381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6825" y="5762625"/>
            <a:ext cx="254124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Whole lifecycle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1266825" y="6814096"/>
            <a:ext cx="254124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50" dirty="0">
                <a:solidFill>
                  <a:srgbClr val="E3EC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from PRD to production, not just code</a:t>
            </a:r>
            <a:endParaRPr lang="en-US" sz="1950" dirty="0"/>
          </a:p>
        </p:txBody>
      </p:sp>
      <p:sp>
        <p:nvSpPr>
          <p:cNvPr id="12" name="Shape 8"/>
          <p:cNvSpPr/>
          <p:nvPr/>
        </p:nvSpPr>
        <p:spPr>
          <a:xfrm>
            <a:off x="4274790" y="4324350"/>
            <a:ext cx="3093690" cy="3958456"/>
          </a:xfrm>
          <a:prstGeom prst="roundRect">
            <a:avLst>
              <a:gd name="adj" fmla="val 862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89115" y="4752975"/>
            <a:ext cx="781050" cy="781050"/>
          </a:xfrm>
          <a:prstGeom prst="roundRect">
            <a:avLst>
              <a:gd name="adj" fmla="val 2682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89140" y="4953000"/>
            <a:ext cx="381000" cy="381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89115" y="5762625"/>
            <a:ext cx="2711544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agents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4589115" y="6402660"/>
            <a:ext cx="254124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12 agents working across six roles</a:t>
            </a:r>
            <a:endParaRPr lang="en-US" sz="1950" dirty="0"/>
          </a:p>
        </p:txBody>
      </p:sp>
      <p:sp>
        <p:nvSpPr>
          <p:cNvPr id="17" name="Shape 12"/>
          <p:cNvSpPr/>
          <p:nvPr/>
        </p:nvSpPr>
        <p:spPr>
          <a:xfrm>
            <a:off x="7597080" y="4324350"/>
            <a:ext cx="3093765" cy="3958456"/>
          </a:xfrm>
          <a:prstGeom prst="roundRect">
            <a:avLst>
              <a:gd name="adj" fmla="val 862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911405" y="4752975"/>
            <a:ext cx="781050" cy="781050"/>
          </a:xfrm>
          <a:prstGeom prst="roundRect">
            <a:avLst>
              <a:gd name="adj" fmla="val 2682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11430" y="4953000"/>
            <a:ext cx="381000" cy="3810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11405" y="5762625"/>
            <a:ext cx="2711626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No silos</a:t>
            </a:r>
            <a:endParaRPr lang="en-US" sz="2700" dirty="0"/>
          </a:p>
        </p:txBody>
      </p:sp>
      <p:sp>
        <p:nvSpPr>
          <p:cNvPr id="21" name="Text 15"/>
          <p:cNvSpPr/>
          <p:nvPr/>
        </p:nvSpPr>
        <p:spPr>
          <a:xfrm>
            <a:off x="7911405" y="6402660"/>
            <a:ext cx="2541315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PRs linked to Jira stories, no ticket passing</a:t>
            </a:r>
            <a:endParaRPr lang="en-US" sz="1950" dirty="0"/>
          </a:p>
        </p:txBody>
      </p:sp>
      <p:sp>
        <p:nvSpPr>
          <p:cNvPr id="22" name="Shape 16"/>
          <p:cNvSpPr/>
          <p:nvPr/>
        </p:nvSpPr>
        <p:spPr>
          <a:xfrm>
            <a:off x="10919445" y="4324350"/>
            <a:ext cx="3093690" cy="3958456"/>
          </a:xfrm>
          <a:prstGeom prst="roundRect">
            <a:avLst>
              <a:gd name="adj" fmla="val 862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1233770" y="4752975"/>
            <a:ext cx="781050" cy="781050"/>
          </a:xfrm>
          <a:prstGeom prst="roundRect">
            <a:avLst>
              <a:gd name="adj" fmla="val 2682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3795" y="4953000"/>
            <a:ext cx="381000" cy="3810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233770" y="5762625"/>
            <a:ext cx="254124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First-time right</a:t>
            </a:r>
            <a:endParaRPr lang="en-US" sz="2700" dirty="0"/>
          </a:p>
        </p:txBody>
      </p:sp>
      <p:sp>
        <p:nvSpPr>
          <p:cNvPr id="26" name="Text 19"/>
          <p:cNvSpPr/>
          <p:nvPr/>
        </p:nvSpPr>
        <p:spPr>
          <a:xfrm>
            <a:off x="11233770" y="6814096"/>
            <a:ext cx="254124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Quality checks built into every step</a:t>
            </a:r>
            <a:endParaRPr lang="en-US" sz="1950" dirty="0"/>
          </a:p>
        </p:txBody>
      </p:sp>
      <p:sp>
        <p:nvSpPr>
          <p:cNvPr id="27" name="Shape 20"/>
          <p:cNvSpPr/>
          <p:nvPr/>
        </p:nvSpPr>
        <p:spPr>
          <a:xfrm>
            <a:off x="14241735" y="4324350"/>
            <a:ext cx="3093690" cy="3958456"/>
          </a:xfrm>
          <a:prstGeom prst="roundRect">
            <a:avLst>
              <a:gd name="adj" fmla="val 862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14556060" y="4752975"/>
            <a:ext cx="781050" cy="781050"/>
          </a:xfrm>
          <a:prstGeom prst="roundRect">
            <a:avLst>
              <a:gd name="adj" fmla="val 2682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56085" y="4953000"/>
            <a:ext cx="381000" cy="3810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4556060" y="5762625"/>
            <a:ext cx="2541240" cy="86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7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People in control</a:t>
            </a:r>
            <a:endParaRPr lang="en-US" sz="2700" dirty="0"/>
          </a:p>
        </p:txBody>
      </p:sp>
      <p:sp>
        <p:nvSpPr>
          <p:cNvPr id="31" name="Text 23"/>
          <p:cNvSpPr/>
          <p:nvPr/>
        </p:nvSpPr>
        <p:spPr>
          <a:xfrm>
            <a:off x="14556060" y="6814096"/>
            <a:ext cx="254124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supports teams; people make the decisions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2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A5FF">
                  <a:alpha val="65000"/>
                </a:srgbClr>
              </a:gs>
              <a:gs pos="60000">
                <a:srgbClr val="6EA5FF">
                  <a:alpha val="0"/>
                </a:srgbClr>
              </a:gs>
            </a:gsLst>
            <a:path path="circle">
              <a:fillToRect l="85000" t="15000" r="15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952500"/>
            <a:ext cx="2055688" cy="609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52500" y="2711872"/>
            <a:ext cx="14725650" cy="5163369"/>
          </a:xfrm>
          <a:prstGeom prst="roundRect">
            <a:avLst>
              <a:gd name="adj" fmla="val 737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6142E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1647825" y="3330997"/>
            <a:ext cx="3098378" cy="519113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85950" y="3435772"/>
            <a:ext cx="271508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Introducing Tawazi AI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647825" y="4193009"/>
            <a:ext cx="13735050" cy="22782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8400" b="1" spc="-150" kern="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Accelerated &amp; Turbo Delivery</a:t>
            </a:r>
            <a:endParaRPr lang="en-US" sz="8400" dirty="0"/>
          </a:p>
        </p:txBody>
      </p:sp>
      <p:sp>
        <p:nvSpPr>
          <p:cNvPr id="8" name="Text 5"/>
          <p:cNvSpPr/>
          <p:nvPr/>
        </p:nvSpPr>
        <p:spPr>
          <a:xfrm>
            <a:off x="1647825" y="6776070"/>
            <a:ext cx="1466850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rgbClr val="E3EC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AI-assisted product delivery, connected end to end on the Atlassian stack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952500" y="9024938"/>
            <a:ext cx="1802130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October 2026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506402" y="762000"/>
            <a:ext cx="182909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706427" y="847725"/>
            <a:ext cx="150524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07 · The Shift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7526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From fragmented to connected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952500" y="3082230"/>
            <a:ext cx="7848600" cy="6442770"/>
          </a:xfrm>
          <a:prstGeom prst="roundRect">
            <a:avLst>
              <a:gd name="adj" fmla="val 5322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71625" y="5003453"/>
            <a:ext cx="72713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TODAY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571625" y="5779740"/>
            <a:ext cx="133350" cy="133350"/>
          </a:xfrm>
          <a:prstGeom prst="ellipse">
            <a:avLst/>
          </a:prstGeom>
          <a:solidFill>
            <a:srgbClr val="9AA6C0"/>
          </a:solidFill>
          <a:ln/>
        </p:spPr>
      </p:sp>
      <p:sp>
        <p:nvSpPr>
          <p:cNvPr id="10" name="Text 7"/>
          <p:cNvSpPr/>
          <p:nvPr/>
        </p:nvSpPr>
        <p:spPr>
          <a:xfrm>
            <a:off x="1876425" y="5632103"/>
            <a:ext cx="302652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Manual handoffs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1571625" y="6551265"/>
            <a:ext cx="133350" cy="133350"/>
          </a:xfrm>
          <a:prstGeom prst="ellipse">
            <a:avLst/>
          </a:prstGeom>
          <a:solidFill>
            <a:srgbClr val="9AA6C0"/>
          </a:solidFill>
          <a:ln/>
        </p:spPr>
      </p:sp>
      <p:sp>
        <p:nvSpPr>
          <p:cNvPr id="12" name="Text 9"/>
          <p:cNvSpPr/>
          <p:nvPr/>
        </p:nvSpPr>
        <p:spPr>
          <a:xfrm>
            <a:off x="1876425" y="6403628"/>
            <a:ext cx="327872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Scattered context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1571625" y="7322790"/>
            <a:ext cx="133350" cy="133350"/>
          </a:xfrm>
          <a:prstGeom prst="ellipse">
            <a:avLst/>
          </a:prstGeom>
          <a:solidFill>
            <a:srgbClr val="9AA6C0"/>
          </a:solidFill>
          <a:ln/>
        </p:spPr>
      </p:sp>
      <p:sp>
        <p:nvSpPr>
          <p:cNvPr id="14" name="Text 11"/>
          <p:cNvSpPr/>
          <p:nvPr/>
        </p:nvSpPr>
        <p:spPr>
          <a:xfrm>
            <a:off x="1876425" y="7175153"/>
            <a:ext cx="353370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Late quality checks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9486900" y="3082230"/>
            <a:ext cx="7848600" cy="6442770"/>
          </a:xfrm>
          <a:prstGeom prst="roundRect">
            <a:avLst>
              <a:gd name="adj" fmla="val 5322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106025" y="5003453"/>
            <a:ext cx="72713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WITH TAWAZI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10106025" y="5779740"/>
            <a:ext cx="133350" cy="133350"/>
          </a:xfrm>
          <a:prstGeom prst="ellipse">
            <a:avLst/>
          </a:prstGeom>
          <a:solidFill>
            <a:srgbClr val="8FB6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410825" y="5632103"/>
            <a:ext cx="287410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Connected flow</a:t>
            </a:r>
            <a:endParaRPr lang="en-US" sz="2700" dirty="0"/>
          </a:p>
        </p:txBody>
      </p:sp>
      <p:sp>
        <p:nvSpPr>
          <p:cNvPr id="19" name="Shape 16"/>
          <p:cNvSpPr/>
          <p:nvPr/>
        </p:nvSpPr>
        <p:spPr>
          <a:xfrm>
            <a:off x="10106025" y="6551265"/>
            <a:ext cx="133350" cy="133350"/>
          </a:xfrm>
          <a:prstGeom prst="ellipse">
            <a:avLst/>
          </a:prstGeom>
          <a:solidFill>
            <a:srgbClr val="8FB6FF"/>
          </a:solidFill>
          <a:ln/>
        </p:spPr>
      </p:sp>
      <p:sp>
        <p:nvSpPr>
          <p:cNvPr id="20" name="Text 17"/>
          <p:cNvSpPr/>
          <p:nvPr/>
        </p:nvSpPr>
        <p:spPr>
          <a:xfrm>
            <a:off x="10410825" y="6403628"/>
            <a:ext cx="279249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Shared context</a:t>
            </a:r>
            <a:endParaRPr lang="en-US" sz="2700" dirty="0"/>
          </a:p>
        </p:txBody>
      </p:sp>
      <p:sp>
        <p:nvSpPr>
          <p:cNvPr id="21" name="Shape 18"/>
          <p:cNvSpPr/>
          <p:nvPr/>
        </p:nvSpPr>
        <p:spPr>
          <a:xfrm>
            <a:off x="10106025" y="7322790"/>
            <a:ext cx="133350" cy="133350"/>
          </a:xfrm>
          <a:prstGeom prst="ellipse">
            <a:avLst/>
          </a:prstGeom>
          <a:solidFill>
            <a:srgbClr val="8FB6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410825" y="7175153"/>
            <a:ext cx="271162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Quality built in</a:t>
            </a:r>
            <a:endParaRPr lang="en-US" sz="2700" dirty="0"/>
          </a:p>
        </p:txBody>
      </p:sp>
      <p:sp>
        <p:nvSpPr>
          <p:cNvPr id="23" name="Shape 20"/>
          <p:cNvSpPr/>
          <p:nvPr/>
        </p:nvSpPr>
        <p:spPr>
          <a:xfrm>
            <a:off x="8686800" y="5846415"/>
            <a:ext cx="933450" cy="9334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3025" y="6122640"/>
            <a:ext cx="381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291048" y="762000"/>
            <a:ext cx="1853952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491073" y="847725"/>
            <a:ext cx="153010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08 · Evidence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43000" y="1638300"/>
            <a:ext cx="1760220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5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already saves time at every stage</a:t>
            </a:r>
            <a:endParaRPr lang="en-US" sz="4500" dirty="0"/>
          </a:p>
        </p:txBody>
      </p:sp>
      <p:sp>
        <p:nvSpPr>
          <p:cNvPr id="7" name="Shape 4"/>
          <p:cNvSpPr/>
          <p:nvPr/>
        </p:nvSpPr>
        <p:spPr>
          <a:xfrm>
            <a:off x="1143000" y="4343400"/>
            <a:ext cx="3017490" cy="2281238"/>
          </a:xfrm>
          <a:prstGeom prst="roundRect">
            <a:avLst>
              <a:gd name="adj" fmla="val 1169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19225" y="4733925"/>
            <a:ext cx="25412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PRDs &amp; documentation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9225" y="5476875"/>
            <a:ext cx="27115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250" b="1" spc="-7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~40% less time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419225" y="5948363"/>
            <a:ext cx="188349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McKinsey, 2024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7693" y="5995988"/>
            <a:ext cx="190500" cy="1905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89090" y="4343400"/>
            <a:ext cx="3017490" cy="2281238"/>
          </a:xfrm>
          <a:prstGeom prst="roundRect">
            <a:avLst>
              <a:gd name="adj" fmla="val 1169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665315" y="4733925"/>
            <a:ext cx="27115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User stories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65315" y="5191125"/>
            <a:ext cx="27115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250" b="1" spc="-7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~73% less time</a:t>
            </a:r>
            <a:endParaRPr lang="en-US" sz="2250" dirty="0"/>
          </a:p>
        </p:txBody>
      </p:sp>
      <p:sp>
        <p:nvSpPr>
          <p:cNvPr id="15" name="Text 11"/>
          <p:cNvSpPr/>
          <p:nvPr/>
        </p:nvSpPr>
        <p:spPr>
          <a:xfrm>
            <a:off x="4665315" y="5948363"/>
            <a:ext cx="10903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Art of BA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5630" y="5995988"/>
            <a:ext cx="190500" cy="1905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635180" y="4343400"/>
            <a:ext cx="3017565" cy="2281238"/>
          </a:xfrm>
          <a:prstGeom prst="roundRect">
            <a:avLst>
              <a:gd name="adj" fmla="val 1169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7911405" y="4733925"/>
            <a:ext cx="27116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UX design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911405" y="5191125"/>
            <a:ext cx="271162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250" b="1" spc="-7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20% faster</a:t>
            </a:r>
            <a:endParaRPr lang="en-US" sz="2250" dirty="0"/>
          </a:p>
        </p:txBody>
      </p:sp>
      <p:sp>
        <p:nvSpPr>
          <p:cNvPr id="20" name="Text 15"/>
          <p:cNvSpPr/>
          <p:nvPr/>
        </p:nvSpPr>
        <p:spPr>
          <a:xfrm>
            <a:off x="7911405" y="5948363"/>
            <a:ext cx="14562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Figma, 2026</a:t>
            </a:r>
            <a:endParaRPr lang="en-US" sz="1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1432" y="5995988"/>
            <a:ext cx="190500" cy="1905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0881345" y="4343400"/>
            <a:ext cx="3017490" cy="2281238"/>
          </a:xfrm>
          <a:prstGeom prst="roundRect">
            <a:avLst>
              <a:gd name="adj" fmla="val 1169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3" name="Text 17"/>
          <p:cNvSpPr/>
          <p:nvPr/>
        </p:nvSpPr>
        <p:spPr>
          <a:xfrm>
            <a:off x="11157570" y="4733925"/>
            <a:ext cx="27115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11157570" y="5191125"/>
            <a:ext cx="27115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250" b="1" spc="-7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~55% faster</a:t>
            </a:r>
            <a:endParaRPr lang="en-US" sz="2250" dirty="0"/>
          </a:p>
        </p:txBody>
      </p:sp>
      <p:sp>
        <p:nvSpPr>
          <p:cNvPr id="25" name="Text 19"/>
          <p:cNvSpPr/>
          <p:nvPr/>
        </p:nvSpPr>
        <p:spPr>
          <a:xfrm>
            <a:off x="11157570" y="5948363"/>
            <a:ext cx="20305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GitHub Research</a:t>
            </a:r>
            <a:endParaRPr lang="en-US" sz="1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079760" y="5995988"/>
            <a:ext cx="190500" cy="1905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14127435" y="4343400"/>
            <a:ext cx="3017490" cy="2281238"/>
          </a:xfrm>
          <a:prstGeom prst="roundRect">
            <a:avLst>
              <a:gd name="adj" fmla="val 1169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14403660" y="4733925"/>
            <a:ext cx="27115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QA test cases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14403660" y="5191125"/>
            <a:ext cx="271154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2250" b="1" spc="-7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80% less time</a:t>
            </a:r>
            <a:endParaRPr lang="en-US" sz="2250" dirty="0"/>
          </a:p>
        </p:txBody>
      </p:sp>
      <p:sp>
        <p:nvSpPr>
          <p:cNvPr id="30" name="Text 23"/>
          <p:cNvSpPr/>
          <p:nvPr/>
        </p:nvSpPr>
        <p:spPr>
          <a:xfrm>
            <a:off x="14403660" y="5662613"/>
            <a:ext cx="227558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Thoughtworks, 2025</a:t>
            </a:r>
            <a:endParaRPr lang="en-US" sz="18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679242" y="5853113"/>
            <a:ext cx="189458" cy="19050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143000" y="8701088"/>
            <a:ext cx="16002000" cy="823913"/>
          </a:xfrm>
          <a:prstGeom prst="roundRect">
            <a:avLst>
              <a:gd name="adj" fmla="val 32370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33" name="Text 25"/>
          <p:cNvSpPr/>
          <p:nvPr/>
        </p:nvSpPr>
        <p:spPr>
          <a:xfrm>
            <a:off x="1533525" y="8970169"/>
            <a:ext cx="125469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TAWAZI</a:t>
            </a:r>
            <a:endParaRPr lang="en-US" sz="1800" dirty="0"/>
          </a:p>
        </p:txBody>
      </p:sp>
      <p:sp>
        <p:nvSpPr>
          <p:cNvPr id="34" name="Shape 26"/>
          <p:cNvSpPr/>
          <p:nvPr/>
        </p:nvSpPr>
        <p:spPr>
          <a:xfrm>
            <a:off x="2978721" y="8958263"/>
            <a:ext cx="19050" cy="309563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35" name="Text 27"/>
          <p:cNvSpPr/>
          <p:nvPr/>
        </p:nvSpPr>
        <p:spPr>
          <a:xfrm>
            <a:off x="3264471" y="8958263"/>
            <a:ext cx="853515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From isolated AI productivity to an intelligent delivery system.</a:t>
            </a:r>
            <a:endParaRPr lang="en-US" sz="1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690824" y="762000"/>
            <a:ext cx="264467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890849" y="847725"/>
            <a:ext cx="23239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09 · Two Approaches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7526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Two ways to deliver with Tawazi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952500" y="3082230"/>
            <a:ext cx="7962900" cy="6442770"/>
          </a:xfrm>
          <a:prstGeom prst="roundRect">
            <a:avLst>
              <a:gd name="adj" fmla="val 5914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571625" y="3701355"/>
            <a:ext cx="933450" cy="933450"/>
          </a:xfrm>
          <a:prstGeom prst="roundRect">
            <a:avLst>
              <a:gd name="adj" fmla="val 26531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9750" y="39394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71625" y="4939605"/>
            <a:ext cx="73971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Accelerated</a:t>
            </a:r>
            <a:endParaRPr lang="en-US" sz="4800" dirty="0"/>
          </a:p>
        </p:txBody>
      </p:sp>
      <p:sp>
        <p:nvSpPr>
          <p:cNvPr id="11" name="Text 7"/>
          <p:cNvSpPr/>
          <p:nvPr/>
        </p:nvSpPr>
        <p:spPr>
          <a:xfrm>
            <a:off x="1571625" y="5815905"/>
            <a:ext cx="73971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Role-based team, supported by AI agents</a:t>
            </a:r>
            <a:endParaRPr lang="en-US" sz="2400" dirty="0"/>
          </a:p>
        </p:txBody>
      </p:sp>
      <p:sp>
        <p:nvSpPr>
          <p:cNvPr id="12" name="Shape 8"/>
          <p:cNvSpPr/>
          <p:nvPr/>
        </p:nvSpPr>
        <p:spPr>
          <a:xfrm>
            <a:off x="1571625" y="7615238"/>
            <a:ext cx="6724650" cy="9525"/>
          </a:xfrm>
          <a:prstGeom prst="rect">
            <a:avLst/>
          </a:prstGeom>
          <a:solidFill>
            <a:srgbClr val="1B3259">
              <a:alpha val="12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1571625" y="7929563"/>
            <a:ext cx="22980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</a:t>
            </a:r>
            <a:endParaRPr lang="en-US" sz="4800" dirty="0"/>
          </a:p>
        </p:txBody>
      </p:sp>
      <p:sp>
        <p:nvSpPr>
          <p:cNvPr id="14" name="Text 10"/>
          <p:cNvSpPr/>
          <p:nvPr/>
        </p:nvSpPr>
        <p:spPr>
          <a:xfrm>
            <a:off x="1571625" y="8596313"/>
            <a:ext cx="22980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roles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3889325" y="7929563"/>
            <a:ext cx="22980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12</a:t>
            </a:r>
            <a:endParaRPr lang="en-US" sz="4800" dirty="0"/>
          </a:p>
        </p:txBody>
      </p:sp>
      <p:sp>
        <p:nvSpPr>
          <p:cNvPr id="16" name="Text 12"/>
          <p:cNvSpPr/>
          <p:nvPr/>
        </p:nvSpPr>
        <p:spPr>
          <a:xfrm>
            <a:off x="3889325" y="8596313"/>
            <a:ext cx="229809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agents</a:t>
            </a:r>
            <a:endParaRPr lang="en-US" sz="1950" dirty="0"/>
          </a:p>
        </p:txBody>
      </p:sp>
      <p:sp>
        <p:nvSpPr>
          <p:cNvPr id="17" name="Shape 13"/>
          <p:cNvSpPr/>
          <p:nvPr/>
        </p:nvSpPr>
        <p:spPr>
          <a:xfrm>
            <a:off x="9372600" y="3082230"/>
            <a:ext cx="7962900" cy="6442770"/>
          </a:xfrm>
          <a:prstGeom prst="roundRect">
            <a:avLst>
              <a:gd name="adj" fmla="val 5914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991725" y="3701355"/>
            <a:ext cx="933450" cy="933450"/>
          </a:xfrm>
          <a:prstGeom prst="roundRect">
            <a:avLst>
              <a:gd name="adj" fmla="val 26531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29850" y="39394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91725" y="4939605"/>
            <a:ext cx="739711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Turbo</a:t>
            </a:r>
            <a:endParaRPr lang="en-US" sz="4800" dirty="0"/>
          </a:p>
        </p:txBody>
      </p:sp>
      <p:sp>
        <p:nvSpPr>
          <p:cNvPr id="21" name="Text 16"/>
          <p:cNvSpPr/>
          <p:nvPr/>
        </p:nvSpPr>
        <p:spPr>
          <a:xfrm>
            <a:off x="9991725" y="5815905"/>
            <a:ext cx="739711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3EC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One owner, one connected pipeline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991725" y="7615238"/>
            <a:ext cx="672465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9991725" y="7929563"/>
            <a:ext cx="22980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</a:t>
            </a:r>
            <a:endParaRPr lang="en-US" sz="4800" dirty="0"/>
          </a:p>
        </p:txBody>
      </p:sp>
      <p:sp>
        <p:nvSpPr>
          <p:cNvPr id="24" name="Text 19"/>
          <p:cNvSpPr/>
          <p:nvPr/>
        </p:nvSpPr>
        <p:spPr>
          <a:xfrm>
            <a:off x="9991725" y="8596313"/>
            <a:ext cx="229801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owner</a:t>
            </a:r>
            <a:endParaRPr lang="en-US" sz="1950" dirty="0"/>
          </a:p>
        </p:txBody>
      </p:sp>
      <p:sp>
        <p:nvSpPr>
          <p:cNvPr id="25" name="Text 20"/>
          <p:cNvSpPr/>
          <p:nvPr/>
        </p:nvSpPr>
        <p:spPr>
          <a:xfrm>
            <a:off x="12309425" y="7929563"/>
            <a:ext cx="229809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</a:t>
            </a:r>
            <a:endParaRPr lang="en-US" sz="4800" dirty="0"/>
          </a:p>
        </p:txBody>
      </p:sp>
      <p:sp>
        <p:nvSpPr>
          <p:cNvPr id="26" name="Text 21"/>
          <p:cNvSpPr/>
          <p:nvPr/>
        </p:nvSpPr>
        <p:spPr>
          <a:xfrm>
            <a:off x="12309425" y="8596313"/>
            <a:ext cx="229809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stages</a:t>
            </a:r>
            <a:endParaRPr lang="en-US" sz="1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204430" y="762000"/>
            <a:ext cx="213107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404455" y="847725"/>
            <a:ext cx="18072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10 · Accelerated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676400"/>
            <a:ext cx="11894582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Accelerated: six roles, one flow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14224174" y="1877318"/>
            <a:ext cx="3111326" cy="59531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4500399" y="2020193"/>
            <a:ext cx="245852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View full workflow</a:t>
            </a:r>
            <a:endParaRPr lang="en-US" sz="19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30675" y="2060674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63080" y="4651028"/>
            <a:ext cx="13761839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F5BE0">
                  <a:alpha val="25000"/>
                </a:srgbClr>
              </a:gs>
              <a:gs pos="100000">
                <a:srgbClr val="1F5BE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11" name="Shape 7"/>
          <p:cNvSpPr/>
          <p:nvPr/>
        </p:nvSpPr>
        <p:spPr>
          <a:xfrm>
            <a:off x="1616050" y="4315271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06575" y="4705796"/>
            <a:ext cx="495300" cy="4953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501875" y="4286696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14" name="Text 9"/>
          <p:cNvSpPr/>
          <p:nvPr/>
        </p:nvSpPr>
        <p:spPr>
          <a:xfrm>
            <a:off x="2463775" y="428669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00632" y="5782121"/>
            <a:ext cx="2907261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Product Manager</a:t>
            </a:r>
            <a:endParaRPr lang="en-US" sz="2400" dirty="0"/>
          </a:p>
        </p:txBody>
      </p:sp>
      <p:sp>
        <p:nvSpPr>
          <p:cNvPr id="16" name="Shape 11"/>
          <p:cNvSpPr/>
          <p:nvPr/>
        </p:nvSpPr>
        <p:spPr>
          <a:xfrm>
            <a:off x="1559719" y="6353621"/>
            <a:ext cx="1389013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1702594" y="6420296"/>
            <a:ext cx="110326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4 agents</a:t>
            </a:r>
            <a:endParaRPr lang="en-US" sz="1950" dirty="0"/>
          </a:p>
        </p:txBody>
      </p:sp>
      <p:sp>
        <p:nvSpPr>
          <p:cNvPr id="18" name="Shape 13"/>
          <p:cNvSpPr/>
          <p:nvPr/>
        </p:nvSpPr>
        <p:spPr>
          <a:xfrm>
            <a:off x="4371901" y="4315271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2426" y="4705796"/>
            <a:ext cx="495300" cy="4953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257726" y="4286696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21" name="Text 15"/>
          <p:cNvSpPr/>
          <p:nvPr/>
        </p:nvSpPr>
        <p:spPr>
          <a:xfrm>
            <a:off x="5219626" y="428669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251681" y="5782121"/>
            <a:ext cx="1516864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Designer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4392216" y="6353621"/>
            <a:ext cx="1235720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4535091" y="6420296"/>
            <a:ext cx="9499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 agent</a:t>
            </a:r>
            <a:endParaRPr lang="en-US" sz="1950" dirty="0"/>
          </a:p>
        </p:txBody>
      </p:sp>
      <p:sp>
        <p:nvSpPr>
          <p:cNvPr id="25" name="Shape 19"/>
          <p:cNvSpPr/>
          <p:nvPr/>
        </p:nvSpPr>
        <p:spPr>
          <a:xfrm>
            <a:off x="7127825" y="4315271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18350" y="4705796"/>
            <a:ext cx="495300" cy="4953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013650" y="4286696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28" name="Text 21"/>
          <p:cNvSpPr/>
          <p:nvPr/>
        </p:nvSpPr>
        <p:spPr>
          <a:xfrm>
            <a:off x="7975550" y="428669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6380924" y="5782121"/>
            <a:ext cx="2770153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Project Manager</a:t>
            </a:r>
            <a:endParaRPr lang="en-US" sz="2400" dirty="0"/>
          </a:p>
        </p:txBody>
      </p:sp>
      <p:sp>
        <p:nvSpPr>
          <p:cNvPr id="30" name="Shape 23"/>
          <p:cNvSpPr/>
          <p:nvPr/>
        </p:nvSpPr>
        <p:spPr>
          <a:xfrm>
            <a:off x="7477571" y="6353621"/>
            <a:ext cx="576932" cy="442913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7620446" y="6420296"/>
            <a:ext cx="2911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—</a:t>
            </a:r>
            <a:endParaRPr lang="en-US" sz="1950" dirty="0"/>
          </a:p>
        </p:txBody>
      </p:sp>
      <p:sp>
        <p:nvSpPr>
          <p:cNvPr id="32" name="Shape 25"/>
          <p:cNvSpPr/>
          <p:nvPr/>
        </p:nvSpPr>
        <p:spPr>
          <a:xfrm>
            <a:off x="9883750" y="4315271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74275" y="4705796"/>
            <a:ext cx="495300" cy="4953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0769575" y="4286696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35" name="Text 27"/>
          <p:cNvSpPr/>
          <p:nvPr/>
        </p:nvSpPr>
        <p:spPr>
          <a:xfrm>
            <a:off x="10731475" y="428669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04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9864875" y="5782121"/>
            <a:ext cx="1314026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DevOps</a:t>
            </a:r>
            <a:endParaRPr lang="en-US" sz="2400" dirty="0"/>
          </a:p>
        </p:txBody>
      </p:sp>
      <p:sp>
        <p:nvSpPr>
          <p:cNvPr id="37" name="Shape 29"/>
          <p:cNvSpPr/>
          <p:nvPr/>
        </p:nvSpPr>
        <p:spPr>
          <a:xfrm>
            <a:off x="9904065" y="6353621"/>
            <a:ext cx="1235720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10046940" y="6420296"/>
            <a:ext cx="9499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 agent</a:t>
            </a:r>
            <a:endParaRPr lang="en-US" sz="1950" dirty="0"/>
          </a:p>
        </p:txBody>
      </p:sp>
      <p:sp>
        <p:nvSpPr>
          <p:cNvPr id="39" name="Shape 31"/>
          <p:cNvSpPr/>
          <p:nvPr/>
        </p:nvSpPr>
        <p:spPr>
          <a:xfrm>
            <a:off x="12639601" y="4315271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030126" y="4705796"/>
            <a:ext cx="495300" cy="4953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13525426" y="4286696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42" name="Text 33"/>
          <p:cNvSpPr/>
          <p:nvPr/>
        </p:nvSpPr>
        <p:spPr>
          <a:xfrm>
            <a:off x="13487326" y="428669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05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12329234" y="5782121"/>
            <a:ext cx="1897082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Developers</a:t>
            </a:r>
            <a:endParaRPr lang="en-US" sz="2400" dirty="0"/>
          </a:p>
        </p:txBody>
      </p:sp>
      <p:sp>
        <p:nvSpPr>
          <p:cNvPr id="44" name="Shape 35"/>
          <p:cNvSpPr/>
          <p:nvPr/>
        </p:nvSpPr>
        <p:spPr>
          <a:xfrm>
            <a:off x="12589743" y="6353621"/>
            <a:ext cx="1376139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12732618" y="6420296"/>
            <a:ext cx="109038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 agents</a:t>
            </a:r>
            <a:endParaRPr lang="en-US" sz="1950" dirty="0"/>
          </a:p>
        </p:txBody>
      </p:sp>
      <p:sp>
        <p:nvSpPr>
          <p:cNvPr id="46" name="Shape 37"/>
          <p:cNvSpPr/>
          <p:nvPr/>
        </p:nvSpPr>
        <p:spPr>
          <a:xfrm>
            <a:off x="15395525" y="4315271"/>
            <a:ext cx="1276350" cy="1276350"/>
          </a:xfrm>
          <a:prstGeom prst="ellipse">
            <a:avLst/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786050" y="4705796"/>
            <a:ext cx="495300" cy="495300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16281350" y="4286696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49" name="Text 39"/>
          <p:cNvSpPr/>
          <p:nvPr/>
        </p:nvSpPr>
        <p:spPr>
          <a:xfrm>
            <a:off x="16243250" y="4286696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06</a:t>
            </a:r>
            <a:endParaRPr lang="en-US" sz="1800" dirty="0"/>
          </a:p>
        </p:txBody>
      </p:sp>
      <p:sp>
        <p:nvSpPr>
          <p:cNvPr id="50" name="Text 40"/>
          <p:cNvSpPr/>
          <p:nvPr/>
        </p:nvSpPr>
        <p:spPr>
          <a:xfrm>
            <a:off x="15769010" y="5782121"/>
            <a:ext cx="529456" cy="4191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QA</a:t>
            </a:r>
            <a:endParaRPr lang="en-US" sz="2400" dirty="0"/>
          </a:p>
        </p:txBody>
      </p:sp>
      <p:sp>
        <p:nvSpPr>
          <p:cNvPr id="51" name="Shape 41"/>
          <p:cNvSpPr/>
          <p:nvPr/>
        </p:nvSpPr>
        <p:spPr>
          <a:xfrm>
            <a:off x="15415840" y="6353621"/>
            <a:ext cx="1235720" cy="442913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2" name="Text 42"/>
          <p:cNvSpPr/>
          <p:nvPr/>
        </p:nvSpPr>
        <p:spPr>
          <a:xfrm>
            <a:off x="15558715" y="6420296"/>
            <a:ext cx="9499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 agent</a:t>
            </a:r>
            <a:endParaRPr lang="en-US" sz="1950" dirty="0"/>
          </a:p>
        </p:txBody>
      </p:sp>
      <p:sp>
        <p:nvSpPr>
          <p:cNvPr id="53" name="Shape 43"/>
          <p:cNvSpPr/>
          <p:nvPr/>
        </p:nvSpPr>
        <p:spPr>
          <a:xfrm>
            <a:off x="6843340" y="8639175"/>
            <a:ext cx="1998762" cy="885825"/>
          </a:xfrm>
          <a:prstGeom prst="roundRect">
            <a:avLst>
              <a:gd name="adj" fmla="val 2580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4" name="Text 44"/>
          <p:cNvSpPr/>
          <p:nvPr/>
        </p:nvSpPr>
        <p:spPr>
          <a:xfrm>
            <a:off x="7157665" y="8820150"/>
            <a:ext cx="562794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18</a:t>
            </a:r>
            <a:endParaRPr lang="en-US" sz="3300" dirty="0"/>
          </a:p>
        </p:txBody>
      </p:sp>
      <p:sp>
        <p:nvSpPr>
          <p:cNvPr id="55" name="Text 45"/>
          <p:cNvSpPr/>
          <p:nvPr/>
        </p:nvSpPr>
        <p:spPr>
          <a:xfrm>
            <a:off x="7758559" y="8991600"/>
            <a:ext cx="845418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stages</a:t>
            </a:r>
            <a:endParaRPr lang="en-US" sz="1950" dirty="0"/>
          </a:p>
        </p:txBody>
      </p:sp>
      <p:sp>
        <p:nvSpPr>
          <p:cNvPr id="56" name="Shape 46"/>
          <p:cNvSpPr/>
          <p:nvPr/>
        </p:nvSpPr>
        <p:spPr>
          <a:xfrm>
            <a:off x="9070702" y="8639175"/>
            <a:ext cx="2373883" cy="885825"/>
          </a:xfrm>
          <a:prstGeom prst="roundRect">
            <a:avLst>
              <a:gd name="adj" fmla="val 2580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7" name="Text 47"/>
          <p:cNvSpPr/>
          <p:nvPr/>
        </p:nvSpPr>
        <p:spPr>
          <a:xfrm>
            <a:off x="9385027" y="8820150"/>
            <a:ext cx="54188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12</a:t>
            </a:r>
            <a:endParaRPr lang="en-US" sz="3300" dirty="0"/>
          </a:p>
        </p:txBody>
      </p:sp>
      <p:sp>
        <p:nvSpPr>
          <p:cNvPr id="58" name="Text 48"/>
          <p:cNvSpPr/>
          <p:nvPr/>
        </p:nvSpPr>
        <p:spPr>
          <a:xfrm>
            <a:off x="9965010" y="8991600"/>
            <a:ext cx="12414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agents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6477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633897" y="609600"/>
            <a:ext cx="2701603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4833922" y="695325"/>
            <a:ext cx="238260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11 · Accelerated KPIs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33350" y="14097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Accelerated KPIs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952500" y="2548830"/>
            <a:ext cx="8096250" cy="3469035"/>
          </a:xfrm>
          <a:prstGeom prst="roundRect">
            <a:avLst>
              <a:gd name="adj" fmla="val 87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43025" y="2825055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PRODUCTIVITY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43025" y="3244155"/>
            <a:ext cx="187792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00" b="1" spc="-22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68%</a:t>
            </a:r>
            <a:endParaRPr lang="en-US" sz="6600" dirty="0"/>
          </a:p>
        </p:txBody>
      </p:sp>
      <p:sp>
        <p:nvSpPr>
          <p:cNvPr id="10" name="Text 7"/>
          <p:cNvSpPr/>
          <p:nvPr/>
        </p:nvSpPr>
        <p:spPr>
          <a:xfrm>
            <a:off x="3202632" y="3672780"/>
            <a:ext cx="22715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of developers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343025" y="4215705"/>
            <a:ext cx="804672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Save 10+ hours weekly using AI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343025" y="5455890"/>
            <a:ext cx="5404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Atlassian Developer Experience Report, 2025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116" y="5503515"/>
            <a:ext cx="190500" cy="1905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239250" y="2548830"/>
            <a:ext cx="8096250" cy="3469035"/>
          </a:xfrm>
          <a:prstGeom prst="roundRect">
            <a:avLst>
              <a:gd name="adj" fmla="val 8786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9629775" y="2825055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WORKFLOW FRICTION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9629775" y="3244155"/>
            <a:ext cx="196273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00" b="1" spc="-225" kern="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50%</a:t>
            </a:r>
            <a:endParaRPr lang="en-US" sz="6600" dirty="0"/>
          </a:p>
        </p:txBody>
      </p:sp>
      <p:sp>
        <p:nvSpPr>
          <p:cNvPr id="17" name="Text 13"/>
          <p:cNvSpPr/>
          <p:nvPr/>
        </p:nvSpPr>
        <p:spPr>
          <a:xfrm>
            <a:off x="11566475" y="3672780"/>
            <a:ext cx="227157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of developers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9629775" y="4215705"/>
            <a:ext cx="7534656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Still lose 10+ hours a week to friction outside their tasks: searching for information, waiting on others and switching between tools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9629775" y="5455890"/>
            <a:ext cx="540418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Atlassian Developer Experience Report, 2025</a:t>
            </a:r>
            <a:endParaRPr lang="en-US" sz="1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18866" y="5503515"/>
            <a:ext cx="190500" cy="1905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52500" y="6208365"/>
            <a:ext cx="8096250" cy="3469035"/>
          </a:xfrm>
          <a:prstGeom prst="roundRect">
            <a:avLst>
              <a:gd name="adj" fmla="val 87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1343025" y="6484590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TIME TO MARKET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343025" y="6903690"/>
            <a:ext cx="3440549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00" b="1" spc="-22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25–49%</a:t>
            </a:r>
            <a:endParaRPr lang="en-US" sz="6600" dirty="0"/>
          </a:p>
        </p:txBody>
      </p:sp>
      <p:sp>
        <p:nvSpPr>
          <p:cNvPr id="24" name="Text 19"/>
          <p:cNvSpPr/>
          <p:nvPr/>
        </p:nvSpPr>
        <p:spPr>
          <a:xfrm>
            <a:off x="4623197" y="7332315"/>
            <a:ext cx="9398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faster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1343025" y="7875240"/>
            <a:ext cx="7534656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Estimated from stage-level AI savings (slide 8). Bain: 27% faster release cycles today.</a:t>
            </a:r>
            <a:endParaRPr lang="en-US" sz="2100" dirty="0"/>
          </a:p>
        </p:txBody>
      </p:sp>
      <p:sp>
        <p:nvSpPr>
          <p:cNvPr id="26" name="Text 21"/>
          <p:cNvSpPr/>
          <p:nvPr/>
        </p:nvSpPr>
        <p:spPr>
          <a:xfrm>
            <a:off x="1343025" y="9115425"/>
            <a:ext cx="35797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Bain Technology Report, 2026</a:t>
            </a:r>
            <a:endParaRPr lang="en-US" sz="1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3575" y="9163050"/>
            <a:ext cx="190500" cy="1905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239250" y="6208365"/>
            <a:ext cx="8096250" cy="3469035"/>
          </a:xfrm>
          <a:prstGeom prst="roundRect">
            <a:avLst>
              <a:gd name="adj" fmla="val 878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629775" y="6484590"/>
            <a:ext cx="80467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DEFECTS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629775" y="6903690"/>
            <a:ext cx="3566852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600" b="1" spc="-225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30–45%</a:t>
            </a:r>
            <a:endParaRPr lang="en-US" sz="6600" dirty="0"/>
          </a:p>
        </p:txBody>
      </p:sp>
      <p:sp>
        <p:nvSpPr>
          <p:cNvPr id="31" name="Text 25"/>
          <p:cNvSpPr/>
          <p:nvPr/>
        </p:nvSpPr>
        <p:spPr>
          <a:xfrm>
            <a:off x="13024768" y="7332315"/>
            <a:ext cx="92466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fewer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9629775" y="7875240"/>
            <a:ext cx="7534656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Estimated from AI checks at requirements, review and QA. AI review alone: 28% fewer.</a:t>
            </a:r>
            <a:endParaRPr lang="en-US" sz="2100" dirty="0"/>
          </a:p>
        </p:txBody>
      </p:sp>
      <p:sp>
        <p:nvSpPr>
          <p:cNvPr id="33" name="Text 27"/>
          <p:cNvSpPr/>
          <p:nvPr/>
        </p:nvSpPr>
        <p:spPr>
          <a:xfrm>
            <a:off x="9629775" y="9115425"/>
            <a:ext cx="436412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Qodo, citing GitHub Octoverse 2025</a:t>
            </a:r>
            <a:endParaRPr lang="en-US" sz="18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673361" y="916305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224373" y="762000"/>
            <a:ext cx="2111127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424398" y="847725"/>
            <a:ext cx="17872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12 · Turbo Stack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7526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The Turbo Stack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952500" y="4629596"/>
            <a:ext cx="2712690" cy="3348038"/>
          </a:xfrm>
          <a:prstGeom prst="roundRect">
            <a:avLst>
              <a:gd name="adj" fmla="val 1123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115369" y="5172521"/>
            <a:ext cx="38687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727820" y="5724971"/>
            <a:ext cx="1162050" cy="1162050"/>
          </a:xfrm>
          <a:prstGeom prst="roundRect">
            <a:avLst>
              <a:gd name="adj" fmla="val 2704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3095" y="6020246"/>
            <a:ext cx="571500" cy="571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9244" y="7153721"/>
            <a:ext cx="1779129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Confluence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3779490" y="6065490"/>
            <a:ext cx="476250" cy="4762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3315" y="6189315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70040" y="4629596"/>
            <a:ext cx="2712765" cy="3348038"/>
          </a:xfrm>
          <a:prstGeom prst="roundRect">
            <a:avLst>
              <a:gd name="adj" fmla="val 1123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532239" y="5172521"/>
            <a:ext cx="38829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145360" y="5724971"/>
            <a:ext cx="1162050" cy="1162050"/>
          </a:xfrm>
          <a:prstGeom prst="roundRect">
            <a:avLst>
              <a:gd name="adj" fmla="val 2704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40635" y="6020246"/>
            <a:ext cx="571500" cy="5715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04247" y="7153721"/>
            <a:ext cx="644277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Jira</a:t>
            </a:r>
            <a:endParaRPr lang="en-US" sz="2250" dirty="0"/>
          </a:p>
        </p:txBody>
      </p:sp>
      <p:sp>
        <p:nvSpPr>
          <p:cNvPr id="19" name="Shape 13"/>
          <p:cNvSpPr/>
          <p:nvPr/>
        </p:nvSpPr>
        <p:spPr>
          <a:xfrm>
            <a:off x="7197105" y="6065490"/>
            <a:ext cx="476250" cy="4762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0930" y="6189315"/>
            <a:ext cx="228600" cy="2286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787655" y="4400996"/>
            <a:ext cx="2712690" cy="3348038"/>
          </a:xfrm>
          <a:prstGeom prst="roundRect">
            <a:avLst>
              <a:gd name="adj" fmla="val 11236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8947472" y="4943921"/>
            <a:ext cx="3930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CFE0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8562975" y="5496371"/>
            <a:ext cx="1162050" cy="1162050"/>
          </a:xfrm>
          <a:prstGeom prst="roundRect">
            <a:avLst>
              <a:gd name="adj" fmla="val 27049"/>
            </a:avLst>
          </a:prstGeom>
          <a:solidFill>
            <a:srgbClr val="FFFFFF">
              <a:alpha val="16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58250" y="5791646"/>
            <a:ext cx="571500" cy="5715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843480" y="6925121"/>
            <a:ext cx="2601039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Development</a:t>
            </a:r>
            <a:endParaRPr lang="en-US" sz="2250" dirty="0"/>
          </a:p>
        </p:txBody>
      </p:sp>
      <p:sp>
        <p:nvSpPr>
          <p:cNvPr id="26" name="Shape 18"/>
          <p:cNvSpPr/>
          <p:nvPr/>
        </p:nvSpPr>
        <p:spPr>
          <a:xfrm>
            <a:off x="10614645" y="6065490"/>
            <a:ext cx="476250" cy="4762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38470" y="6189315"/>
            <a:ext cx="228600" cy="2286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11205195" y="4629596"/>
            <a:ext cx="2712765" cy="3348038"/>
          </a:xfrm>
          <a:prstGeom prst="roundRect">
            <a:avLst>
              <a:gd name="adj" fmla="val 1123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9" name="Text 20"/>
          <p:cNvSpPr/>
          <p:nvPr/>
        </p:nvSpPr>
        <p:spPr>
          <a:xfrm>
            <a:off x="12356083" y="5172521"/>
            <a:ext cx="41098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Shape 21"/>
          <p:cNvSpPr/>
          <p:nvPr/>
        </p:nvSpPr>
        <p:spPr>
          <a:xfrm>
            <a:off x="11980515" y="5724971"/>
            <a:ext cx="1162050" cy="1162050"/>
          </a:xfrm>
          <a:prstGeom prst="roundRect">
            <a:avLst>
              <a:gd name="adj" fmla="val 2704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275790" y="6020246"/>
            <a:ext cx="571500" cy="5715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798071" y="7153721"/>
            <a:ext cx="1527014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Bitbucket</a:t>
            </a:r>
            <a:endParaRPr lang="en-US" sz="2250" dirty="0"/>
          </a:p>
        </p:txBody>
      </p:sp>
      <p:sp>
        <p:nvSpPr>
          <p:cNvPr id="33" name="Shape 23"/>
          <p:cNvSpPr/>
          <p:nvPr/>
        </p:nvSpPr>
        <p:spPr>
          <a:xfrm>
            <a:off x="14032260" y="6065490"/>
            <a:ext cx="476250" cy="4762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4156085" y="6189315"/>
            <a:ext cx="228600" cy="228600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14622810" y="4629596"/>
            <a:ext cx="2712690" cy="3348038"/>
          </a:xfrm>
          <a:prstGeom prst="roundRect">
            <a:avLst>
              <a:gd name="adj" fmla="val 11236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36" name="Text 25"/>
          <p:cNvSpPr/>
          <p:nvPr/>
        </p:nvSpPr>
        <p:spPr>
          <a:xfrm>
            <a:off x="15780618" y="5172521"/>
            <a:ext cx="39699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150" kern="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Shape 26"/>
          <p:cNvSpPr/>
          <p:nvPr/>
        </p:nvSpPr>
        <p:spPr>
          <a:xfrm>
            <a:off x="15398130" y="5724971"/>
            <a:ext cx="1162050" cy="1162050"/>
          </a:xfrm>
          <a:prstGeom prst="roundRect">
            <a:avLst>
              <a:gd name="adj" fmla="val 27049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693405" y="6020246"/>
            <a:ext cx="571500" cy="57150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14876152" y="7153721"/>
            <a:ext cx="2206005" cy="3952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Environments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954622" y="762000"/>
            <a:ext cx="238087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154647" y="847725"/>
            <a:ext cx="205702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13 · Turbo Pipeline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6002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Turbo: PRD to Production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2590800" y="4615309"/>
            <a:ext cx="13106400" cy="285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F5BE0">
                  <a:alpha val="25000"/>
                </a:srgbClr>
              </a:gs>
              <a:gs pos="100000">
                <a:srgbClr val="1F5BE0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8" name="Shape 5"/>
          <p:cNvSpPr/>
          <p:nvPr/>
        </p:nvSpPr>
        <p:spPr>
          <a:xfrm>
            <a:off x="1861170" y="3996184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1695" y="4386709"/>
            <a:ext cx="495300" cy="4953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6995" y="3967609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11" name="Text 7"/>
          <p:cNvSpPr/>
          <p:nvPr/>
        </p:nvSpPr>
        <p:spPr>
          <a:xfrm>
            <a:off x="2708895" y="396760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053903" y="5482084"/>
            <a:ext cx="890811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PRD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1759044" y="6091684"/>
            <a:ext cx="148060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Confluence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5183460" y="3996184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3985" y="4386709"/>
            <a:ext cx="495300" cy="4953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069285" y="3967609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17" name="Text 12"/>
          <p:cNvSpPr/>
          <p:nvPr/>
        </p:nvSpPr>
        <p:spPr>
          <a:xfrm>
            <a:off x="6031185" y="396760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696941" y="5482084"/>
            <a:ext cx="2249388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User Story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5556275" y="6091684"/>
            <a:ext cx="5306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Jira</a:t>
            </a:r>
            <a:endParaRPr lang="en-US" sz="1950" dirty="0"/>
          </a:p>
        </p:txBody>
      </p:sp>
      <p:sp>
        <p:nvSpPr>
          <p:cNvPr id="20" name="Shape 15"/>
          <p:cNvSpPr/>
          <p:nvPr/>
        </p:nvSpPr>
        <p:spPr>
          <a:xfrm>
            <a:off x="8505751" y="3996184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6276" y="4386709"/>
            <a:ext cx="495300" cy="4953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391576" y="3967609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23" name="Text 17"/>
          <p:cNvSpPr/>
          <p:nvPr/>
        </p:nvSpPr>
        <p:spPr>
          <a:xfrm>
            <a:off x="9353476" y="396760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845600" y="5482084"/>
            <a:ext cx="596652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8532614" y="6091684"/>
            <a:ext cx="122262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Bitbucket</a:t>
            </a:r>
            <a:endParaRPr lang="en-US" sz="1950" dirty="0"/>
          </a:p>
        </p:txBody>
      </p:sp>
      <p:sp>
        <p:nvSpPr>
          <p:cNvPr id="26" name="Shape 20"/>
          <p:cNvSpPr/>
          <p:nvPr/>
        </p:nvSpPr>
        <p:spPr>
          <a:xfrm>
            <a:off x="11828115" y="3996184"/>
            <a:ext cx="1276350" cy="12763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18640" y="4386709"/>
            <a:ext cx="495300" cy="4953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2713940" y="3967609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29" name="Text 22"/>
          <p:cNvSpPr/>
          <p:nvPr/>
        </p:nvSpPr>
        <p:spPr>
          <a:xfrm>
            <a:off x="12675840" y="396760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3"/>
          <p:cNvSpPr/>
          <p:nvPr/>
        </p:nvSpPr>
        <p:spPr>
          <a:xfrm>
            <a:off x="12039377" y="5482084"/>
            <a:ext cx="853827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STG</a:t>
            </a:r>
            <a:endParaRPr lang="en-US" sz="3000" dirty="0"/>
          </a:p>
        </p:txBody>
      </p:sp>
      <p:sp>
        <p:nvSpPr>
          <p:cNvPr id="31" name="Text 24"/>
          <p:cNvSpPr/>
          <p:nvPr/>
        </p:nvSpPr>
        <p:spPr>
          <a:xfrm>
            <a:off x="12207478" y="6091684"/>
            <a:ext cx="517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Env</a:t>
            </a:r>
            <a:endParaRPr lang="en-US" sz="1950" dirty="0"/>
          </a:p>
        </p:txBody>
      </p:sp>
      <p:sp>
        <p:nvSpPr>
          <p:cNvPr id="32" name="Shape 25"/>
          <p:cNvSpPr/>
          <p:nvPr/>
        </p:nvSpPr>
        <p:spPr>
          <a:xfrm>
            <a:off x="15150405" y="3996184"/>
            <a:ext cx="1276350" cy="1276350"/>
          </a:xfrm>
          <a:prstGeom prst="ellipse">
            <a:avLst/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540930" y="4386709"/>
            <a:ext cx="495300" cy="495300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16036230" y="3967609"/>
            <a:ext cx="419100" cy="419100"/>
          </a:xfrm>
          <a:prstGeom prst="ellipse">
            <a:avLst/>
          </a:prstGeom>
          <a:solidFill>
            <a:srgbClr val="1B3259"/>
          </a:solidFill>
          <a:ln/>
        </p:spPr>
      </p:sp>
      <p:sp>
        <p:nvSpPr>
          <p:cNvPr id="35" name="Text 27"/>
          <p:cNvSpPr/>
          <p:nvPr/>
        </p:nvSpPr>
        <p:spPr>
          <a:xfrm>
            <a:off x="15998130" y="3967609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05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15190738" y="5482084"/>
            <a:ext cx="1195611" cy="514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PROD</a:t>
            </a:r>
            <a:endParaRPr lang="en-US" sz="3000" dirty="0"/>
          </a:p>
        </p:txBody>
      </p:sp>
      <p:sp>
        <p:nvSpPr>
          <p:cNvPr id="37" name="Text 29"/>
          <p:cNvSpPr/>
          <p:nvPr/>
        </p:nvSpPr>
        <p:spPr>
          <a:xfrm>
            <a:off x="15529768" y="6091684"/>
            <a:ext cx="51755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Env</a:t>
            </a:r>
            <a:endParaRPr lang="en-US" sz="1950" dirty="0"/>
          </a:p>
        </p:txBody>
      </p:sp>
      <p:sp>
        <p:nvSpPr>
          <p:cNvPr id="38" name="Shape 30"/>
          <p:cNvSpPr/>
          <p:nvPr/>
        </p:nvSpPr>
        <p:spPr>
          <a:xfrm>
            <a:off x="2590800" y="7087046"/>
            <a:ext cx="13106400" cy="19050"/>
          </a:xfrm>
          <a:prstGeom prst="rect">
            <a:avLst/>
          </a:prstGeom>
          <a:solidFill>
            <a:srgbClr val="1F5BE0">
              <a:alpha val="35000"/>
            </a:srgbClr>
          </a:solidFill>
          <a:ln/>
        </p:spPr>
      </p:sp>
      <p:sp>
        <p:nvSpPr>
          <p:cNvPr id="39" name="Shape 31"/>
          <p:cNvSpPr/>
          <p:nvPr/>
        </p:nvSpPr>
        <p:spPr>
          <a:xfrm>
            <a:off x="2590800" y="6782246"/>
            <a:ext cx="19050" cy="323850"/>
          </a:xfrm>
          <a:prstGeom prst="rect">
            <a:avLst/>
          </a:prstGeom>
          <a:solidFill>
            <a:srgbClr val="1F5BE0">
              <a:alpha val="35000"/>
            </a:srgbClr>
          </a:solidFill>
          <a:ln/>
        </p:spPr>
      </p:sp>
      <p:sp>
        <p:nvSpPr>
          <p:cNvPr id="40" name="Shape 32"/>
          <p:cNvSpPr/>
          <p:nvPr/>
        </p:nvSpPr>
        <p:spPr>
          <a:xfrm>
            <a:off x="15678150" y="6782246"/>
            <a:ext cx="19050" cy="323850"/>
          </a:xfrm>
          <a:prstGeom prst="rect">
            <a:avLst/>
          </a:prstGeom>
          <a:solidFill>
            <a:srgbClr val="1F5BE0">
              <a:alpha val="35000"/>
            </a:srgbClr>
          </a:solidFill>
          <a:ln/>
        </p:spPr>
      </p:sp>
      <p:sp>
        <p:nvSpPr>
          <p:cNvPr id="41" name="Shape 33"/>
          <p:cNvSpPr/>
          <p:nvPr/>
        </p:nvSpPr>
        <p:spPr>
          <a:xfrm>
            <a:off x="9134475" y="7106096"/>
            <a:ext cx="19050" cy="228600"/>
          </a:xfrm>
          <a:prstGeom prst="rect">
            <a:avLst/>
          </a:prstGeom>
          <a:solidFill>
            <a:srgbClr val="1F5BE0">
              <a:alpha val="35000"/>
            </a:srgbClr>
          </a:solidFill>
          <a:ln/>
        </p:spPr>
      </p:sp>
      <p:sp>
        <p:nvSpPr>
          <p:cNvPr id="42" name="Shape 34"/>
          <p:cNvSpPr/>
          <p:nvPr/>
        </p:nvSpPr>
        <p:spPr>
          <a:xfrm>
            <a:off x="6733952" y="7334696"/>
            <a:ext cx="4820096" cy="97155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876827" y="7477571"/>
            <a:ext cx="685800" cy="685800"/>
          </a:xfrm>
          <a:prstGeom prst="ellipse">
            <a:avLst/>
          </a:prstGeom>
          <a:gradFill rotWithShape="1">
            <a:gsLst>
              <a:gs pos="0">
                <a:srgbClr val="1F5BE0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3600000" scaled="0"/>
          </a:gra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57802" y="7658546"/>
            <a:ext cx="323850" cy="32385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753127" y="7483301"/>
            <a:ext cx="3793346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5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Devager</a:t>
            </a:r>
            <a:endParaRPr lang="en-US" sz="2550" dirty="0"/>
          </a:p>
        </p:txBody>
      </p:sp>
      <p:sp>
        <p:nvSpPr>
          <p:cNvPr id="46" name="Text 37"/>
          <p:cNvSpPr/>
          <p:nvPr/>
        </p:nvSpPr>
        <p:spPr>
          <a:xfrm>
            <a:off x="7753127" y="7871892"/>
            <a:ext cx="37933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Single owner across all 5 stages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684996" y="762000"/>
            <a:ext cx="1650504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885021" y="847725"/>
            <a:ext cx="13266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14 · Linking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7526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Every PR moves its Jira story</a:t>
            </a:r>
            <a:endParaRPr lang="en-US" sz="5700" dirty="0"/>
          </a:p>
        </p:txBody>
      </p:sp>
      <p:sp>
        <p:nvSpPr>
          <p:cNvPr id="7" name="Shape 4"/>
          <p:cNvSpPr/>
          <p:nvPr/>
        </p:nvSpPr>
        <p:spPr>
          <a:xfrm>
            <a:off x="952500" y="4846290"/>
            <a:ext cx="3567113" cy="2914650"/>
          </a:xfrm>
          <a:prstGeom prst="roundRect">
            <a:avLst>
              <a:gd name="adj" fmla="val 1045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383631" y="527491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4606" y="5455890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60206" y="6208365"/>
            <a:ext cx="235162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Branch created</a:t>
            </a:r>
            <a:endParaRPr lang="en-US" sz="2250" dirty="0"/>
          </a:p>
        </p:txBody>
      </p:sp>
      <p:sp>
        <p:nvSpPr>
          <p:cNvPr id="11" name="Shape 7"/>
          <p:cNvSpPr/>
          <p:nvPr/>
        </p:nvSpPr>
        <p:spPr>
          <a:xfrm>
            <a:off x="1714426" y="6808440"/>
            <a:ext cx="2043187" cy="523875"/>
          </a:xfrm>
          <a:prstGeom prst="roundRect">
            <a:avLst>
              <a:gd name="adj" fmla="val 50000"/>
            </a:avLst>
          </a:prstGeom>
          <a:solidFill>
            <a:srgbClr val="1F5BE0">
              <a:alpha val="12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923976" y="6903690"/>
            <a:ext cx="162408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 Progress</a:t>
            </a:r>
            <a:endParaRPr lang="en-US" sz="2100" dirty="0"/>
          </a:p>
        </p:txBody>
      </p:sp>
      <p:sp>
        <p:nvSpPr>
          <p:cNvPr id="13" name="Shape 9"/>
          <p:cNvSpPr/>
          <p:nvPr/>
        </p:nvSpPr>
        <p:spPr>
          <a:xfrm>
            <a:off x="4633913" y="6065490"/>
            <a:ext cx="476250" cy="4762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7738" y="6189315"/>
            <a:ext cx="228600" cy="2286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224463" y="4846290"/>
            <a:ext cx="3567113" cy="2914650"/>
          </a:xfrm>
          <a:prstGeom prst="roundRect">
            <a:avLst>
              <a:gd name="adj" fmla="val 1045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655594" y="527491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36569" y="5455890"/>
            <a:ext cx="342900" cy="3429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61882" y="6208365"/>
            <a:ext cx="169219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 opened</a:t>
            </a:r>
            <a:endParaRPr lang="en-US" sz="2250" dirty="0"/>
          </a:p>
        </p:txBody>
      </p:sp>
      <p:sp>
        <p:nvSpPr>
          <p:cNvPr id="19" name="Shape 13"/>
          <p:cNvSpPr/>
          <p:nvPr/>
        </p:nvSpPr>
        <p:spPr>
          <a:xfrm>
            <a:off x="6091312" y="6808440"/>
            <a:ext cx="1833339" cy="523875"/>
          </a:xfrm>
          <a:prstGeom prst="roundRect">
            <a:avLst>
              <a:gd name="adj" fmla="val 50000"/>
            </a:avLst>
          </a:prstGeom>
          <a:solidFill>
            <a:srgbClr val="1F5BE0">
              <a:alpha val="12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300862" y="6903690"/>
            <a:ext cx="141423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 Review</a:t>
            </a:r>
            <a:endParaRPr lang="en-US" sz="2100" dirty="0"/>
          </a:p>
        </p:txBody>
      </p:sp>
      <p:sp>
        <p:nvSpPr>
          <p:cNvPr id="21" name="Shape 15"/>
          <p:cNvSpPr/>
          <p:nvPr/>
        </p:nvSpPr>
        <p:spPr>
          <a:xfrm>
            <a:off x="8905875" y="6065490"/>
            <a:ext cx="476250" cy="4762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29700" y="6189315"/>
            <a:ext cx="228600" cy="2286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9496425" y="4846290"/>
            <a:ext cx="3567113" cy="2914650"/>
          </a:xfrm>
          <a:prstGeom prst="roundRect">
            <a:avLst>
              <a:gd name="adj" fmla="val 1045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10927556" y="5274915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108531" y="5455890"/>
            <a:ext cx="342900" cy="3429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966368" y="6208365"/>
            <a:ext cx="26271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Deployed to STG</a:t>
            </a:r>
            <a:endParaRPr lang="en-US" sz="2250" dirty="0"/>
          </a:p>
        </p:txBody>
      </p:sp>
      <p:sp>
        <p:nvSpPr>
          <p:cNvPr id="27" name="Shape 19"/>
          <p:cNvSpPr/>
          <p:nvPr/>
        </p:nvSpPr>
        <p:spPr>
          <a:xfrm>
            <a:off x="10640764" y="6808440"/>
            <a:ext cx="1278434" cy="523875"/>
          </a:xfrm>
          <a:prstGeom prst="roundRect">
            <a:avLst>
              <a:gd name="adj" fmla="val 50000"/>
            </a:avLst>
          </a:prstGeom>
          <a:solidFill>
            <a:srgbClr val="1F5BE0">
              <a:alpha val="12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10850314" y="6903690"/>
            <a:ext cx="85933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5BE0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In QA</a:t>
            </a:r>
            <a:endParaRPr lang="en-US" sz="2100" dirty="0"/>
          </a:p>
        </p:txBody>
      </p:sp>
      <p:sp>
        <p:nvSpPr>
          <p:cNvPr id="29" name="Shape 21"/>
          <p:cNvSpPr/>
          <p:nvPr/>
        </p:nvSpPr>
        <p:spPr>
          <a:xfrm>
            <a:off x="13177838" y="6065490"/>
            <a:ext cx="476250" cy="476250"/>
          </a:xfrm>
          <a:prstGeom prst="ellipse">
            <a:avLst/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301663" y="6189315"/>
            <a:ext cx="228600" cy="22860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13768388" y="4836765"/>
            <a:ext cx="3567113" cy="2933700"/>
          </a:xfrm>
          <a:prstGeom prst="roundRect">
            <a:avLst>
              <a:gd name="adj" fmla="val 1039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15199519" y="5265390"/>
            <a:ext cx="704850" cy="704850"/>
          </a:xfrm>
          <a:prstGeom prst="roundRect">
            <a:avLst>
              <a:gd name="adj" fmla="val 27027"/>
            </a:avLst>
          </a:prstGeom>
          <a:solidFill>
            <a:srgbClr val="1F5BE0">
              <a:alpha val="10000"/>
            </a:srgbClr>
          </a:solidFill>
          <a:ln w="9525">
            <a:solidFill>
              <a:srgbClr val="1F5BE0">
                <a:alpha val="18000"/>
              </a:srgbClr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380494" y="5446365"/>
            <a:ext cx="342900" cy="3429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4145179" y="6198840"/>
            <a:ext cx="281345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Released to PROD</a:t>
            </a:r>
            <a:endParaRPr lang="en-US" sz="2250" dirty="0"/>
          </a:p>
        </p:txBody>
      </p:sp>
      <p:sp>
        <p:nvSpPr>
          <p:cNvPr id="35" name="Shape 25"/>
          <p:cNvSpPr/>
          <p:nvPr/>
        </p:nvSpPr>
        <p:spPr>
          <a:xfrm>
            <a:off x="14947404" y="6798915"/>
            <a:ext cx="1209080" cy="5429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15166479" y="6903690"/>
            <a:ext cx="77093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Done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F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4C8DFF">
                  <a:alpha val="42000"/>
                </a:srgbClr>
              </a:gs>
              <a:gs pos="60000">
                <a:srgbClr val="4C8DFF">
                  <a:alpha val="0"/>
                </a:srgbClr>
              </a:gs>
            </a:gsLst>
            <a:path path="circle">
              <a:fillToRect l="10000" t="15000" r="90000" b="85000"/>
            </a:path>
          </a:gra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00100"/>
            <a:ext cx="1284833" cy="381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5199221" y="762000"/>
            <a:ext cx="2136279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5399246" y="847725"/>
            <a:ext cx="181242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16 · Comparison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52500" y="1676400"/>
            <a:ext cx="18021300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700" b="1" spc="-112" kern="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Accelerated vs Turbo</a:t>
            </a:r>
            <a:endParaRPr lang="en-US" sz="5700" dirty="0"/>
          </a:p>
        </p:txBody>
      </p:sp>
      <p:sp>
        <p:nvSpPr>
          <p:cNvPr id="7" name="Text 4"/>
          <p:cNvSpPr/>
          <p:nvPr/>
        </p:nvSpPr>
        <p:spPr>
          <a:xfrm>
            <a:off x="952500" y="4072830"/>
            <a:ext cx="4686703" cy="13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Ownership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952500" y="5378723"/>
            <a:ext cx="4686703" cy="13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Structure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952500" y="6684615"/>
            <a:ext cx="4686703" cy="13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Tracking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952500" y="7990508"/>
            <a:ext cx="4686703" cy="1343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6557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End point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5731297" y="2929830"/>
            <a:ext cx="5687764" cy="6595170"/>
          </a:xfrm>
          <a:prstGeom prst="roundRect">
            <a:avLst>
              <a:gd name="adj" fmla="val 6029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FFFFFF">
                <a:alpha val="85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B3259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98022" y="3320355"/>
            <a:ext cx="4896944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Accelerated</a:t>
            </a:r>
            <a:endParaRPr lang="en-US" sz="3300" dirty="0"/>
          </a:p>
        </p:txBody>
      </p:sp>
      <p:sp>
        <p:nvSpPr>
          <p:cNvPr id="13" name="Shape 10"/>
          <p:cNvSpPr/>
          <p:nvPr/>
        </p:nvSpPr>
        <p:spPr>
          <a:xfrm>
            <a:off x="6198022" y="4082355"/>
            <a:ext cx="4754314" cy="9525"/>
          </a:xfrm>
          <a:prstGeom prst="rect">
            <a:avLst/>
          </a:prstGeom>
          <a:solidFill>
            <a:srgbClr val="1B3259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198022" y="4091880"/>
            <a:ext cx="4896944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6 roles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6198022" y="5383485"/>
            <a:ext cx="4754314" cy="9525"/>
          </a:xfrm>
          <a:prstGeom prst="rect">
            <a:avLst/>
          </a:prstGeom>
          <a:solidFill>
            <a:srgbClr val="1B3259">
              <a:alpha val="1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198022" y="5393010"/>
            <a:ext cx="4896944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18 stages, 12 agents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6198022" y="6684615"/>
            <a:ext cx="4754314" cy="9525"/>
          </a:xfrm>
          <a:prstGeom prst="rect">
            <a:avLst/>
          </a:prstGeom>
          <a:solidFill>
            <a:srgbClr val="1B3259">
              <a:alpha val="1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198022" y="6694140"/>
            <a:ext cx="4896944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Per-role outputs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6198022" y="7985745"/>
            <a:ext cx="4754314" cy="9525"/>
          </a:xfrm>
          <a:prstGeom prst="rect">
            <a:avLst/>
          </a:prstGeom>
          <a:solidFill>
            <a:srgbClr val="1B3259">
              <a:alpha val="1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198022" y="7995270"/>
            <a:ext cx="4896944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B3259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Staging QA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1647661" y="2929830"/>
            <a:ext cx="5687839" cy="6595170"/>
          </a:xfrm>
          <a:prstGeom prst="roundRect">
            <a:avLst>
              <a:gd name="adj" fmla="val 6029"/>
            </a:avLst>
          </a:prstGeom>
          <a:gradFill rotWithShape="1">
            <a:gsLst>
              <a:gs pos="0">
                <a:srgbClr val="1F58D5">
                  <a:alpha val="100000"/>
                </a:srgbClr>
              </a:gs>
              <a:gs pos="100000">
                <a:srgbClr val="1B3259">
                  <a:alpha val="100000"/>
                </a:srgbClr>
              </a:gs>
            </a:gsLst>
            <a:lin ang="4200000" scaled="0"/>
          </a:gradFill>
          <a:ln w="9525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1F5BE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2114386" y="3320355"/>
            <a:ext cx="489702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Turbo</a:t>
            </a:r>
            <a:endParaRPr lang="en-US" sz="3300" dirty="0"/>
          </a:p>
        </p:txBody>
      </p:sp>
      <p:sp>
        <p:nvSpPr>
          <p:cNvPr id="23" name="Shape 20"/>
          <p:cNvSpPr/>
          <p:nvPr/>
        </p:nvSpPr>
        <p:spPr>
          <a:xfrm>
            <a:off x="12114386" y="4082355"/>
            <a:ext cx="4754389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12114386" y="4091880"/>
            <a:ext cx="4897021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1 owner: Devager</a:t>
            </a:r>
            <a:endParaRPr lang="en-US" sz="2400" dirty="0"/>
          </a:p>
        </p:txBody>
      </p:sp>
      <p:sp>
        <p:nvSpPr>
          <p:cNvPr id="25" name="Shape 22"/>
          <p:cNvSpPr/>
          <p:nvPr/>
        </p:nvSpPr>
        <p:spPr>
          <a:xfrm>
            <a:off x="12114386" y="5383485"/>
            <a:ext cx="4754389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12114386" y="5393010"/>
            <a:ext cx="4897021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5 linked stages</a:t>
            </a:r>
            <a:endParaRPr lang="en-US" sz="2400" dirty="0"/>
          </a:p>
        </p:txBody>
      </p:sp>
      <p:sp>
        <p:nvSpPr>
          <p:cNvPr id="27" name="Shape 24"/>
          <p:cNvSpPr/>
          <p:nvPr/>
        </p:nvSpPr>
        <p:spPr>
          <a:xfrm>
            <a:off x="12114386" y="6684615"/>
            <a:ext cx="4754389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2114386" y="6694140"/>
            <a:ext cx="4897021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Status driven by PRs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12114386" y="7985745"/>
            <a:ext cx="4754389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2114386" y="7995270"/>
            <a:ext cx="4897021" cy="1329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Production release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2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6EA5FF">
                  <a:alpha val="65000"/>
                </a:srgbClr>
              </a:gs>
              <a:gs pos="60000">
                <a:srgbClr val="6EA5FF">
                  <a:alpha val="0"/>
                </a:srgbClr>
              </a:gs>
            </a:gsLst>
            <a:path path="circle">
              <a:fillToRect l="85000" t="15000" r="15000" b="8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4865117" y="2769394"/>
            <a:ext cx="8557692" cy="4748213"/>
          </a:xfrm>
          <a:prstGeom prst="roundRect">
            <a:avLst>
              <a:gd name="adj" fmla="val 9629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sx="100000" sy="100000" kx="0" ky="0" algn="bl" rotWithShape="0" blurRad="571500" dist="228600" dir="5400000">
              <a:srgbClr val="06142E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6119" y="3540919"/>
            <a:ext cx="2055688" cy="60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86242" y="4531519"/>
            <a:ext cx="6515368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0" b="1" spc="-150" kern="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Thank You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5705010" y="6341269"/>
            <a:ext cx="6877906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E3EC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Tawazi AI · Accelerated &amp; Turbo Delivery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2026-10-26T15:59:20Z</dcterms:created>
  <dcterms:modified xsi:type="dcterms:W3CDTF">2026-10-26T15:59:20Z</dcterms:modified>
</cp:coreProperties>
</file>